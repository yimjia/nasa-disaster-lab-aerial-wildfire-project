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1440" y="-91440"/>
            <a:ext cx="12374575" cy="7040880"/>
          </a:xfrm>
          <a:prstGeom prst="roundRect">
            <a:avLst>
              <a:gd name="adj" fmla="val 5000"/>
            </a:avLst>
          </a:prstGeom>
          <a:solidFill>
            <a:srgbClr val="1D2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0"/>
            <a:ext cx="10972800" cy="1280160"/>
          </a:xfrm>
          <a:prstGeom prst="rect">
            <a:avLst/>
          </a:prstGeom>
          <a:noFill/>
        </p:spPr>
        <p:txBody>
          <a:bodyPr wrap="square" anchor="b" lIns="0" rIns="0" tIns="0" bIns="0">
            <a:spAutoFit/>
          </a:bodyPr>
          <a:lstStyle/>
          <a:p>
            <a:pPr>
              <a:spcAft>
                <a:spcPts val="600"/>
              </a:spcAft>
            </a:pPr>
            <a:r>
              <a:rPr sz="4000" b="1">
                <a:solidFill>
                  <a:srgbClr val="FFFFFF"/>
                </a:solidFill>
                <a:latin typeface="Arial"/>
              </a:rPr>
              <a:t>What the Fuels and Perimeters Show</a:t>
            </a:r>
          </a:p>
        </p:txBody>
      </p:sp>
      <p:sp>
        <p:nvSpPr>
          <p:cNvPr id="4" name="TextBox 3"/>
          <p:cNvSpPr txBox="1"/>
          <p:nvPr/>
        </p:nvSpPr>
        <p:spPr>
          <a:xfrm>
            <a:off x="502920" y="3291840"/>
            <a:ext cx="10515600" cy="1097280"/>
          </a:xfrm>
          <a:prstGeom prst="rect">
            <a:avLst/>
          </a:prstGeom>
          <a:noFill/>
        </p:spPr>
        <p:txBody>
          <a:bodyPr wrap="square" anchor="t" lIns="0" rIns="0" tIns="0" bIns="0">
            <a:spAutoFit/>
          </a:bodyPr>
          <a:lstStyle/>
          <a:p>
            <a:pPr>
              <a:spcAft>
                <a:spcPts val="600"/>
              </a:spcAft>
            </a:pPr>
            <a:r>
              <a:rPr sz="1900" b="0">
                <a:solidFill>
                  <a:srgbClr val="F1F2F4"/>
                </a:solidFill>
                <a:latin typeface="Calibri"/>
              </a:rPr>
              <a:t>LANDFIRE fuels, canopy and disturbance under the dated perimeters and the fireline built on Pioneer 2016, Carr 2018, Camp 2018 and the LNU Lightning Complex 2020</a:t>
            </a:r>
          </a:p>
        </p:txBody>
      </p:sp>
      <p:sp>
        <p:nvSpPr>
          <p:cNvPr id="5" name="TextBox 4"/>
          <p:cNvSpPr txBox="1"/>
          <p:nvPr/>
        </p:nvSpPr>
        <p:spPr>
          <a:xfrm>
            <a:off x="502920" y="6035040"/>
            <a:ext cx="10972800" cy="365760"/>
          </a:xfrm>
          <a:prstGeom prst="rect">
            <a:avLst/>
          </a:prstGeom>
          <a:noFill/>
        </p:spPr>
        <p:txBody>
          <a:bodyPr wrap="square" anchor="t" lIns="0" rIns="0" tIns="0" bIns="0">
            <a:spAutoFit/>
          </a:bodyPr>
          <a:lstStyle/>
          <a:p>
            <a:pPr>
              <a:spcAft>
                <a:spcPts val="600"/>
              </a:spcAft>
            </a:pPr>
            <a:r>
              <a:rPr sz="1200" b="0">
                <a:solidFill>
                  <a:srgbClr val="6B7480"/>
                </a:solidFill>
                <a:latin typeface="Calibri"/>
              </a:rPr>
              <a:t>NASA Aerial Wildfire Project  |  ACERO Disaster Lab working group  |  22 October 2026  |  For evaluation: what each dataset displays and what it can support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HOW TO READ THESE SLIDES</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Three datasets, layered on the same map</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2</a:t>
            </a:r>
          </a:p>
        </p:txBody>
      </p:sp>
      <p:sp>
        <p:nvSpPr>
          <p:cNvPr id="6" name="Rounded Rectangle 5"/>
          <p:cNvSpPr/>
          <p:nvPr/>
        </p:nvSpPr>
        <p:spPr>
          <a:xfrm>
            <a:off x="502920" y="1371600"/>
            <a:ext cx="3611880" cy="30175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508760"/>
            <a:ext cx="3246120" cy="365760"/>
          </a:xfrm>
          <a:prstGeom prst="rect">
            <a:avLst/>
          </a:prstGeom>
          <a:noFill/>
        </p:spPr>
        <p:txBody>
          <a:bodyPr wrap="square" anchor="t" lIns="0" rIns="0" tIns="0" bIns="0">
            <a:spAutoFit/>
          </a:bodyPr>
          <a:lstStyle/>
          <a:p>
            <a:pPr>
              <a:spcAft>
                <a:spcPts val="600"/>
              </a:spcAft>
            </a:pPr>
            <a:r>
              <a:rPr sz="1600" b="1">
                <a:solidFill>
                  <a:srgbClr val="1D2125"/>
                </a:solidFill>
                <a:latin typeface="Arial"/>
              </a:rPr>
              <a:t>LANDFIRE 2016 Remap</a:t>
            </a:r>
          </a:p>
        </p:txBody>
      </p:sp>
      <p:sp>
        <p:nvSpPr>
          <p:cNvPr id="8" name="TextBox 7"/>
          <p:cNvSpPr txBox="1"/>
          <p:nvPr/>
        </p:nvSpPr>
        <p:spPr>
          <a:xfrm>
            <a:off x="685800" y="1965960"/>
            <a:ext cx="3246120" cy="2377440"/>
          </a:xfrm>
          <a:prstGeom prst="rect">
            <a:avLst/>
          </a:prstGeom>
          <a:noFill/>
        </p:spPr>
        <p:txBody>
          <a:bodyPr wrap="square" anchor="t" lIns="0" rIns="0" tIns="0" bIns="0">
            <a:spAutoFit/>
          </a:bodyPr>
          <a:lstStyle/>
          <a:p>
            <a:pPr>
              <a:spcAft>
                <a:spcPts val="600"/>
              </a:spcAft>
            </a:pPr>
            <a:r>
              <a:rPr sz="1300" b="0">
                <a:solidFill>
                  <a:srgbClr val="3A424B"/>
                </a:solidFill>
                <a:latin typeface="Calibri"/>
              </a:rPr>
              <a:t>30 m maps of fuel model (Scott and Burgan 40), canopy cover, height, base height, bulk density, vegetation type and recent disturbance. Circa-2016 conditions: pre-fire for Carr, Camp and LNU; post-fire for Pioneer.</a:t>
            </a:r>
          </a:p>
        </p:txBody>
      </p:sp>
      <p:sp>
        <p:nvSpPr>
          <p:cNvPr id="9" name="Rounded Rectangle 8"/>
          <p:cNvSpPr/>
          <p:nvPr/>
        </p:nvSpPr>
        <p:spPr>
          <a:xfrm>
            <a:off x="4270248" y="1371600"/>
            <a:ext cx="3611880" cy="30175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53128" y="1508760"/>
            <a:ext cx="3246120" cy="365760"/>
          </a:xfrm>
          <a:prstGeom prst="rect">
            <a:avLst/>
          </a:prstGeom>
          <a:noFill/>
        </p:spPr>
        <p:txBody>
          <a:bodyPr wrap="square" anchor="t" lIns="0" rIns="0" tIns="0" bIns="0">
            <a:spAutoFit/>
          </a:bodyPr>
          <a:lstStyle/>
          <a:p>
            <a:pPr>
              <a:spcAft>
                <a:spcPts val="600"/>
              </a:spcAft>
            </a:pPr>
            <a:r>
              <a:rPr sz="1600" b="1">
                <a:solidFill>
                  <a:srgbClr val="1D2125"/>
                </a:solidFill>
                <a:latin typeface="Arial"/>
              </a:rPr>
              <a:t>Dated perimeters</a:t>
            </a:r>
          </a:p>
        </p:txBody>
      </p:sp>
      <p:sp>
        <p:nvSpPr>
          <p:cNvPr id="11" name="TextBox 10"/>
          <p:cNvSpPr txBox="1"/>
          <p:nvPr/>
        </p:nvSpPr>
        <p:spPr>
          <a:xfrm>
            <a:off x="4453128" y="1965960"/>
            <a:ext cx="3246120" cy="2377440"/>
          </a:xfrm>
          <a:prstGeom prst="rect">
            <a:avLst/>
          </a:prstGeom>
          <a:noFill/>
        </p:spPr>
        <p:txBody>
          <a:bodyPr wrap="square" anchor="t" lIns="0" rIns="0" tIns="0" bIns="0">
            <a:spAutoFit/>
          </a:bodyPr>
          <a:lstStyle/>
          <a:p>
            <a:pPr>
              <a:spcAft>
                <a:spcPts val="600"/>
              </a:spcAft>
            </a:pPr>
            <a:r>
              <a:rPr sz="1300" b="0">
                <a:solidFill>
                  <a:srgbClr val="3A424B"/>
                </a:solidFill>
                <a:latin typeface="Calibri"/>
              </a:rPr>
              <a:t>NIFC GeoMAC perimeter history for Pioneer (89), Carr (63) and Camp (28); NASA FEDS 12 h satellite perimeters for LNU (180). Light lines are early, dark lines are late. No GOFER.</a:t>
            </a:r>
          </a:p>
        </p:txBody>
      </p:sp>
      <p:sp>
        <p:nvSpPr>
          <p:cNvPr id="12" name="Rounded Rectangle 11"/>
          <p:cNvSpPr/>
          <p:nvPr/>
        </p:nvSpPr>
        <p:spPr>
          <a:xfrm>
            <a:off x="8037576" y="1371600"/>
            <a:ext cx="3611880" cy="30175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0456" y="1508760"/>
            <a:ext cx="3246120" cy="365760"/>
          </a:xfrm>
          <a:prstGeom prst="rect">
            <a:avLst/>
          </a:prstGeom>
          <a:noFill/>
        </p:spPr>
        <p:txBody>
          <a:bodyPr wrap="square" anchor="t" lIns="0" rIns="0" tIns="0" bIns="0">
            <a:spAutoFit/>
          </a:bodyPr>
          <a:lstStyle/>
          <a:p>
            <a:pPr>
              <a:spcAft>
                <a:spcPts val="600"/>
              </a:spcAft>
            </a:pPr>
            <a:r>
              <a:rPr sz="1600" b="1">
                <a:solidFill>
                  <a:srgbClr val="1D2125"/>
                </a:solidFill>
                <a:latin typeface="Arial"/>
              </a:rPr>
              <a:t>Fireline and operations</a:t>
            </a:r>
          </a:p>
        </p:txBody>
      </p:sp>
      <p:sp>
        <p:nvSpPr>
          <p:cNvPr id="14" name="TextBox 13"/>
          <p:cNvSpPr txBox="1"/>
          <p:nvPr/>
        </p:nvSpPr>
        <p:spPr>
          <a:xfrm>
            <a:off x="8220456" y="1965960"/>
            <a:ext cx="3246120" cy="2377440"/>
          </a:xfrm>
          <a:prstGeom prst="rect">
            <a:avLst/>
          </a:prstGeom>
          <a:noFill/>
        </p:spPr>
        <p:txBody>
          <a:bodyPr wrap="square" anchor="t" lIns="0" rIns="0" tIns="0" bIns="0">
            <a:spAutoFit/>
          </a:bodyPr>
          <a:lstStyle/>
          <a:p>
            <a:pPr>
              <a:spcAft>
                <a:spcPts val="600"/>
              </a:spcAft>
            </a:pPr>
            <a:r>
              <a:rPr sz="1300" b="0">
                <a:solidFill>
                  <a:srgbClr val="3A424B"/>
                </a:solidFill>
                <a:latin typeface="Calibri"/>
              </a:rPr>
              <a:t>NIFC Operational Data Archive: completed dozer and hand line, road used as line, safety zones, helispots and landing areas, as they stood on the incident map on one day near the end of each fire.</a:t>
            </a:r>
          </a:p>
        </p:txBody>
      </p:sp>
      <p:sp>
        <p:nvSpPr>
          <p:cNvPr id="15" name="Rounded Rectangle 14"/>
          <p:cNvSpPr/>
          <p:nvPr/>
        </p:nvSpPr>
        <p:spPr>
          <a:xfrm>
            <a:off x="502920" y="4572000"/>
            <a:ext cx="11155680" cy="1691640"/>
          </a:xfrm>
          <a:prstGeom prst="roundRect">
            <a:avLst>
              <a:gd name="adj" fmla="val 5000"/>
            </a:avLst>
          </a:prstGeom>
          <a:solidFill>
            <a:srgbClr val="1D21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709160"/>
            <a:ext cx="10698480" cy="1463040"/>
          </a:xfrm>
          <a:prstGeom prst="rect">
            <a:avLst/>
          </a:prstGeom>
          <a:noFill/>
        </p:spPr>
        <p:txBody>
          <a:bodyPr wrap="square" anchor="t" lIns="0" rIns="0" tIns="0" bIns="0">
            <a:spAutoFit/>
          </a:bodyPr>
          <a:lstStyle/>
          <a:p>
            <a:pPr>
              <a:spcAft>
                <a:spcPts val="600"/>
              </a:spcAft>
            </a:pPr>
            <a:r>
              <a:rPr sz="1400" b="1">
                <a:solidFill>
                  <a:srgbClr val="E9A821"/>
                </a:solidFill>
                <a:latin typeface="Calibri"/>
              </a:rPr>
              <a:t>Read with care: </a:t>
            </a:r>
            <a:r>
              <a:rPr sz="1400" b="0">
                <a:solidFill>
                  <a:srgbClr val="FFFFFF"/>
                </a:solidFill>
                <a:latin typeface="Calibri"/>
              </a:rPr>
              <a:t>fuel loads are what each fuel model assigns, not measurements, and fuel classifications explain little of measured loading (R2 below 0.30; Keane et al., 2013). Pioneer's LANDFIRE map is after the fire. Fireline dates are when lines were mapped, not when they were cut.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ACROSS THE FOUR FIRES</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Timber at Carr and Camp, shrub and grass at LNU</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3</a:t>
            </a:r>
          </a:p>
        </p:txBody>
      </p:sp>
      <p:pic>
        <p:nvPicPr>
          <p:cNvPr id="6" name="Picture 5" descr="compare_fuel_groups.png"/>
          <p:cNvPicPr>
            <a:picLocks noChangeAspect="1"/>
          </p:cNvPicPr>
          <p:nvPr/>
        </p:nvPicPr>
        <p:blipFill>
          <a:blip r:embed="rId2"/>
          <a:stretch>
            <a:fillRect/>
          </a:stretch>
        </p:blipFill>
        <p:spPr>
          <a:xfrm>
            <a:off x="502920" y="1234440"/>
            <a:ext cx="7863840" cy="2934327"/>
          </a:xfrm>
          <a:prstGeom prst="rect">
            <a:avLst/>
          </a:prstGeom>
        </p:spPr>
      </p:pic>
      <p:graphicFrame>
        <p:nvGraphicFramePr>
          <p:cNvPr id="7" name="Table 6"/>
          <p:cNvGraphicFramePr>
            <a:graphicFrameLocks noGrp="1"/>
          </p:cNvGraphicFramePr>
          <p:nvPr/>
        </p:nvGraphicFramePr>
        <p:xfrm>
          <a:off x="8595360" y="1371600"/>
          <a:ext cx="3108960" cy="2377440"/>
        </p:xfrm>
        <a:graphic>
          <a:graphicData uri="http://schemas.openxmlformats.org/drawingml/2006/table">
            <a:tbl>
              <a:tblPr firstRow="1" bandRow="1">
                <a:tableStyleId>{5C22544A-7EE6-4342-B048-85BDC9FD1C3A}</a:tableStyleId>
              </a:tblPr>
              <a:tblGrid>
                <a:gridCol w="621792"/>
                <a:gridCol w="621792"/>
                <a:gridCol w="621792"/>
                <a:gridCol w="621792"/>
                <a:gridCol w="621792"/>
              </a:tblGrid>
              <a:tr h="475488">
                <a:tc>
                  <a:txBody>
                    <a:bodyPr/>
                    <a:lstStyle/>
                    <a:p>
                      <a:r>
                        <a:rPr sz="1100" b="1">
                          <a:solidFill>
                            <a:srgbClr val="FFFFFF"/>
                          </a:solidFill>
                        </a:rPr>
                        <a:t>Fire</a:t>
                      </a:r>
                    </a:p>
                  </a:txBody>
                  <a:tcPr>
                    <a:solidFill>
                      <a:srgbClr val="1D2125"/>
                    </a:solidFill>
                  </a:tcPr>
                </a:tc>
                <a:tc>
                  <a:txBody>
                    <a:bodyPr/>
                    <a:lstStyle/>
                    <a:p>
                      <a:r>
                        <a:rPr sz="1100" b="1">
                          <a:solidFill>
                            <a:srgbClr val="FFFFFF"/>
                          </a:solidFill>
                        </a:rPr>
                        <a:t>Canopy area</a:t>
                      </a:r>
                    </a:p>
                  </a:txBody>
                  <a:tcPr>
                    <a:solidFill>
                      <a:srgbClr val="1D2125"/>
                    </a:solidFill>
                  </a:tcPr>
                </a:tc>
                <a:tc>
                  <a:txBody>
                    <a:bodyPr/>
                    <a:lstStyle/>
                    <a:p>
                      <a:r>
                        <a:rPr sz="1100" b="1">
                          <a:solidFill>
                            <a:srgbClr val="FFFFFF"/>
                          </a:solidFill>
                        </a:rPr>
                        <a:t>Cover</a:t>
                      </a:r>
                    </a:p>
                  </a:txBody>
                  <a:tcPr>
                    <a:solidFill>
                      <a:srgbClr val="1D2125"/>
                    </a:solidFill>
                  </a:tcPr>
                </a:tc>
                <a:tc>
                  <a:txBody>
                    <a:bodyPr/>
                    <a:lstStyle/>
                    <a:p>
                      <a:r>
                        <a:rPr sz="1100" b="1">
                          <a:solidFill>
                            <a:srgbClr val="FFFFFF"/>
                          </a:solidFill>
                        </a:rPr>
                        <a:t>CBH</a:t>
                      </a:r>
                    </a:p>
                  </a:txBody>
                  <a:tcPr>
                    <a:solidFill>
                      <a:srgbClr val="1D2125"/>
                    </a:solidFill>
                  </a:tcPr>
                </a:tc>
                <a:tc>
                  <a:txBody>
                    <a:bodyPr/>
                    <a:lstStyle/>
                    <a:p>
                      <a:r>
                        <a:rPr sz="1100" b="1">
                          <a:solidFill>
                            <a:srgbClr val="FFFFFF"/>
                          </a:solidFill>
                        </a:rPr>
                        <a:t>Load</a:t>
                      </a:r>
                    </a:p>
                  </a:txBody>
                  <a:tcPr>
                    <a:solidFill>
                      <a:srgbClr val="1D2125"/>
                    </a:solidFill>
                  </a:tcPr>
                </a:tc>
              </a:tr>
              <a:tr h="475488">
                <a:tc>
                  <a:txBody>
                    <a:bodyPr/>
                    <a:lstStyle/>
                    <a:p>
                      <a:r>
                        <a:rPr sz="1100" b="0">
                          <a:solidFill>
                            <a:srgbClr val="1D2125"/>
                          </a:solidFill>
                        </a:rPr>
                        <a:t>Pioneer</a:t>
                      </a:r>
                    </a:p>
                  </a:txBody>
                  <a:tcPr>
                    <a:solidFill>
                      <a:srgbClr val="F1F2F4"/>
                    </a:solidFill>
                  </a:tcPr>
                </a:tc>
                <a:tc>
                  <a:txBody>
                    <a:bodyPr/>
                    <a:lstStyle/>
                    <a:p>
                      <a:r>
                        <a:rPr sz="1100" b="0">
                          <a:solidFill>
                            <a:srgbClr val="1D2125"/>
                          </a:solidFill>
                        </a:rPr>
                        <a:t>39%</a:t>
                      </a:r>
                    </a:p>
                  </a:txBody>
                  <a:tcPr>
                    <a:solidFill>
                      <a:srgbClr val="F1F2F4"/>
                    </a:solidFill>
                  </a:tcPr>
                </a:tc>
                <a:tc>
                  <a:txBody>
                    <a:bodyPr/>
                    <a:lstStyle/>
                    <a:p>
                      <a:r>
                        <a:rPr sz="1100" b="0">
                          <a:solidFill>
                            <a:srgbClr val="1D2125"/>
                          </a:solidFill>
                        </a:rPr>
                        <a:t>25%</a:t>
                      </a:r>
                    </a:p>
                  </a:txBody>
                  <a:tcPr>
                    <a:solidFill>
                      <a:srgbClr val="F1F2F4"/>
                    </a:solidFill>
                  </a:tcPr>
                </a:tc>
                <a:tc>
                  <a:txBody>
                    <a:bodyPr/>
                    <a:lstStyle/>
                    <a:p>
                      <a:r>
                        <a:rPr sz="1100" b="0">
                          <a:solidFill>
                            <a:srgbClr val="1D2125"/>
                          </a:solidFill>
                        </a:rPr>
                        <a:t>4.1 m</a:t>
                      </a:r>
                    </a:p>
                  </a:txBody>
                  <a:tcPr>
                    <a:solidFill>
                      <a:srgbClr val="F1F2F4"/>
                    </a:solidFill>
                  </a:tcPr>
                </a:tc>
                <a:tc>
                  <a:txBody>
                    <a:bodyPr/>
                    <a:lstStyle/>
                    <a:p>
                      <a:r>
                        <a:rPr sz="1100" b="0">
                          <a:solidFill>
                            <a:srgbClr val="1D2125"/>
                          </a:solidFill>
                        </a:rPr>
                        <a:t>4.8 t/ac</a:t>
                      </a:r>
                    </a:p>
                  </a:txBody>
                  <a:tcPr>
                    <a:solidFill>
                      <a:srgbClr val="F1F2F4"/>
                    </a:solidFill>
                  </a:tcPr>
                </a:tc>
              </a:tr>
              <a:tr h="475488">
                <a:tc>
                  <a:txBody>
                    <a:bodyPr/>
                    <a:lstStyle/>
                    <a:p>
                      <a:r>
                        <a:rPr sz="1100" b="0">
                          <a:solidFill>
                            <a:srgbClr val="1D2125"/>
                          </a:solidFill>
                        </a:rPr>
                        <a:t>Carr</a:t>
                      </a:r>
                    </a:p>
                  </a:txBody>
                  <a:tcPr>
                    <a:solidFill>
                      <a:srgbClr val="FFFFFF"/>
                    </a:solidFill>
                  </a:tcPr>
                </a:tc>
                <a:tc>
                  <a:txBody>
                    <a:bodyPr/>
                    <a:lstStyle/>
                    <a:p>
                      <a:r>
                        <a:rPr sz="1100" b="0">
                          <a:solidFill>
                            <a:srgbClr val="1D2125"/>
                          </a:solidFill>
                        </a:rPr>
                        <a:t>81%</a:t>
                      </a:r>
                    </a:p>
                  </a:txBody>
                  <a:tcPr>
                    <a:solidFill>
                      <a:srgbClr val="FFFFFF"/>
                    </a:solidFill>
                  </a:tcPr>
                </a:tc>
                <a:tc>
                  <a:txBody>
                    <a:bodyPr/>
                    <a:lstStyle/>
                    <a:p>
                      <a:r>
                        <a:rPr sz="1100" b="0">
                          <a:solidFill>
                            <a:srgbClr val="1D2125"/>
                          </a:solidFill>
                        </a:rPr>
                        <a:t>55%</a:t>
                      </a:r>
                    </a:p>
                  </a:txBody>
                  <a:tcPr>
                    <a:solidFill>
                      <a:srgbClr val="FFFFFF"/>
                    </a:solidFill>
                  </a:tcPr>
                </a:tc>
                <a:tc>
                  <a:txBody>
                    <a:bodyPr/>
                    <a:lstStyle/>
                    <a:p>
                      <a:r>
                        <a:rPr sz="1100" b="0">
                          <a:solidFill>
                            <a:srgbClr val="1D2125"/>
                          </a:solidFill>
                        </a:rPr>
                        <a:t>1.6 m</a:t>
                      </a:r>
                    </a:p>
                  </a:txBody>
                  <a:tcPr>
                    <a:solidFill>
                      <a:srgbClr val="FFFFFF"/>
                    </a:solidFill>
                  </a:tcPr>
                </a:tc>
                <a:tc>
                  <a:txBody>
                    <a:bodyPr/>
                    <a:lstStyle/>
                    <a:p>
                      <a:r>
                        <a:rPr sz="1100" b="0">
                          <a:solidFill>
                            <a:srgbClr val="1D2125"/>
                          </a:solidFill>
                        </a:rPr>
                        <a:t>14.0 t/ac</a:t>
                      </a:r>
                    </a:p>
                  </a:txBody>
                  <a:tcPr>
                    <a:solidFill>
                      <a:srgbClr val="FFFFFF"/>
                    </a:solidFill>
                  </a:tcPr>
                </a:tc>
              </a:tr>
              <a:tr h="475488">
                <a:tc>
                  <a:txBody>
                    <a:bodyPr/>
                    <a:lstStyle/>
                    <a:p>
                      <a:r>
                        <a:rPr sz="1100" b="0">
                          <a:solidFill>
                            <a:srgbClr val="1D2125"/>
                          </a:solidFill>
                        </a:rPr>
                        <a:t>Camp</a:t>
                      </a:r>
                    </a:p>
                  </a:txBody>
                  <a:tcPr>
                    <a:solidFill>
                      <a:srgbClr val="F1F2F4"/>
                    </a:solidFill>
                  </a:tcPr>
                </a:tc>
                <a:tc>
                  <a:txBody>
                    <a:bodyPr/>
                    <a:lstStyle/>
                    <a:p>
                      <a:r>
                        <a:rPr sz="1100" b="0">
                          <a:solidFill>
                            <a:srgbClr val="1D2125"/>
                          </a:solidFill>
                        </a:rPr>
                        <a:t>71%</a:t>
                      </a:r>
                    </a:p>
                  </a:txBody>
                  <a:tcPr>
                    <a:solidFill>
                      <a:srgbClr val="F1F2F4"/>
                    </a:solidFill>
                  </a:tcPr>
                </a:tc>
                <a:tc>
                  <a:txBody>
                    <a:bodyPr/>
                    <a:lstStyle/>
                    <a:p>
                      <a:r>
                        <a:rPr sz="1100" b="0">
                          <a:solidFill>
                            <a:srgbClr val="1D2125"/>
                          </a:solidFill>
                        </a:rPr>
                        <a:t>45%</a:t>
                      </a:r>
                    </a:p>
                  </a:txBody>
                  <a:tcPr>
                    <a:solidFill>
                      <a:srgbClr val="F1F2F4"/>
                    </a:solidFill>
                  </a:tcPr>
                </a:tc>
                <a:tc>
                  <a:txBody>
                    <a:bodyPr/>
                    <a:lstStyle/>
                    <a:p>
                      <a:r>
                        <a:rPr sz="1100" b="0">
                          <a:solidFill>
                            <a:srgbClr val="1D2125"/>
                          </a:solidFill>
                        </a:rPr>
                        <a:t>1.0 m</a:t>
                      </a:r>
                    </a:p>
                  </a:txBody>
                  <a:tcPr>
                    <a:solidFill>
                      <a:srgbClr val="F1F2F4"/>
                    </a:solidFill>
                  </a:tcPr>
                </a:tc>
                <a:tc>
                  <a:txBody>
                    <a:bodyPr/>
                    <a:lstStyle/>
                    <a:p>
                      <a:r>
                        <a:rPr sz="1100" b="0">
                          <a:solidFill>
                            <a:srgbClr val="1D2125"/>
                          </a:solidFill>
                        </a:rPr>
                        <a:t>6.2 t/ac</a:t>
                      </a:r>
                    </a:p>
                  </a:txBody>
                  <a:tcPr>
                    <a:solidFill>
                      <a:srgbClr val="F1F2F4"/>
                    </a:solidFill>
                  </a:tcPr>
                </a:tc>
              </a:tr>
              <a:tr h="475488">
                <a:tc>
                  <a:txBody>
                    <a:bodyPr/>
                    <a:lstStyle/>
                    <a:p>
                      <a:r>
                        <a:rPr sz="1100" b="0">
                          <a:solidFill>
                            <a:srgbClr val="1D2125"/>
                          </a:solidFill>
                        </a:rPr>
                        <a:t>LNU</a:t>
                      </a:r>
                    </a:p>
                  </a:txBody>
                  <a:tcPr>
                    <a:solidFill>
                      <a:srgbClr val="FFFFFF"/>
                    </a:solidFill>
                  </a:tcPr>
                </a:tc>
                <a:tc>
                  <a:txBody>
                    <a:bodyPr/>
                    <a:lstStyle/>
                    <a:p>
                      <a:r>
                        <a:rPr sz="1100" b="0">
                          <a:solidFill>
                            <a:srgbClr val="1D2125"/>
                          </a:solidFill>
                        </a:rPr>
                        <a:t>53%</a:t>
                      </a:r>
                    </a:p>
                  </a:txBody>
                  <a:tcPr>
                    <a:solidFill>
                      <a:srgbClr val="FFFFFF"/>
                    </a:solidFill>
                  </a:tcPr>
                </a:tc>
                <a:tc>
                  <a:txBody>
                    <a:bodyPr/>
                    <a:lstStyle/>
                    <a:p>
                      <a:r>
                        <a:rPr sz="1100" b="0">
                          <a:solidFill>
                            <a:srgbClr val="1D2125"/>
                          </a:solidFill>
                        </a:rPr>
                        <a:t>45%</a:t>
                      </a:r>
                    </a:p>
                  </a:txBody>
                  <a:tcPr>
                    <a:solidFill>
                      <a:srgbClr val="FFFFFF"/>
                    </a:solidFill>
                  </a:tcPr>
                </a:tc>
                <a:tc>
                  <a:txBody>
                    <a:bodyPr/>
                    <a:lstStyle/>
                    <a:p>
                      <a:r>
                        <a:rPr sz="1100" b="0">
                          <a:solidFill>
                            <a:srgbClr val="1D2125"/>
                          </a:solidFill>
                        </a:rPr>
                        <a:t>1.5 m</a:t>
                      </a:r>
                    </a:p>
                  </a:txBody>
                  <a:tcPr>
                    <a:solidFill>
                      <a:srgbClr val="FFFFFF"/>
                    </a:solidFill>
                  </a:tcPr>
                </a:tc>
                <a:tc>
                  <a:txBody>
                    <a:bodyPr/>
                    <a:lstStyle/>
                    <a:p>
                      <a:r>
                        <a:rPr sz="1100" b="0">
                          <a:solidFill>
                            <a:srgbClr val="1D2125"/>
                          </a:solidFill>
                        </a:rPr>
                        <a:t>8.3 t/ac</a:t>
                      </a:r>
                    </a:p>
                  </a:txBody>
                  <a:tcPr>
                    <a:solidFill>
                      <a:srgbClr val="FFFFFF"/>
                    </a:solidFill>
                  </a:tcPr>
                </a:tc>
              </a:tr>
            </a:tbl>
          </a:graphicData>
        </a:graphic>
      </p:graphicFrame>
      <p:sp>
        <p:nvSpPr>
          <p:cNvPr id="8" name="TextBox 7"/>
          <p:cNvSpPr txBox="1"/>
          <p:nvPr/>
        </p:nvSpPr>
        <p:spPr>
          <a:xfrm>
            <a:off x="8595360" y="3931920"/>
            <a:ext cx="3108960" cy="2377440"/>
          </a:xfrm>
          <a:prstGeom prst="rect">
            <a:avLst/>
          </a:prstGeom>
          <a:noFill/>
        </p:spPr>
        <p:txBody>
          <a:bodyPr wrap="square" anchor="t" lIns="0" rIns="0" tIns="0" bIns="0">
            <a:spAutoFit/>
          </a:bodyPr>
          <a:lstStyle/>
          <a:p>
            <a:pPr>
              <a:spcAft>
                <a:spcPts val="600"/>
              </a:spcAft>
            </a:pPr>
            <a:r>
              <a:rPr sz="1200" b="0">
                <a:solidFill>
                  <a:srgbClr val="1D2125"/>
                </a:solidFill>
                <a:latin typeface="Calibri"/>
              </a:rPr>
              <a:t>Carr carries the heaviest assigned surface load (median 14 t/ac) because half its area is TU5, conifer litter under shrubs.</a:t>
            </a:r>
          </a:p>
          <a:p>
            <a:pPr>
              <a:spcAft>
                <a:spcPts val="600"/>
              </a:spcAft>
            </a:pPr>
            <a:r>
              <a:rPr sz="1200" b="0">
                <a:solidFill>
                  <a:srgbClr val="1D2125"/>
                </a:solidFill>
                <a:latin typeface="Calibri"/>
              </a:rPr>
              <a:t>Canopy base heights of 1 to 2 m on the California fires mean low canopy that surface fire can climb.</a:t>
            </a:r>
          </a:p>
          <a:p>
            <a:pPr>
              <a:spcAft>
                <a:spcPts val="600"/>
              </a:spcAft>
            </a:pPr>
            <a:r>
              <a:rPr sz="1200" b="1">
                <a:solidFill>
                  <a:srgbClr val="1D2125"/>
                </a:solidFill>
                <a:latin typeface="Calibri"/>
              </a:rPr>
              <a:t>Pioneer values are post-fire.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PIONEER 2016  |  FUELS AND PERIMETERS</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Pioneer: LANDFIRE shows what the fire left, not what it burned</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4</a:t>
            </a:r>
          </a:p>
        </p:txBody>
      </p:sp>
      <p:pic>
        <p:nvPicPr>
          <p:cNvPr id="6" name="Picture 5" descr="Pioneer_fuels_progression.png"/>
          <p:cNvPicPr>
            <a:picLocks noChangeAspect="1"/>
          </p:cNvPicPr>
          <p:nvPr/>
        </p:nvPicPr>
        <p:blipFill>
          <a:blip r:embed="rId2"/>
          <a:stretch>
            <a:fillRect/>
          </a:stretch>
        </p:blipFill>
        <p:spPr>
          <a:xfrm>
            <a:off x="502920" y="1561804"/>
            <a:ext cx="7406640" cy="4557350"/>
          </a:xfrm>
          <a:prstGeom prst="rect">
            <a:avLst/>
          </a:prstGeom>
        </p:spPr>
      </p:pic>
      <p:sp>
        <p:nvSpPr>
          <p:cNvPr id="7" name="Rounded Rectangle 6"/>
          <p:cNvSpPr/>
          <p:nvPr/>
        </p:nvSpPr>
        <p:spPr>
          <a:xfrm>
            <a:off x="8138160" y="1280160"/>
            <a:ext cx="3550615" cy="50749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389888"/>
            <a:ext cx="3184855" cy="320040"/>
          </a:xfrm>
          <a:prstGeom prst="rect">
            <a:avLst/>
          </a:prstGeom>
          <a:noFill/>
        </p:spPr>
        <p:txBody>
          <a:bodyPr wrap="square" anchor="t" lIns="0" rIns="0" tIns="0" bIns="0">
            <a:spAutoFit/>
          </a:bodyPr>
          <a:lstStyle/>
          <a:p>
            <a:pPr>
              <a:spcAft>
                <a:spcPts val="600"/>
              </a:spcAft>
            </a:pPr>
            <a:r>
              <a:rPr sz="1500" b="1">
                <a:solidFill>
                  <a:srgbClr val="1D2125"/>
                </a:solidFill>
                <a:latin typeface="Arial"/>
              </a:rPr>
              <a:t>What the picture shows</a:t>
            </a:r>
          </a:p>
        </p:txBody>
      </p:sp>
      <p:sp>
        <p:nvSpPr>
          <p:cNvPr id="9" name="TextBox 8"/>
          <p:cNvSpPr txBox="1"/>
          <p:nvPr/>
        </p:nvSpPr>
        <p:spPr>
          <a:xfrm>
            <a:off x="8321040" y="1783080"/>
            <a:ext cx="3184855" cy="4480560"/>
          </a:xfrm>
          <a:prstGeom prst="rect">
            <a:avLst/>
          </a:prstGeom>
          <a:noFill/>
        </p:spPr>
        <p:txBody>
          <a:bodyPr wrap="square" anchor="t" lIns="0" rIns="0" tIns="0" bIns="0">
            <a:spAutoFit/>
          </a:bodyPr>
          <a:lstStyle/>
          <a:p>
            <a:pPr>
              <a:spcAft>
                <a:spcPts val="600"/>
              </a:spcAft>
            </a:pPr>
            <a:r>
              <a:rPr sz="1200" b="1">
                <a:solidFill>
                  <a:srgbClr val="E8642F"/>
                </a:solidFill>
                <a:latin typeface="Calibri"/>
              </a:rPr>
              <a:t>•  </a:t>
            </a:r>
            <a:r>
              <a:rPr sz="1200" b="0">
                <a:solidFill>
                  <a:srgbClr val="1D2125"/>
                </a:solidFill>
                <a:latin typeface="Calibri"/>
              </a:rPr>
              <a:t>LANDFIRE 2016 classifies this area after the fire: the disturbance layer marks 99% of it as burned in the prior 2 to 5 years, and 62% of the vegetation as 'Recently Burned-Herb and Grass Cover'.</a:t>
            </a:r>
          </a:p>
          <a:p>
            <a:pPr>
              <a:spcAft>
                <a:spcPts val="600"/>
              </a:spcAft>
            </a:pPr>
            <a:r>
              <a:rPr sz="1200" b="1">
                <a:solidFill>
                  <a:srgbClr val="E8642F"/>
                </a:solidFill>
                <a:latin typeface="Calibri"/>
              </a:rPr>
              <a:t>•  </a:t>
            </a:r>
            <a:r>
              <a:rPr sz="1200" b="0">
                <a:solidFill>
                  <a:srgbClr val="1D2125"/>
                </a:solidFill>
                <a:latin typeface="Calibri"/>
              </a:rPr>
              <a:t>So the fuel models here (TL3 conifer litter 23%, TL6 broadleaf litter 20%, grass and grass-shrub 26%) describe what was left, not what burned.</a:t>
            </a:r>
          </a:p>
          <a:p>
            <a:pPr>
              <a:spcAft>
                <a:spcPts val="600"/>
              </a:spcAft>
            </a:pPr>
            <a:r>
              <a:rPr sz="1200" b="1">
                <a:solidFill>
                  <a:srgbClr val="E8642F"/>
                </a:solidFill>
                <a:latin typeface="Calibri"/>
              </a:rPr>
              <a:t>•  </a:t>
            </a:r>
            <a:r>
              <a:rPr sz="1200" b="0">
                <a:solidFill>
                  <a:srgbClr val="1D2125"/>
                </a:solidFill>
                <a:latin typeface="Calibri"/>
              </a:rPr>
              <a:t>The dated perimeters fill the southern lobe first (light) and the northern lobe late (dark), consistent with the late-August northeastward run in the case-study record.</a:t>
            </a:r>
          </a:p>
          <a:p>
            <a:pPr>
              <a:spcAft>
                <a:spcPts val="600"/>
              </a:spcAft>
            </a:pPr>
            <a:r>
              <a:rPr sz="1000" b="0">
                <a:solidFill>
                  <a:srgbClr val="6B7480"/>
                </a:solidFill>
                <a:latin typeface="Calibri"/>
              </a:rPr>
              <a:t>Fuel groups from LANDFIRE LF2016 FBFM40. Perimeter colors run light (early) to dark (late).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PIONEER 2016  |  DISTURBANCE</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Pioneer: the 2016 map already records the burn</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5</a:t>
            </a:r>
          </a:p>
        </p:txBody>
      </p:sp>
      <p:pic>
        <p:nvPicPr>
          <p:cNvPr id="6" name="Picture 5" descr="Pioneer_canopy_operations.png"/>
          <p:cNvPicPr>
            <a:picLocks noChangeAspect="1"/>
          </p:cNvPicPr>
          <p:nvPr/>
        </p:nvPicPr>
        <p:blipFill>
          <a:blip r:embed="rId2"/>
          <a:stretch>
            <a:fillRect/>
          </a:stretch>
        </p:blipFill>
        <p:spPr>
          <a:xfrm>
            <a:off x="502920" y="1280160"/>
            <a:ext cx="4466760" cy="5120640"/>
          </a:xfrm>
          <a:prstGeom prst="rect">
            <a:avLst/>
          </a:prstGeom>
        </p:spPr>
      </p:pic>
      <p:sp>
        <p:nvSpPr>
          <p:cNvPr id="7" name="Rounded Rectangle 6"/>
          <p:cNvSpPr/>
          <p:nvPr/>
        </p:nvSpPr>
        <p:spPr>
          <a:xfrm>
            <a:off x="8138160" y="1280160"/>
            <a:ext cx="3550615" cy="50749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389888"/>
            <a:ext cx="3184855" cy="320040"/>
          </a:xfrm>
          <a:prstGeom prst="rect">
            <a:avLst/>
          </a:prstGeom>
          <a:noFill/>
        </p:spPr>
        <p:txBody>
          <a:bodyPr wrap="square" anchor="t" lIns="0" rIns="0" tIns="0" bIns="0">
            <a:spAutoFit/>
          </a:bodyPr>
          <a:lstStyle/>
          <a:p>
            <a:pPr>
              <a:spcAft>
                <a:spcPts val="600"/>
              </a:spcAft>
            </a:pPr>
            <a:r>
              <a:rPr sz="1500" b="1">
                <a:solidFill>
                  <a:srgbClr val="1D2125"/>
                </a:solidFill>
                <a:latin typeface="Arial"/>
              </a:rPr>
              <a:t>What the picture shows</a:t>
            </a:r>
          </a:p>
        </p:txBody>
      </p:sp>
      <p:sp>
        <p:nvSpPr>
          <p:cNvPr id="9" name="TextBox 8"/>
          <p:cNvSpPr txBox="1"/>
          <p:nvPr/>
        </p:nvSpPr>
        <p:spPr>
          <a:xfrm>
            <a:off x="8321040" y="1783080"/>
            <a:ext cx="3184855" cy="4480560"/>
          </a:xfrm>
          <a:prstGeom prst="rect">
            <a:avLst/>
          </a:prstGeom>
          <a:noFill/>
        </p:spPr>
        <p:txBody>
          <a:bodyPr wrap="square" anchor="t" lIns="0" rIns="0" tIns="0" bIns="0">
            <a:spAutoFit/>
          </a:bodyPr>
          <a:lstStyle/>
          <a:p>
            <a:pPr>
              <a:spcAft>
                <a:spcPts val="600"/>
              </a:spcAft>
            </a:pPr>
            <a:r>
              <a:rPr sz="1200" b="1">
                <a:solidFill>
                  <a:srgbClr val="E8642F"/>
                </a:solidFill>
                <a:latin typeface="Calibri"/>
              </a:rPr>
              <a:t>•  </a:t>
            </a:r>
            <a:r>
              <a:rPr sz="1200" b="0">
                <a:solidFill>
                  <a:srgbClr val="1D2125"/>
                </a:solidFill>
                <a:latin typeface="Calibri"/>
              </a:rPr>
              <a:t>The disturbance map is the evidence: almost every pixel inside the final perimeter carries a fire code, with high, moderate and low severity interleaved.</a:t>
            </a:r>
          </a:p>
          <a:p>
            <a:pPr>
              <a:spcAft>
                <a:spcPts val="600"/>
              </a:spcAft>
            </a:pPr>
            <a:r>
              <a:rPr sz="1200" b="1">
                <a:solidFill>
                  <a:srgbClr val="E8642F"/>
                </a:solidFill>
                <a:latin typeface="Calibri"/>
              </a:rPr>
              <a:t>•  </a:t>
            </a:r>
            <a:r>
              <a:rPr sz="1200" b="0">
                <a:solidFill>
                  <a:srgbClr val="1D2125"/>
                </a:solidFill>
                <a:latin typeface="Calibri"/>
              </a:rPr>
              <a:t>A pre-fire picture needs LANDFIRE 2014 (archived; the LANDFIRE viewer, not the image service).</a:t>
            </a:r>
          </a:p>
          <a:p>
            <a:pPr>
              <a:spcAft>
                <a:spcPts val="600"/>
              </a:spcAft>
            </a:pPr>
            <a:r>
              <a:rPr sz="1200" b="1">
                <a:solidFill>
                  <a:srgbClr val="E8642F"/>
                </a:solidFill>
                <a:latin typeface="Calibri"/>
              </a:rPr>
              <a:t>•  </a:t>
            </a:r>
            <a:r>
              <a:rPr sz="1200" b="0">
                <a:solidFill>
                  <a:srgbClr val="1D2125"/>
                </a:solidFill>
                <a:latin typeface="Calibri"/>
              </a:rPr>
              <a:t>No public fireline archive exists for 2016; incident GIS has to come through the Pioneer FOIA.</a:t>
            </a:r>
          </a:p>
          <a:p>
            <a:pPr>
              <a:spcAft>
                <a:spcPts val="600"/>
              </a:spcAft>
            </a:pPr>
            <a:r>
              <a:rPr sz="1000" b="0">
                <a:solidFill>
                  <a:srgbClr val="6B7480"/>
                </a:solidFill>
                <a:latin typeface="Calibri"/>
              </a:rPr>
              <a:t>LANDFIRE LF2016 fuel disturbance (FDist), fire severity classes.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CARR 2018  |  FUELS AND PERIMETERS</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Carr: heavy timber litter under shrubs, nearly all pre-fire</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6</a:t>
            </a:r>
          </a:p>
        </p:txBody>
      </p:sp>
      <p:pic>
        <p:nvPicPr>
          <p:cNvPr id="6" name="Picture 5" descr="Carr_fuels_progression.png"/>
          <p:cNvPicPr>
            <a:picLocks noChangeAspect="1"/>
          </p:cNvPicPr>
          <p:nvPr/>
        </p:nvPicPr>
        <p:blipFill>
          <a:blip r:embed="rId2"/>
          <a:stretch>
            <a:fillRect/>
          </a:stretch>
        </p:blipFill>
        <p:spPr>
          <a:xfrm>
            <a:off x="502920" y="1280160"/>
            <a:ext cx="5574958" cy="5120640"/>
          </a:xfrm>
          <a:prstGeom prst="rect">
            <a:avLst/>
          </a:prstGeom>
        </p:spPr>
      </p:pic>
      <p:sp>
        <p:nvSpPr>
          <p:cNvPr id="7" name="Rounded Rectangle 6"/>
          <p:cNvSpPr/>
          <p:nvPr/>
        </p:nvSpPr>
        <p:spPr>
          <a:xfrm>
            <a:off x="8138160" y="1280160"/>
            <a:ext cx="3550615" cy="50749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389888"/>
            <a:ext cx="3184855" cy="320040"/>
          </a:xfrm>
          <a:prstGeom prst="rect">
            <a:avLst/>
          </a:prstGeom>
          <a:noFill/>
        </p:spPr>
        <p:txBody>
          <a:bodyPr wrap="square" anchor="t" lIns="0" rIns="0" tIns="0" bIns="0">
            <a:spAutoFit/>
          </a:bodyPr>
          <a:lstStyle/>
          <a:p>
            <a:pPr>
              <a:spcAft>
                <a:spcPts val="600"/>
              </a:spcAft>
            </a:pPr>
            <a:r>
              <a:rPr sz="1500" b="1">
                <a:solidFill>
                  <a:srgbClr val="1D2125"/>
                </a:solidFill>
                <a:latin typeface="Arial"/>
              </a:rPr>
              <a:t>What the picture shows</a:t>
            </a:r>
          </a:p>
        </p:txBody>
      </p:sp>
      <p:sp>
        <p:nvSpPr>
          <p:cNvPr id="9" name="TextBox 8"/>
          <p:cNvSpPr txBox="1"/>
          <p:nvPr/>
        </p:nvSpPr>
        <p:spPr>
          <a:xfrm>
            <a:off x="8321040" y="1783080"/>
            <a:ext cx="3184855" cy="4480560"/>
          </a:xfrm>
          <a:prstGeom prst="rect">
            <a:avLst/>
          </a:prstGeom>
          <a:noFill/>
        </p:spPr>
        <p:txBody>
          <a:bodyPr wrap="square" anchor="t" lIns="0" rIns="0" tIns="0" bIns="0">
            <a:spAutoFit/>
          </a:bodyPr>
          <a:lstStyle/>
          <a:p>
            <a:pPr>
              <a:spcAft>
                <a:spcPts val="600"/>
              </a:spcAft>
            </a:pPr>
            <a:r>
              <a:rPr sz="1200" b="1">
                <a:solidFill>
                  <a:srgbClr val="E8642F"/>
                </a:solidFill>
                <a:latin typeface="Calibri"/>
              </a:rPr>
              <a:t>•  </a:t>
            </a:r>
            <a:r>
              <a:rPr sz="1200" b="0">
                <a:solidFill>
                  <a:srgbClr val="1D2125"/>
                </a:solidFill>
                <a:latin typeface="Calibri"/>
              </a:rPr>
              <a:t>Half the area (49%) is TU5, heavy conifer litter under shrubs and small trees, the heaviest common model here at 14 t/ac assigned surface load.</a:t>
            </a:r>
          </a:p>
          <a:p>
            <a:pPr>
              <a:spcAft>
                <a:spcPts val="600"/>
              </a:spcAft>
            </a:pPr>
            <a:r>
              <a:rPr sz="1200" b="1">
                <a:solidFill>
                  <a:srgbClr val="E8642F"/>
                </a:solidFill>
                <a:latin typeface="Calibri"/>
              </a:rPr>
              <a:t>•  </a:t>
            </a:r>
            <a:r>
              <a:rPr sz="1200" b="0">
                <a:solidFill>
                  <a:srgbClr val="1D2125"/>
                </a:solidFill>
                <a:latin typeface="Calibri"/>
              </a:rPr>
              <a:t>Shrub (14%) and grass-shrub (13%) fill the lower slopes; Whiskeytown Lake is the non-burnable hole in the middle.</a:t>
            </a:r>
          </a:p>
          <a:p>
            <a:pPr>
              <a:spcAft>
                <a:spcPts val="600"/>
              </a:spcAft>
            </a:pPr>
            <a:r>
              <a:rPr sz="1200" b="1">
                <a:solidFill>
                  <a:srgbClr val="E8642F"/>
                </a:solidFill>
                <a:latin typeface="Calibri"/>
              </a:rPr>
              <a:t>•  </a:t>
            </a:r>
            <a:r>
              <a:rPr sz="1200" b="0">
                <a:solidFill>
                  <a:srgbClr val="1D2125"/>
                </a:solidFill>
                <a:latin typeface="Calibri"/>
              </a:rPr>
              <a:t>The 63 dated perimeters thicken in the south early and expand the north late; LANDFIRE marks 97% of the area as undisturbed in the 10 years before 2016, so this is a pre-fire picture.</a:t>
            </a:r>
          </a:p>
          <a:p>
            <a:pPr>
              <a:spcAft>
                <a:spcPts val="600"/>
              </a:spcAft>
            </a:pPr>
            <a:r>
              <a:rPr sz="1000" b="0">
                <a:solidFill>
                  <a:srgbClr val="6B7480"/>
                </a:solidFill>
                <a:latin typeface="Calibri"/>
              </a:rPr>
              <a:t>Fuel groups from LANDFIRE LF2016 FBFM40. Perimeter colors run light (early) to dark (late).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CARR 2018  |  CANOPY AND FIRELINE</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Carr: dense low canopy and about 306 miles of dozer line</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7</a:t>
            </a:r>
          </a:p>
        </p:txBody>
      </p:sp>
      <p:pic>
        <p:nvPicPr>
          <p:cNvPr id="6" name="Picture 5" descr="Carr_canopy_operations.png"/>
          <p:cNvPicPr>
            <a:picLocks noChangeAspect="1"/>
          </p:cNvPicPr>
          <p:nvPr/>
        </p:nvPicPr>
        <p:blipFill>
          <a:blip r:embed="rId2"/>
          <a:stretch>
            <a:fillRect/>
          </a:stretch>
        </p:blipFill>
        <p:spPr>
          <a:xfrm>
            <a:off x="502920" y="1280160"/>
            <a:ext cx="6033523" cy="5120640"/>
          </a:xfrm>
          <a:prstGeom prst="rect">
            <a:avLst/>
          </a:prstGeom>
        </p:spPr>
      </p:pic>
      <p:sp>
        <p:nvSpPr>
          <p:cNvPr id="7" name="Rounded Rectangle 6"/>
          <p:cNvSpPr/>
          <p:nvPr/>
        </p:nvSpPr>
        <p:spPr>
          <a:xfrm>
            <a:off x="8138160" y="1280160"/>
            <a:ext cx="3550615" cy="50749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389888"/>
            <a:ext cx="3184855" cy="320040"/>
          </a:xfrm>
          <a:prstGeom prst="rect">
            <a:avLst/>
          </a:prstGeom>
          <a:noFill/>
        </p:spPr>
        <p:txBody>
          <a:bodyPr wrap="square" anchor="t" lIns="0" rIns="0" tIns="0" bIns="0">
            <a:spAutoFit/>
          </a:bodyPr>
          <a:lstStyle/>
          <a:p>
            <a:pPr>
              <a:spcAft>
                <a:spcPts val="600"/>
              </a:spcAft>
            </a:pPr>
            <a:r>
              <a:rPr sz="1500" b="1">
                <a:solidFill>
                  <a:srgbClr val="1D2125"/>
                </a:solidFill>
                <a:latin typeface="Arial"/>
              </a:rPr>
              <a:t>What the picture shows</a:t>
            </a:r>
          </a:p>
        </p:txBody>
      </p:sp>
      <p:sp>
        <p:nvSpPr>
          <p:cNvPr id="9" name="TextBox 8"/>
          <p:cNvSpPr txBox="1"/>
          <p:nvPr/>
        </p:nvSpPr>
        <p:spPr>
          <a:xfrm>
            <a:off x="8321040" y="1783080"/>
            <a:ext cx="3184855" cy="4480560"/>
          </a:xfrm>
          <a:prstGeom prst="rect">
            <a:avLst/>
          </a:prstGeom>
          <a:noFill/>
        </p:spPr>
        <p:txBody>
          <a:bodyPr wrap="square" anchor="t" lIns="0" rIns="0" tIns="0" bIns="0">
            <a:spAutoFit/>
          </a:bodyPr>
          <a:lstStyle/>
          <a:p>
            <a:pPr>
              <a:spcAft>
                <a:spcPts val="600"/>
              </a:spcAft>
            </a:pPr>
            <a:r>
              <a:rPr sz="1200" b="1">
                <a:solidFill>
                  <a:srgbClr val="E8642F"/>
                </a:solidFill>
                <a:latin typeface="Calibri"/>
              </a:rPr>
              <a:t>•  </a:t>
            </a:r>
            <a:r>
              <a:rPr sz="1200" b="0">
                <a:solidFill>
                  <a:srgbClr val="1D2125"/>
                </a:solidFill>
                <a:latin typeface="Calibri"/>
              </a:rPr>
              <a:t>Canopy covers 81% of the area (median cover 55%, canopy base height median 1.6 m): low, continuous canopy that lets surface fire climb.</a:t>
            </a:r>
          </a:p>
          <a:p>
            <a:pPr>
              <a:spcAft>
                <a:spcPts val="600"/>
              </a:spcAft>
            </a:pPr>
            <a:r>
              <a:rPr sz="1200" b="1">
                <a:solidFill>
                  <a:srgbClr val="E8642F"/>
                </a:solidFill>
                <a:latin typeface="Calibri"/>
              </a:rPr>
              <a:t>•  </a:t>
            </a:r>
            <a:r>
              <a:rPr sz="1200" b="0">
                <a:solidFill>
                  <a:srgbClr val="1D2125"/>
                </a:solidFill>
                <a:latin typeface="Calibri"/>
              </a:rPr>
              <a:t>By 20 Aug the incident map held about 306 mi of completed dozer line and 30 mi of hand line, much of it cut through the interior as well as along the edge.</a:t>
            </a:r>
          </a:p>
          <a:p>
            <a:pPr>
              <a:spcAft>
                <a:spcPts val="600"/>
              </a:spcAft>
            </a:pPr>
            <a:r>
              <a:rPr sz="1200" b="1">
                <a:solidFill>
                  <a:srgbClr val="E8642F"/>
                </a:solidFill>
                <a:latin typeface="Calibri"/>
              </a:rPr>
              <a:t>•  </a:t>
            </a:r>
            <a:r>
              <a:rPr sz="1200" b="0">
                <a:solidFill>
                  <a:srgbClr val="1D2125"/>
                </a:solidFill>
                <a:latin typeface="Calibri"/>
              </a:rPr>
              <a:t>The incident map also carried 94 safety zones, 8 helispots and 6 unimproved landing areas (points on the map): ready-made checkpoints for an overhead drone.</a:t>
            </a:r>
          </a:p>
          <a:p>
            <a:pPr>
              <a:spcAft>
                <a:spcPts val="600"/>
              </a:spcAft>
            </a:pPr>
            <a:r>
              <a:rPr sz="1000" b="0">
                <a:solidFill>
                  <a:srgbClr val="6B7480"/>
                </a:solidFill>
                <a:latin typeface="Calibri"/>
              </a:rPr>
              <a:t>Canopy cover from LANDFIRE LF2016. Lines and points from the NIFC Operational Data Archive, as on the incident map on 20 Aug 2018.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CAMP 2018  |  FUELS AND PERIMETERS</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Camp: grass to the west, timber to the east</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8</a:t>
            </a:r>
          </a:p>
        </p:txBody>
      </p:sp>
      <p:pic>
        <p:nvPicPr>
          <p:cNvPr id="6" name="Picture 5" descr="Camp_fuels_progression.png"/>
          <p:cNvPicPr>
            <a:picLocks noChangeAspect="1"/>
          </p:cNvPicPr>
          <p:nvPr/>
        </p:nvPicPr>
        <p:blipFill>
          <a:blip r:embed="rId2"/>
          <a:stretch>
            <a:fillRect/>
          </a:stretch>
        </p:blipFill>
        <p:spPr>
          <a:xfrm>
            <a:off x="502920" y="1280160"/>
            <a:ext cx="7235895" cy="5120640"/>
          </a:xfrm>
          <a:prstGeom prst="rect">
            <a:avLst/>
          </a:prstGeom>
        </p:spPr>
      </p:pic>
      <p:sp>
        <p:nvSpPr>
          <p:cNvPr id="7" name="Rounded Rectangle 6"/>
          <p:cNvSpPr/>
          <p:nvPr/>
        </p:nvSpPr>
        <p:spPr>
          <a:xfrm>
            <a:off x="8138160" y="1280160"/>
            <a:ext cx="3550615" cy="50749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389888"/>
            <a:ext cx="3184855" cy="320040"/>
          </a:xfrm>
          <a:prstGeom prst="rect">
            <a:avLst/>
          </a:prstGeom>
          <a:noFill/>
        </p:spPr>
        <p:txBody>
          <a:bodyPr wrap="square" anchor="t" lIns="0" rIns="0" tIns="0" bIns="0">
            <a:spAutoFit/>
          </a:bodyPr>
          <a:lstStyle/>
          <a:p>
            <a:pPr>
              <a:spcAft>
                <a:spcPts val="600"/>
              </a:spcAft>
            </a:pPr>
            <a:r>
              <a:rPr sz="1500" b="1">
                <a:solidFill>
                  <a:srgbClr val="1D2125"/>
                </a:solidFill>
                <a:latin typeface="Arial"/>
              </a:rPr>
              <a:t>What the picture shows</a:t>
            </a:r>
          </a:p>
        </p:txBody>
      </p:sp>
      <p:sp>
        <p:nvSpPr>
          <p:cNvPr id="9" name="TextBox 8"/>
          <p:cNvSpPr txBox="1"/>
          <p:nvPr/>
        </p:nvSpPr>
        <p:spPr>
          <a:xfrm>
            <a:off x="8321040" y="1783080"/>
            <a:ext cx="3184855" cy="4480560"/>
          </a:xfrm>
          <a:prstGeom prst="rect">
            <a:avLst/>
          </a:prstGeom>
          <a:noFill/>
        </p:spPr>
        <p:txBody>
          <a:bodyPr wrap="square" anchor="t" lIns="0" rIns="0" tIns="0" bIns="0">
            <a:spAutoFit/>
          </a:bodyPr>
          <a:lstStyle/>
          <a:p>
            <a:pPr>
              <a:spcAft>
                <a:spcPts val="600"/>
              </a:spcAft>
            </a:pPr>
            <a:r>
              <a:rPr sz="1200" b="1">
                <a:solidFill>
                  <a:srgbClr val="E8642F"/>
                </a:solidFill>
                <a:latin typeface="Calibri"/>
              </a:rPr>
              <a:t>•  </a:t>
            </a:r>
            <a:r>
              <a:rPr sz="1200" b="0">
                <a:solidFill>
                  <a:srgbClr val="1D2125"/>
                </a:solidFill>
                <a:latin typeface="Calibri"/>
              </a:rPr>
              <a:t>Two landscapes: grass and grass-shrub (29% together) on the lower western slopes toward the valley, and timber with shrub understory (TU5, 36%) on the higher eastern ridges.</a:t>
            </a:r>
          </a:p>
          <a:p>
            <a:pPr>
              <a:spcAft>
                <a:spcPts val="600"/>
              </a:spcAft>
            </a:pPr>
            <a:r>
              <a:rPr sz="1200" b="1">
                <a:solidFill>
                  <a:srgbClr val="E8642F"/>
                </a:solidFill>
                <a:latin typeface="Calibri"/>
              </a:rPr>
              <a:t>•  </a:t>
            </a:r>
            <a:r>
              <a:rPr sz="1200" b="0">
                <a:solidFill>
                  <a:srgbClr val="1D2125"/>
                </a:solidFill>
                <a:latin typeface="Calibri"/>
              </a:rPr>
              <a:t>A straight north-south boundary in the middle, where timber litter switches to timber-understory, looks like a LANDFIRE map-zone seam, not a real vegetation edge.</a:t>
            </a:r>
          </a:p>
          <a:p>
            <a:pPr>
              <a:spcAft>
                <a:spcPts val="600"/>
              </a:spcAft>
            </a:pPr>
            <a:r>
              <a:rPr sz="1200" b="1">
                <a:solidFill>
                  <a:srgbClr val="E8642F"/>
                </a:solidFill>
                <a:latin typeface="Calibri"/>
              </a:rPr>
              <a:t>•  </a:t>
            </a:r>
            <a:r>
              <a:rPr sz="1200" b="0">
                <a:solidFill>
                  <a:srgbClr val="1D2125"/>
                </a:solidFill>
                <a:latin typeface="Calibri"/>
              </a:rPr>
              <a:t>LANDFIRE marks 98% of the area as undisturbed before 2016, so this is a pre-fire picture; the town of Paradise shows as timber and non-burnable (LANDFIRE codes developed land as non-burnable), so structure-to-structure spread is invisible in these fuels.</a:t>
            </a:r>
          </a:p>
          <a:p>
            <a:pPr>
              <a:spcAft>
                <a:spcPts val="600"/>
              </a:spcAft>
            </a:pPr>
            <a:r>
              <a:rPr sz="1000" b="0">
                <a:solidFill>
                  <a:srgbClr val="6B7480"/>
                </a:solidFill>
                <a:latin typeface="Calibri"/>
              </a:rPr>
              <a:t>Fuel groups from LANDFIRE LF2016 FBFM40. Perimeter colors run light (early) to dark (late).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CAMP 2018  |  CANOPY AND FIRELINE</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Camp: line built where the fire met forest and canyons</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9</a:t>
            </a:r>
          </a:p>
        </p:txBody>
      </p:sp>
      <p:pic>
        <p:nvPicPr>
          <p:cNvPr id="6" name="Picture 5" descr="Camp_canopy_operations.png"/>
          <p:cNvPicPr>
            <a:picLocks noChangeAspect="1"/>
          </p:cNvPicPr>
          <p:nvPr/>
        </p:nvPicPr>
        <p:blipFill>
          <a:blip r:embed="rId2"/>
          <a:stretch>
            <a:fillRect/>
          </a:stretch>
        </p:blipFill>
        <p:spPr>
          <a:xfrm>
            <a:off x="502920" y="1280160"/>
            <a:ext cx="6645843" cy="5120640"/>
          </a:xfrm>
          <a:prstGeom prst="rect">
            <a:avLst/>
          </a:prstGeom>
        </p:spPr>
      </p:pic>
      <p:sp>
        <p:nvSpPr>
          <p:cNvPr id="7" name="Rounded Rectangle 6"/>
          <p:cNvSpPr/>
          <p:nvPr/>
        </p:nvSpPr>
        <p:spPr>
          <a:xfrm>
            <a:off x="8138160" y="1280160"/>
            <a:ext cx="3550615" cy="50749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389888"/>
            <a:ext cx="3184855" cy="320040"/>
          </a:xfrm>
          <a:prstGeom prst="rect">
            <a:avLst/>
          </a:prstGeom>
          <a:noFill/>
        </p:spPr>
        <p:txBody>
          <a:bodyPr wrap="square" anchor="t" lIns="0" rIns="0" tIns="0" bIns="0">
            <a:spAutoFit/>
          </a:bodyPr>
          <a:lstStyle/>
          <a:p>
            <a:pPr>
              <a:spcAft>
                <a:spcPts val="600"/>
              </a:spcAft>
            </a:pPr>
            <a:r>
              <a:rPr sz="1500" b="1">
                <a:solidFill>
                  <a:srgbClr val="1D2125"/>
                </a:solidFill>
                <a:latin typeface="Arial"/>
              </a:rPr>
              <a:t>What the picture shows</a:t>
            </a:r>
          </a:p>
        </p:txBody>
      </p:sp>
      <p:sp>
        <p:nvSpPr>
          <p:cNvPr id="9" name="TextBox 8"/>
          <p:cNvSpPr txBox="1"/>
          <p:nvPr/>
        </p:nvSpPr>
        <p:spPr>
          <a:xfrm>
            <a:off x="8321040" y="1783080"/>
            <a:ext cx="3184855" cy="4480560"/>
          </a:xfrm>
          <a:prstGeom prst="rect">
            <a:avLst/>
          </a:prstGeom>
          <a:noFill/>
        </p:spPr>
        <p:txBody>
          <a:bodyPr wrap="square" anchor="t" lIns="0" rIns="0" tIns="0" bIns="0">
            <a:spAutoFit/>
          </a:bodyPr>
          <a:lstStyle/>
          <a:p>
            <a:pPr>
              <a:spcAft>
                <a:spcPts val="600"/>
              </a:spcAft>
            </a:pPr>
            <a:r>
              <a:rPr sz="1200" b="1">
                <a:solidFill>
                  <a:srgbClr val="E8642F"/>
                </a:solidFill>
                <a:latin typeface="Calibri"/>
              </a:rPr>
              <a:t>•  </a:t>
            </a:r>
            <a:r>
              <a:rPr sz="1200" b="0">
                <a:solidFill>
                  <a:srgbClr val="1D2125"/>
                </a:solidFill>
                <a:latin typeface="Calibri"/>
              </a:rPr>
              <a:t>Canopy covers 71% of the area (median cover 45%) and is densest in the east; the west is open grass.</a:t>
            </a:r>
          </a:p>
          <a:p>
            <a:pPr>
              <a:spcAft>
                <a:spcPts val="600"/>
              </a:spcAft>
            </a:pPr>
            <a:r>
              <a:rPr sz="1200" b="1">
                <a:solidFill>
                  <a:srgbClr val="E8642F"/>
                </a:solidFill>
                <a:latin typeface="Calibri"/>
              </a:rPr>
              <a:t>•  </a:t>
            </a:r>
            <a:r>
              <a:rPr sz="1200" b="0">
                <a:solidFill>
                  <a:srgbClr val="1D2125"/>
                </a:solidFill>
                <a:latin typeface="Calibri"/>
              </a:rPr>
              <a:t>By 23 Nov the incident map held about 145 mi of completed dozer line and 16 mi of hand line; dozer line is concentrated on the eastern and southern edges, where the fire met forest and canyons.</a:t>
            </a:r>
          </a:p>
          <a:p>
            <a:pPr>
              <a:spcAft>
                <a:spcPts val="600"/>
              </a:spcAft>
            </a:pPr>
            <a:r>
              <a:rPr sz="1200" b="1">
                <a:solidFill>
                  <a:srgbClr val="E8642F"/>
                </a:solidFill>
                <a:latin typeface="Calibri"/>
              </a:rPr>
              <a:t>•  </a:t>
            </a:r>
            <a:r>
              <a:rPr sz="1200" b="0">
                <a:solidFill>
                  <a:srgbClr val="1D2125"/>
                </a:solidFill>
                <a:latin typeface="Calibri"/>
              </a:rPr>
              <a:t>Few operations points are in the archive, and no line features at all from 13 to 18 Nov.</a:t>
            </a:r>
          </a:p>
          <a:p>
            <a:pPr>
              <a:spcAft>
                <a:spcPts val="600"/>
              </a:spcAft>
            </a:pPr>
            <a:r>
              <a:rPr sz="1000" b="0">
                <a:solidFill>
                  <a:srgbClr val="6B7480"/>
                </a:solidFill>
                <a:latin typeface="Calibri"/>
              </a:rPr>
              <a:t>Canopy cover from LANDFIRE LF2016. Lines and points from the NIFC Operational Data Archive, as on the incident map on 23 Nov 2018.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LNU 2020  |  FUELS AND PERIMETERS</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LNU: chaparral and grass at Hennessey, timber at Walbridge</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10</a:t>
            </a:r>
          </a:p>
        </p:txBody>
      </p:sp>
      <p:pic>
        <p:nvPicPr>
          <p:cNvPr id="6" name="Picture 5" descr="LNU_fuels_progression.png"/>
          <p:cNvPicPr>
            <a:picLocks noChangeAspect="1"/>
          </p:cNvPicPr>
          <p:nvPr/>
        </p:nvPicPr>
        <p:blipFill>
          <a:blip r:embed="rId2"/>
          <a:stretch>
            <a:fillRect/>
          </a:stretch>
        </p:blipFill>
        <p:spPr>
          <a:xfrm>
            <a:off x="502920" y="1574336"/>
            <a:ext cx="7406640" cy="4532287"/>
          </a:xfrm>
          <a:prstGeom prst="rect">
            <a:avLst/>
          </a:prstGeom>
        </p:spPr>
      </p:pic>
      <p:sp>
        <p:nvSpPr>
          <p:cNvPr id="7" name="Rounded Rectangle 6"/>
          <p:cNvSpPr/>
          <p:nvPr/>
        </p:nvSpPr>
        <p:spPr>
          <a:xfrm>
            <a:off x="8138160" y="1280160"/>
            <a:ext cx="3550615" cy="50749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389888"/>
            <a:ext cx="3184855" cy="320040"/>
          </a:xfrm>
          <a:prstGeom prst="rect">
            <a:avLst/>
          </a:prstGeom>
          <a:noFill/>
        </p:spPr>
        <p:txBody>
          <a:bodyPr wrap="square" anchor="t" lIns="0" rIns="0" tIns="0" bIns="0">
            <a:spAutoFit/>
          </a:bodyPr>
          <a:lstStyle/>
          <a:p>
            <a:pPr>
              <a:spcAft>
                <a:spcPts val="600"/>
              </a:spcAft>
            </a:pPr>
            <a:r>
              <a:rPr sz="1500" b="1">
                <a:solidFill>
                  <a:srgbClr val="1D2125"/>
                </a:solidFill>
                <a:latin typeface="Arial"/>
              </a:rPr>
              <a:t>What the picture shows</a:t>
            </a:r>
          </a:p>
        </p:txBody>
      </p:sp>
      <p:sp>
        <p:nvSpPr>
          <p:cNvPr id="9" name="TextBox 8"/>
          <p:cNvSpPr txBox="1"/>
          <p:nvPr/>
        </p:nvSpPr>
        <p:spPr>
          <a:xfrm>
            <a:off x="8321040" y="1783080"/>
            <a:ext cx="3184855" cy="4480560"/>
          </a:xfrm>
          <a:prstGeom prst="rect">
            <a:avLst/>
          </a:prstGeom>
          <a:noFill/>
        </p:spPr>
        <p:txBody>
          <a:bodyPr wrap="square" anchor="t" lIns="0" rIns="0" tIns="0" bIns="0">
            <a:spAutoFit/>
          </a:bodyPr>
          <a:lstStyle/>
          <a:p>
            <a:pPr>
              <a:spcAft>
                <a:spcPts val="600"/>
              </a:spcAft>
            </a:pPr>
            <a:r>
              <a:rPr sz="1200" b="1">
                <a:solidFill>
                  <a:srgbClr val="E8642F"/>
                </a:solidFill>
                <a:latin typeface="Calibri"/>
              </a:rPr>
              <a:t>•  </a:t>
            </a:r>
            <a:r>
              <a:rPr sz="1200" b="0">
                <a:solidFill>
                  <a:srgbClr val="1D2125"/>
                </a:solidFill>
                <a:latin typeface="Calibri"/>
              </a:rPr>
              <a:t>The complex is a mix: shrub (29%), timber-understory (22%), grass (21%) and grass-shrub (14%); Hennessey in the east is grass and shrub (chaparral), Walbridge in the west is timber.</a:t>
            </a:r>
          </a:p>
          <a:p>
            <a:pPr>
              <a:spcAft>
                <a:spcPts val="600"/>
              </a:spcAft>
            </a:pPr>
            <a:r>
              <a:rPr sz="1200" b="1">
                <a:solidFill>
                  <a:srgbClr val="E8642F"/>
                </a:solidFill>
                <a:latin typeface="Calibri"/>
              </a:rPr>
              <a:t>•  </a:t>
            </a:r>
            <a:r>
              <a:rPr sz="1200" b="0">
                <a:solidFill>
                  <a:srgbClr val="1D2125"/>
                </a:solidFill>
                <a:latin typeface="Calibri"/>
              </a:rPr>
              <a:t>Assigned surface load is median 8.3 t/ac, with the heavy shrub SH7 (17%) and TU5 (17%) driving the high end.</a:t>
            </a:r>
          </a:p>
          <a:p>
            <a:pPr>
              <a:spcAft>
                <a:spcPts val="600"/>
              </a:spcAft>
            </a:pPr>
            <a:r>
              <a:rPr sz="1200" b="1">
                <a:solidFill>
                  <a:srgbClr val="E8642F"/>
                </a:solidFill>
                <a:latin typeface="Calibri"/>
              </a:rPr>
              <a:t>•  </a:t>
            </a:r>
            <a:r>
              <a:rPr sz="1200" b="0">
                <a:solidFill>
                  <a:srgbClr val="1D2125"/>
                </a:solidFill>
                <a:latin typeface="Calibri"/>
              </a:rPr>
              <a:t>The 180 FEDS satellite perimeters (12 h) outline both fires; LANDFIRE marks 88% of the area undisturbed and about 9% as burned in the 2 to 5 years before 2016 (earlier fires inside the footprint).</a:t>
            </a:r>
          </a:p>
          <a:p>
            <a:pPr>
              <a:spcAft>
                <a:spcPts val="600"/>
              </a:spcAft>
            </a:pPr>
            <a:r>
              <a:rPr sz="1000" b="0">
                <a:solidFill>
                  <a:srgbClr val="6B7480"/>
                </a:solidFill>
                <a:latin typeface="Calibri"/>
              </a:rPr>
              <a:t>Fuel groups from LANDFIRE LF2016 FBFM40. Perimeter colors run light (early) to dark (late).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LNU 2020  |  CANOPY AND FIRELINE</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LNU: dozer line rings Walbridge; roads served as line</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11</a:t>
            </a:r>
          </a:p>
        </p:txBody>
      </p:sp>
      <p:pic>
        <p:nvPicPr>
          <p:cNvPr id="6" name="Picture 5" descr="LNU_canopy_operations.png"/>
          <p:cNvPicPr>
            <a:picLocks noChangeAspect="1"/>
          </p:cNvPicPr>
          <p:nvPr/>
        </p:nvPicPr>
        <p:blipFill>
          <a:blip r:embed="rId2"/>
          <a:stretch>
            <a:fillRect/>
          </a:stretch>
        </p:blipFill>
        <p:spPr>
          <a:xfrm>
            <a:off x="502920" y="1416690"/>
            <a:ext cx="7406640" cy="4847579"/>
          </a:xfrm>
          <a:prstGeom prst="rect">
            <a:avLst/>
          </a:prstGeom>
        </p:spPr>
      </p:pic>
      <p:sp>
        <p:nvSpPr>
          <p:cNvPr id="7" name="Rounded Rectangle 6"/>
          <p:cNvSpPr/>
          <p:nvPr/>
        </p:nvSpPr>
        <p:spPr>
          <a:xfrm>
            <a:off x="8138160" y="1280160"/>
            <a:ext cx="3550615" cy="50749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1389888"/>
            <a:ext cx="3184855" cy="320040"/>
          </a:xfrm>
          <a:prstGeom prst="rect">
            <a:avLst/>
          </a:prstGeom>
          <a:noFill/>
        </p:spPr>
        <p:txBody>
          <a:bodyPr wrap="square" anchor="t" lIns="0" rIns="0" tIns="0" bIns="0">
            <a:spAutoFit/>
          </a:bodyPr>
          <a:lstStyle/>
          <a:p>
            <a:pPr>
              <a:spcAft>
                <a:spcPts val="600"/>
              </a:spcAft>
            </a:pPr>
            <a:r>
              <a:rPr sz="1500" b="1">
                <a:solidFill>
                  <a:srgbClr val="1D2125"/>
                </a:solidFill>
                <a:latin typeface="Arial"/>
              </a:rPr>
              <a:t>What the picture shows</a:t>
            </a:r>
          </a:p>
        </p:txBody>
      </p:sp>
      <p:sp>
        <p:nvSpPr>
          <p:cNvPr id="9" name="TextBox 8"/>
          <p:cNvSpPr txBox="1"/>
          <p:nvPr/>
        </p:nvSpPr>
        <p:spPr>
          <a:xfrm>
            <a:off x="8321040" y="1783080"/>
            <a:ext cx="3184855" cy="4480560"/>
          </a:xfrm>
          <a:prstGeom prst="rect">
            <a:avLst/>
          </a:prstGeom>
          <a:noFill/>
        </p:spPr>
        <p:txBody>
          <a:bodyPr wrap="square" anchor="t" lIns="0" rIns="0" tIns="0" bIns="0">
            <a:spAutoFit/>
          </a:bodyPr>
          <a:lstStyle/>
          <a:p>
            <a:pPr>
              <a:spcAft>
                <a:spcPts val="600"/>
              </a:spcAft>
            </a:pPr>
            <a:r>
              <a:rPr sz="1200" b="1">
                <a:solidFill>
                  <a:srgbClr val="E8642F"/>
                </a:solidFill>
                <a:latin typeface="Calibri"/>
              </a:rPr>
              <a:t>•  </a:t>
            </a:r>
            <a:r>
              <a:rPr sz="1200" b="0">
                <a:solidFill>
                  <a:srgbClr val="1D2125"/>
                </a:solidFill>
                <a:latin typeface="Calibri"/>
              </a:rPr>
              <a:t>Canopy covers 53% of the area: dense forest at Walbridge, open woodland and chaparral at Hennessey.</a:t>
            </a:r>
          </a:p>
          <a:p>
            <a:pPr>
              <a:spcAft>
                <a:spcPts val="600"/>
              </a:spcAft>
            </a:pPr>
            <a:r>
              <a:rPr sz="1200" b="1">
                <a:solidFill>
                  <a:srgbClr val="E8642F"/>
                </a:solidFill>
                <a:latin typeface="Calibri"/>
              </a:rPr>
              <a:t>•  </a:t>
            </a:r>
            <a:r>
              <a:rPr sz="1200" b="0">
                <a:solidFill>
                  <a:srgbClr val="1D2125"/>
                </a:solidFill>
                <a:latin typeface="Calibri"/>
              </a:rPr>
              <a:t>By 10 Sep the incident map held about 298 mi of completed dozer line, 25 mi of hand line and 239 mi of road used as line; uncontrolled edge had fallen from 486 mi (20 Aug) to zero.</a:t>
            </a:r>
          </a:p>
          <a:p>
            <a:pPr>
              <a:spcAft>
                <a:spcPts val="600"/>
              </a:spcAft>
            </a:pPr>
            <a:r>
              <a:rPr sz="1200" b="1">
                <a:solidFill>
                  <a:srgbClr val="E8642F"/>
                </a:solidFill>
                <a:latin typeface="Calibri"/>
              </a:rPr>
              <a:t>•  </a:t>
            </a:r>
            <a:r>
              <a:rPr sz="1200" b="0">
                <a:solidFill>
                  <a:srgbClr val="1D2125"/>
                </a:solidFill>
                <a:latin typeface="Calibri"/>
              </a:rPr>
              <a:t>Walbridge is ringed by dozer line; across the complex 239 mi of road served as containment line.</a:t>
            </a:r>
          </a:p>
          <a:p>
            <a:pPr>
              <a:spcAft>
                <a:spcPts val="600"/>
              </a:spcAft>
            </a:pPr>
            <a:r>
              <a:rPr sz="1000" b="0">
                <a:solidFill>
                  <a:srgbClr val="6B7480"/>
                </a:solidFill>
                <a:latin typeface="Calibri"/>
              </a:rPr>
              <a:t>Canopy cover from LANDFIRE LF2016. Lines and points from the NIFC Operational Data Archive, as on the incident map on 10 Sep 2020.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WHAT THE PICTURE PAINTS</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Fuels set where fire could go; the record shows where people worked</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12</a:t>
            </a:r>
          </a:p>
        </p:txBody>
      </p:sp>
      <p:sp>
        <p:nvSpPr>
          <p:cNvPr id="6" name="Rounded Rectangle 5"/>
          <p:cNvSpPr/>
          <p:nvPr/>
        </p:nvSpPr>
        <p:spPr>
          <a:xfrm>
            <a:off x="502920" y="1325880"/>
            <a:ext cx="548640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39"/>
            <a:ext cx="5120640" cy="365760"/>
          </a:xfrm>
          <a:prstGeom prst="rect">
            <a:avLst/>
          </a:prstGeom>
          <a:noFill/>
        </p:spPr>
        <p:txBody>
          <a:bodyPr wrap="square" anchor="t" lIns="0" rIns="0" tIns="0" bIns="0">
            <a:spAutoFit/>
          </a:bodyPr>
          <a:lstStyle/>
          <a:p>
            <a:pPr>
              <a:spcAft>
                <a:spcPts val="600"/>
              </a:spcAft>
            </a:pPr>
            <a:r>
              <a:rPr sz="1600" b="1">
                <a:solidFill>
                  <a:srgbClr val="1D2125"/>
                </a:solidFill>
                <a:latin typeface="Arial"/>
              </a:rPr>
              <a:t>Two kinds of landscape</a:t>
            </a:r>
          </a:p>
        </p:txBody>
      </p:sp>
      <p:sp>
        <p:nvSpPr>
          <p:cNvPr id="8" name="TextBox 7"/>
          <p:cNvSpPr txBox="1"/>
          <p:nvPr/>
        </p:nvSpPr>
        <p:spPr>
          <a:xfrm>
            <a:off x="685800" y="1920240"/>
            <a:ext cx="512064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Timber with a shrub understory (Carr, Camp east, Walbridge) and grass, grass-shrub and chaparral (Camp west, Hennessey). The California fires sit on low canopy over heavy litter.</a:t>
            </a:r>
          </a:p>
        </p:txBody>
      </p:sp>
      <p:sp>
        <p:nvSpPr>
          <p:cNvPr id="9" name="Rounded Rectangle 8"/>
          <p:cNvSpPr/>
          <p:nvPr/>
        </p:nvSpPr>
        <p:spPr>
          <a:xfrm>
            <a:off x="6126480" y="1325880"/>
            <a:ext cx="548640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463039"/>
            <a:ext cx="5120640" cy="365760"/>
          </a:xfrm>
          <a:prstGeom prst="rect">
            <a:avLst/>
          </a:prstGeom>
          <a:noFill/>
        </p:spPr>
        <p:txBody>
          <a:bodyPr wrap="square" anchor="t" lIns="0" rIns="0" tIns="0" bIns="0">
            <a:spAutoFit/>
          </a:bodyPr>
          <a:lstStyle/>
          <a:p>
            <a:pPr>
              <a:spcAft>
                <a:spcPts val="600"/>
              </a:spcAft>
            </a:pPr>
            <a:r>
              <a:rPr sz="1600" b="1">
                <a:solidFill>
                  <a:srgbClr val="1D2125"/>
                </a:solidFill>
                <a:latin typeface="Arial"/>
              </a:rPr>
              <a:t>Containment followed access</a:t>
            </a:r>
          </a:p>
        </p:txBody>
      </p:sp>
      <p:sp>
        <p:nvSpPr>
          <p:cNvPr id="11" name="TextBox 10"/>
          <p:cNvSpPr txBox="1"/>
          <p:nvPr/>
        </p:nvSpPr>
        <p:spPr>
          <a:xfrm>
            <a:off x="6309360" y="1920240"/>
            <a:ext cx="512064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Completed line hugs roads, ridges and the forest edge: about 306 mi of dozer line at Carr, 145 mi at Camp, 298 mi plus 239 mi of road at LNU.</a:t>
            </a:r>
          </a:p>
        </p:txBody>
      </p:sp>
      <p:sp>
        <p:nvSpPr>
          <p:cNvPr id="12" name="Rounded Rectangle 11"/>
          <p:cNvSpPr/>
          <p:nvPr/>
        </p:nvSpPr>
        <p:spPr>
          <a:xfrm>
            <a:off x="502920" y="3840480"/>
            <a:ext cx="548640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977640"/>
            <a:ext cx="5120640" cy="365760"/>
          </a:xfrm>
          <a:prstGeom prst="rect">
            <a:avLst/>
          </a:prstGeom>
          <a:noFill/>
        </p:spPr>
        <p:txBody>
          <a:bodyPr wrap="square" anchor="t" lIns="0" rIns="0" tIns="0" bIns="0">
            <a:spAutoFit/>
          </a:bodyPr>
          <a:lstStyle/>
          <a:p>
            <a:pPr>
              <a:spcAft>
                <a:spcPts val="600"/>
              </a:spcAft>
            </a:pPr>
            <a:r>
              <a:rPr sz="1600" b="1">
                <a:solidFill>
                  <a:srgbClr val="1D2125"/>
                </a:solidFill>
                <a:latin typeface="Arial"/>
              </a:rPr>
              <a:t>The data have different clocks</a:t>
            </a:r>
          </a:p>
        </p:txBody>
      </p:sp>
      <p:sp>
        <p:nvSpPr>
          <p:cNvPr id="14" name="TextBox 13"/>
          <p:cNvSpPr txBox="1"/>
          <p:nvPr/>
        </p:nvSpPr>
        <p:spPr>
          <a:xfrm>
            <a:off x="685800" y="4434840"/>
            <a:ext cx="512064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LANDFIRE is circa 2016, perimeters are hours to a day apart, fireline is when it was mapped. Every comparison has to name its time.</a:t>
            </a:r>
          </a:p>
        </p:txBody>
      </p:sp>
      <p:sp>
        <p:nvSpPr>
          <p:cNvPr id="15" name="Rounded Rectangle 14"/>
          <p:cNvSpPr/>
          <p:nvPr/>
        </p:nvSpPr>
        <p:spPr>
          <a:xfrm>
            <a:off x="6126480" y="3840480"/>
            <a:ext cx="548640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3977640"/>
            <a:ext cx="5120640" cy="365760"/>
          </a:xfrm>
          <a:prstGeom prst="rect">
            <a:avLst/>
          </a:prstGeom>
          <a:noFill/>
        </p:spPr>
        <p:txBody>
          <a:bodyPr wrap="square" anchor="t" lIns="0" rIns="0" tIns="0" bIns="0">
            <a:spAutoFit/>
          </a:bodyPr>
          <a:lstStyle/>
          <a:p>
            <a:pPr>
              <a:spcAft>
                <a:spcPts val="600"/>
              </a:spcAft>
            </a:pPr>
            <a:r>
              <a:rPr sz="1600" b="1">
                <a:solidFill>
                  <a:srgbClr val="1D2125"/>
                </a:solidFill>
                <a:latin typeface="Arial"/>
              </a:rPr>
              <a:t>Where drones fit</a:t>
            </a:r>
          </a:p>
        </p:txBody>
      </p:sp>
      <p:sp>
        <p:nvSpPr>
          <p:cNvPr id="17" name="TextBox 16"/>
          <p:cNvSpPr txBox="1"/>
          <p:nvPr/>
        </p:nvSpPr>
        <p:spPr>
          <a:xfrm>
            <a:off x="6309360" y="4434840"/>
            <a:ext cx="512064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Fuel maps say which flanks run fast (grass, shrub); canopy and slope say where ground crews and line are slow; safety zones and landing areas are already mapped and can be checked from the air.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DATA QUALITY</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What these pictures cannot tell us yet</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13</a:t>
            </a:r>
          </a:p>
        </p:txBody>
      </p:sp>
      <p:sp>
        <p:nvSpPr>
          <p:cNvPr id="6" name="Rounded Rectangle 5"/>
          <p:cNvSpPr/>
          <p:nvPr/>
        </p:nvSpPr>
        <p:spPr>
          <a:xfrm>
            <a:off x="502920" y="1325880"/>
            <a:ext cx="361188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39"/>
            <a:ext cx="3246120" cy="365760"/>
          </a:xfrm>
          <a:prstGeom prst="rect">
            <a:avLst/>
          </a:prstGeom>
          <a:noFill/>
        </p:spPr>
        <p:txBody>
          <a:bodyPr wrap="square" anchor="t" lIns="0" rIns="0" tIns="0" bIns="0">
            <a:spAutoFit/>
          </a:bodyPr>
          <a:lstStyle/>
          <a:p>
            <a:pPr>
              <a:spcAft>
                <a:spcPts val="600"/>
              </a:spcAft>
            </a:pPr>
            <a:r>
              <a:rPr sz="1500" b="1">
                <a:solidFill>
                  <a:srgbClr val="E8642F"/>
                </a:solidFill>
                <a:latin typeface="Arial"/>
              </a:rPr>
              <a:t>Pioneer is post-fire</a:t>
            </a:r>
          </a:p>
        </p:txBody>
      </p:sp>
      <p:sp>
        <p:nvSpPr>
          <p:cNvPr id="8" name="TextBox 7"/>
          <p:cNvSpPr txBox="1"/>
          <p:nvPr/>
        </p:nvSpPr>
        <p:spPr>
          <a:xfrm>
            <a:off x="685800" y="1920240"/>
            <a:ext cx="324612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LF 2016 marks 99% of the area fire-disturbed. Need LF 2014.</a:t>
            </a:r>
          </a:p>
        </p:txBody>
      </p:sp>
      <p:sp>
        <p:nvSpPr>
          <p:cNvPr id="9" name="Rounded Rectangle 8"/>
          <p:cNvSpPr/>
          <p:nvPr/>
        </p:nvSpPr>
        <p:spPr>
          <a:xfrm>
            <a:off x="4251959" y="1325880"/>
            <a:ext cx="361188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463039"/>
            <a:ext cx="3246120" cy="365760"/>
          </a:xfrm>
          <a:prstGeom prst="rect">
            <a:avLst/>
          </a:prstGeom>
          <a:noFill/>
        </p:spPr>
        <p:txBody>
          <a:bodyPr wrap="square" anchor="t" lIns="0" rIns="0" tIns="0" bIns="0">
            <a:spAutoFit/>
          </a:bodyPr>
          <a:lstStyle/>
          <a:p>
            <a:pPr>
              <a:spcAft>
                <a:spcPts val="600"/>
              </a:spcAft>
            </a:pPr>
            <a:r>
              <a:rPr sz="1500" b="1">
                <a:solidFill>
                  <a:srgbClr val="E8642F"/>
                </a:solidFill>
                <a:latin typeface="Arial"/>
              </a:rPr>
              <a:t>Loads are assigned</a:t>
            </a:r>
          </a:p>
        </p:txBody>
      </p:sp>
      <p:sp>
        <p:nvSpPr>
          <p:cNvPr id="11" name="TextBox 10"/>
          <p:cNvSpPr txBox="1"/>
          <p:nvPr/>
        </p:nvSpPr>
        <p:spPr>
          <a:xfrm>
            <a:off x="4434840" y="1920240"/>
            <a:ext cx="324612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Scott and Burgan model loads, not field measurements; classification R2 below 0.30.</a:t>
            </a:r>
          </a:p>
        </p:txBody>
      </p:sp>
      <p:sp>
        <p:nvSpPr>
          <p:cNvPr id="12" name="Rounded Rectangle 11"/>
          <p:cNvSpPr/>
          <p:nvPr/>
        </p:nvSpPr>
        <p:spPr>
          <a:xfrm>
            <a:off x="8001000" y="1325880"/>
            <a:ext cx="361188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79" y="1463039"/>
            <a:ext cx="3246120" cy="365760"/>
          </a:xfrm>
          <a:prstGeom prst="rect">
            <a:avLst/>
          </a:prstGeom>
          <a:noFill/>
        </p:spPr>
        <p:txBody>
          <a:bodyPr wrap="square" anchor="t" lIns="0" rIns="0" tIns="0" bIns="0">
            <a:spAutoFit/>
          </a:bodyPr>
          <a:lstStyle/>
          <a:p>
            <a:pPr>
              <a:spcAft>
                <a:spcPts val="600"/>
              </a:spcAft>
            </a:pPr>
            <a:r>
              <a:rPr sz="1500" b="1">
                <a:solidFill>
                  <a:srgbClr val="E8642F"/>
                </a:solidFill>
                <a:latin typeface="Arial"/>
              </a:rPr>
              <a:t>FCCS 'Bare Ground'</a:t>
            </a:r>
          </a:p>
        </p:txBody>
      </p:sp>
      <p:sp>
        <p:nvSpPr>
          <p:cNvPr id="14" name="TextBox 13"/>
          <p:cNvSpPr txBox="1"/>
          <p:nvPr/>
        </p:nvSpPr>
        <p:spPr>
          <a:xfrm>
            <a:off x="8183879" y="1920240"/>
            <a:ext cx="324612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Most of those pixels carry grass fuel models (56% Camp, 62% LNU).</a:t>
            </a:r>
          </a:p>
        </p:txBody>
      </p:sp>
      <p:sp>
        <p:nvSpPr>
          <p:cNvPr id="15" name="Rounded Rectangle 14"/>
          <p:cNvSpPr/>
          <p:nvPr/>
        </p:nvSpPr>
        <p:spPr>
          <a:xfrm>
            <a:off x="502920" y="3840480"/>
            <a:ext cx="361188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977640"/>
            <a:ext cx="3246120" cy="365760"/>
          </a:xfrm>
          <a:prstGeom prst="rect">
            <a:avLst/>
          </a:prstGeom>
          <a:noFill/>
        </p:spPr>
        <p:txBody>
          <a:bodyPr wrap="square" anchor="t" lIns="0" rIns="0" tIns="0" bIns="0">
            <a:spAutoFit/>
          </a:bodyPr>
          <a:lstStyle/>
          <a:p>
            <a:pPr>
              <a:spcAft>
                <a:spcPts val="600"/>
              </a:spcAft>
            </a:pPr>
            <a:r>
              <a:rPr sz="1500" b="1">
                <a:solidFill>
                  <a:srgbClr val="E8642F"/>
                </a:solidFill>
                <a:latin typeface="Arial"/>
              </a:rPr>
              <a:t>Map-zone seam</a:t>
            </a:r>
          </a:p>
        </p:txBody>
      </p:sp>
      <p:sp>
        <p:nvSpPr>
          <p:cNvPr id="17" name="TextBox 16"/>
          <p:cNvSpPr txBox="1"/>
          <p:nvPr/>
        </p:nvSpPr>
        <p:spPr>
          <a:xfrm>
            <a:off x="685800" y="4434840"/>
            <a:ext cx="324612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Straight north-south fuel boundary across Camp is an artifact.</a:t>
            </a:r>
          </a:p>
        </p:txBody>
      </p:sp>
      <p:sp>
        <p:nvSpPr>
          <p:cNvPr id="18" name="Rounded Rectangle 17"/>
          <p:cNvSpPr/>
          <p:nvPr/>
        </p:nvSpPr>
        <p:spPr>
          <a:xfrm>
            <a:off x="4251959" y="3840480"/>
            <a:ext cx="361188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3977640"/>
            <a:ext cx="3246120" cy="365760"/>
          </a:xfrm>
          <a:prstGeom prst="rect">
            <a:avLst/>
          </a:prstGeom>
          <a:noFill/>
        </p:spPr>
        <p:txBody>
          <a:bodyPr wrap="square" anchor="t" lIns="0" rIns="0" tIns="0" bIns="0">
            <a:spAutoFit/>
          </a:bodyPr>
          <a:lstStyle/>
          <a:p>
            <a:pPr>
              <a:spcAft>
                <a:spcPts val="600"/>
              </a:spcAft>
            </a:pPr>
            <a:r>
              <a:rPr sz="1500" b="1">
                <a:solidFill>
                  <a:srgbClr val="E8642F"/>
                </a:solidFill>
                <a:latin typeface="Arial"/>
              </a:rPr>
              <a:t>Canopy base height cap</a:t>
            </a:r>
          </a:p>
        </p:txBody>
      </p:sp>
      <p:sp>
        <p:nvSpPr>
          <p:cNvPr id="20" name="TextBox 19"/>
          <p:cNvSpPr txBox="1"/>
          <p:nvPr/>
        </p:nvSpPr>
        <p:spPr>
          <a:xfrm>
            <a:off x="4434840" y="4434840"/>
            <a:ext cx="324612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p90 is 10 m on every fire: the upper tail is censored.</a:t>
            </a:r>
          </a:p>
        </p:txBody>
      </p:sp>
      <p:sp>
        <p:nvSpPr>
          <p:cNvPr id="21" name="Rounded Rectangle 20"/>
          <p:cNvSpPr/>
          <p:nvPr/>
        </p:nvSpPr>
        <p:spPr>
          <a:xfrm>
            <a:off x="8001000" y="3840480"/>
            <a:ext cx="3611880" cy="2331720"/>
          </a:xfrm>
          <a:prstGeom prst="roundRect">
            <a:avLst>
              <a:gd name="adj" fmla="val 5000"/>
            </a:avLst>
          </a:prstGeom>
          <a:solidFill>
            <a:srgbClr val="F1F2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3977640"/>
            <a:ext cx="3246120" cy="365760"/>
          </a:xfrm>
          <a:prstGeom prst="rect">
            <a:avLst/>
          </a:prstGeom>
          <a:noFill/>
        </p:spPr>
        <p:txBody>
          <a:bodyPr wrap="square" anchor="t" lIns="0" rIns="0" tIns="0" bIns="0">
            <a:spAutoFit/>
          </a:bodyPr>
          <a:lstStyle/>
          <a:p>
            <a:pPr>
              <a:spcAft>
                <a:spcPts val="600"/>
              </a:spcAft>
            </a:pPr>
            <a:r>
              <a:rPr sz="1500" b="1">
                <a:solidFill>
                  <a:srgbClr val="E8642F"/>
                </a:solidFill>
                <a:latin typeface="Arial"/>
              </a:rPr>
              <a:t>Fireline re-posts</a:t>
            </a:r>
          </a:p>
        </p:txBody>
      </p:sp>
      <p:sp>
        <p:nvSpPr>
          <p:cNvPr id="23" name="TextBox 22"/>
          <p:cNvSpPr txBox="1"/>
          <p:nvPr/>
        </p:nvSpPr>
        <p:spPr>
          <a:xfrm>
            <a:off x="8183879" y="4434840"/>
            <a:ext cx="3246120" cy="1645920"/>
          </a:xfrm>
          <a:prstGeom prst="rect">
            <a:avLst/>
          </a:prstGeom>
          <a:noFill/>
        </p:spPr>
        <p:txBody>
          <a:bodyPr wrap="square" anchor="t" lIns="0" rIns="0" tIns="0" bIns="0">
            <a:spAutoFit/>
          </a:bodyPr>
          <a:lstStyle/>
          <a:p>
            <a:pPr>
              <a:spcAft>
                <a:spcPts val="600"/>
              </a:spcAft>
            </a:pPr>
            <a:r>
              <a:rPr sz="1300" b="0">
                <a:solidFill>
                  <a:srgbClr val="3A424B"/>
                </a:solidFill>
                <a:latin typeface="Calibri"/>
              </a:rPr>
              <a:t>Daily re-posts inflate totals; we use one-day snapshots. No archive before 2018.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92608"/>
            <a:ext cx="9144000" cy="274320"/>
          </a:xfrm>
          <a:prstGeom prst="rect">
            <a:avLst/>
          </a:prstGeom>
          <a:noFill/>
        </p:spPr>
        <p:txBody>
          <a:bodyPr wrap="square" anchor="t" lIns="0" rIns="0" tIns="0" bIns="0">
            <a:spAutoFit/>
          </a:bodyPr>
          <a:lstStyle/>
          <a:p>
            <a:pPr>
              <a:spcAft>
                <a:spcPts val="600"/>
              </a:spcAft>
            </a:pPr>
            <a:r>
              <a:rPr sz="1200" b="1">
                <a:solidFill>
                  <a:srgbClr val="E8642F"/>
                </a:solidFill>
                <a:latin typeface="Arial"/>
              </a:rPr>
              <a:t>NEXT STEPS</a:t>
            </a:r>
          </a:p>
        </p:txBody>
      </p:sp>
      <p:sp>
        <p:nvSpPr>
          <p:cNvPr id="3" name="TextBox 2"/>
          <p:cNvSpPr txBox="1"/>
          <p:nvPr/>
        </p:nvSpPr>
        <p:spPr>
          <a:xfrm>
            <a:off x="502920" y="548640"/>
            <a:ext cx="11155680" cy="640080"/>
          </a:xfrm>
          <a:prstGeom prst="rect">
            <a:avLst/>
          </a:prstGeom>
          <a:noFill/>
        </p:spPr>
        <p:txBody>
          <a:bodyPr wrap="square" anchor="t" lIns="0" rIns="0" tIns="0" bIns="0">
            <a:spAutoFit/>
          </a:bodyPr>
          <a:lstStyle/>
          <a:p>
            <a:pPr>
              <a:spcAft>
                <a:spcPts val="600"/>
              </a:spcAft>
            </a:pPr>
            <a:r>
              <a:rPr sz="2600" b="1">
                <a:solidFill>
                  <a:srgbClr val="1D2125"/>
                </a:solidFill>
                <a:latin typeface="Arial"/>
              </a:rPr>
              <a:t>Turning the pictures into measurements</a:t>
            </a:r>
          </a:p>
        </p:txBody>
      </p:sp>
      <p:sp>
        <p:nvSpPr>
          <p:cNvPr id="4" name="TextBox 3"/>
          <p:cNvSpPr txBox="1"/>
          <p:nvPr/>
        </p:nvSpPr>
        <p:spPr>
          <a:xfrm>
            <a:off x="502920" y="6473952"/>
            <a:ext cx="91440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NASA Aerial Wildfire Project  |  ACERO Disaster Lab  |  Perimeters and LANDFIRE  |  22 October 2026</a:t>
            </a:r>
          </a:p>
        </p:txBody>
      </p:sp>
      <p:sp>
        <p:nvSpPr>
          <p:cNvPr id="5" name="TextBox 4"/>
          <p:cNvSpPr txBox="1"/>
          <p:nvPr/>
        </p:nvSpPr>
        <p:spPr>
          <a:xfrm>
            <a:off x="11247120" y="6473952"/>
            <a:ext cx="457200" cy="228600"/>
          </a:xfrm>
          <a:prstGeom prst="rect">
            <a:avLst/>
          </a:prstGeom>
          <a:noFill/>
        </p:spPr>
        <p:txBody>
          <a:bodyPr wrap="square" anchor="t" lIns="0" rIns="0" tIns="0" bIns="0">
            <a:spAutoFit/>
          </a:bodyPr>
          <a:lstStyle/>
          <a:p>
            <a:pPr>
              <a:spcAft>
                <a:spcPts val="600"/>
              </a:spcAft>
            </a:pPr>
            <a:r>
              <a:rPr sz="900" b="0">
                <a:solidFill>
                  <a:srgbClr val="6B7480"/>
                </a:solidFill>
                <a:latin typeface="Calibri"/>
              </a:rPr>
              <a:t>14</a:t>
            </a:r>
          </a:p>
        </p:txBody>
      </p:sp>
      <p:sp>
        <p:nvSpPr>
          <p:cNvPr id="6" name="TextBox 5"/>
          <p:cNvSpPr txBox="1"/>
          <p:nvPr/>
        </p:nvSpPr>
        <p:spPr>
          <a:xfrm>
            <a:off x="502920" y="1371600"/>
            <a:ext cx="10972800" cy="4572000"/>
          </a:xfrm>
          <a:prstGeom prst="rect">
            <a:avLst/>
          </a:prstGeom>
          <a:noFill/>
        </p:spPr>
        <p:txBody>
          <a:bodyPr wrap="square" anchor="t" lIns="0" rIns="0" tIns="0" bIns="0">
            <a:spAutoFit/>
          </a:bodyPr>
          <a:lstStyle/>
          <a:p>
            <a:pPr>
              <a:spcAft>
                <a:spcPts val="600"/>
              </a:spcAft>
            </a:pPr>
            <a:r>
              <a:rPr sz="1800" b="1">
                <a:solidFill>
                  <a:srgbClr val="E8642F"/>
                </a:solidFill>
                <a:latin typeface="Calibri"/>
              </a:rPr>
              <a:t>1.  </a:t>
            </a:r>
            <a:r>
              <a:rPr sz="1800" b="0">
                <a:solidFill>
                  <a:srgbClr val="1D2125"/>
                </a:solidFill>
                <a:latin typeface="Calibri"/>
              </a:rPr>
              <a:t>Download LANDFIRE 2014 for Pioneer (LANDFIRE viewer) and redo its fuels as pre-fire.</a:t>
            </a:r>
          </a:p>
          <a:p>
            <a:pPr>
              <a:spcAft>
                <a:spcPts val="600"/>
              </a:spcAft>
            </a:pPr>
            <a:r>
              <a:rPr sz="1800" b="1">
                <a:solidFill>
                  <a:srgbClr val="E8642F"/>
                </a:solidFill>
                <a:latin typeface="Calibri"/>
              </a:rPr>
              <a:t>2.  </a:t>
            </a:r>
            <a:r>
              <a:rPr sz="1800" b="0">
                <a:solidFill>
                  <a:srgbClr val="1D2125"/>
                </a:solidFill>
                <a:latin typeface="Calibri"/>
              </a:rPr>
              <a:t>Measure miles of fireline built in each fuel group and slope class, per day.</a:t>
            </a:r>
          </a:p>
          <a:p>
            <a:pPr>
              <a:spcAft>
                <a:spcPts val="600"/>
              </a:spcAft>
            </a:pPr>
            <a:r>
              <a:rPr sz="1800" b="1">
                <a:solidFill>
                  <a:srgbClr val="E8642F"/>
                </a:solidFill>
                <a:latin typeface="Calibri"/>
              </a:rPr>
              <a:t>3.  </a:t>
            </a:r>
            <a:r>
              <a:rPr sz="1800" b="0">
                <a:solidFill>
                  <a:srgbClr val="1D2125"/>
                </a:solidFill>
                <a:latin typeface="Calibri"/>
              </a:rPr>
              <a:t>Compare LF 2016 with LF 2019 Limited at LNU to capture the 2017 and 2018 fires inside its footprint.</a:t>
            </a:r>
          </a:p>
          <a:p>
            <a:pPr>
              <a:spcAft>
                <a:spcPts val="600"/>
              </a:spcAft>
            </a:pPr>
            <a:r>
              <a:rPr sz="1800" b="1">
                <a:solidFill>
                  <a:srgbClr val="E8642F"/>
                </a:solidFill>
                <a:latin typeface="Calibri"/>
              </a:rPr>
              <a:t>4.  </a:t>
            </a:r>
            <a:r>
              <a:rPr sz="1800" b="0">
                <a:solidFill>
                  <a:srgbClr val="1D2125"/>
                </a:solidFill>
                <a:latin typeface="Calibri"/>
              </a:rPr>
              <a:t>Run fire behavior per fuel model with the peak-day fuel moisture already in the project (RAWS, gridMET).</a:t>
            </a:r>
          </a:p>
          <a:p>
            <a:pPr>
              <a:spcAft>
                <a:spcPts val="600"/>
              </a:spcAft>
            </a:pPr>
            <a:r>
              <a:rPr sz="1800" b="1">
                <a:solidFill>
                  <a:srgbClr val="E8642F"/>
                </a:solidFill>
                <a:latin typeface="Calibri"/>
              </a:rPr>
              <a:t>5.  </a:t>
            </a:r>
            <a:r>
              <a:rPr sz="1800" b="0">
                <a:solidFill>
                  <a:srgbClr val="1D2125"/>
                </a:solidFill>
                <a:latin typeface="Calibri"/>
              </a:rPr>
              <a:t>Request Pioneer incident GIS (fireline, IAP maps) through the FOIA.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