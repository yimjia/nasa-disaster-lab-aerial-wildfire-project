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This deck has two slides per mission document, M1 to M5, version 1.1. Every number comes from data in the project folder: station weather (Weather Data), the perimeter time-area records (perimeter_supplements, GOFER rows removed), the Week 6 workbook and the v0.5 proposal. Each mission is evaluated on the same standard day: 24 hours, 06:00 to 06:00 local, on that fire's peak-run day (Camp 8 to 9 Nov 2018, Carr 26 to 27 Jul 2018, Pioneer 29 to 30 Aug 2016, LNU 18 to 19 Aug 2020).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M1 fireline mapping, bottom line. The quantity is information age: how old the newest fireline map is when someone uses it. First card: on Carr the newest aircraft perimeter reached 18 hours old during the run, while station wind would have let every listed drone fly every hour. Second card: on Camp an Alta X read against gusts could fly in only 4% of hours, so its map would be most of a day old. Third card: a Type 1 fixed wing rated to 30 mph flies 46% of Camp hours and keeps the expected map age near 1.7 hours. The formula is on the next slide's notes. p, the wind gate, is the share of hours in the standard day when the station wind is at or under the drone's wind limit. Read on sustained wind (10-minute mean) it is the optimistic value; read on gusts (peak in the hour) it is the conservative value. Both are measured 20 ft above ground, so wind at flight altitude is stronger and both overstate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M1 calculation. Expected map age E[A] = R (2 - p) / (2p). R is the revisit interval: the time between scheduled mapping passes, 1 hour here. p is the chance a scheduled pass actually flies, the wind gate. E[A] is the expected age of the newest good map at a random moment. Why the formula: when each pass succeeds with probability p, the time between good maps is R times a geometric number of tries; averaging the age over that gap gives R (2 - p) / (2p). Check: if p = 1 every pass flies and E[A] = R/2, half the revisit interval. Camp: p = 1 on sustained wind gives 0.9 h; p = 4% on gusts gives 23.3 h, longer than the day itself, which means no useful map. Map error E(t) = G x A(t): G is the fire's growth rate in acres per hour (Camp: more than 55,000 acres in the first 12 hours, about 4,600 ac/h, from the CAL FIRE Green Sheet in the Camp record), and A(t) is the map age, so E is the area burned since the map was made. How to read the hour strip: one column per hour of the standard day (06:00 to 06:00 local on the peak-run day). Gust mph is the peak wind in that hour at the station named on the document (red when above 30 mph). Alta X 22 and Type 1 at 30 are fly or no-fly: green when that hour's gust is at or under the drone's wind limit, red when above. Map age h is hours since the newest aircraft perimeter in the record. The coloured bars are the drone task we propose for each phase.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M2 spot fire detection, bottom line. The quantity is the expected time from a spot fire starting to a drone seeing it. First card: an Alta X searching every 30 minutes on Camp's standard day takes 32 minutes if its wind limit is read on sustained wind and 779 minutes on gusts, because it is grounded most hours. Second card: 85 minutes is the time from the first 911 call (06:25) to the first burnovers (07:50) at Camp, the clock any detection competes with; it is a comparison, not a deadline. Third card: a Type 1 rated to 30 mph doing the same search, read on gusts, takes 58 minutes. p, the wind gate, is the share of hours in the standard day when the station wind is at or under the drone's wind limit. Read on sustained wind (10-minute mean) it is the optimistic value; read on gusts (peak in the hour) it is the conservative value. Both are measured 20 ft above ground, so wind at flight altitude is stronger and both overstate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M2 calculation. Expected detection time E[T] = R/2 + R (1 - q) / q, with q = p x Pd. R is the search revisit interval, 30 minutes (assumed). p is the wind gate, the chance the pass flies. Pd is the chance the sensor sees the spot on a pass that flies; no drone has an operational record, so it runs at 50%, 80% and 95%, with 90% on the headline numbers. q is the chance a single pass both flies and detects. R/2 is the average wait for the first pass; R (1 - q) / q is the average extra wait for the failed passes before the first success. Smallest detectable spot: A_min = (k x GSD) squared, where GSD = 2 h tan(HFOV / 2) / N is the ground size of one pixel. h is height above ground, HFOV is the camera's horizontal field of view (40 degrees assumed), N is pixels across (640 for the Mavic 2 EA thermal), and k is how many pixels across a spot must cover to be confirmed (3 assumed). At 60 m that is a pixel of about 7 cm; at 3,500 ft, the Type 1 floor, about 1.2 m. How to read the hour strip: one column per hour of the standard day (06:00 to 06:00 local on the peak-run day). Gust mph is the peak wind in that hour at the station named on the document (red when above 30 mph). Alta X 22 and Type 1 at 30 are fly or no-fly: green when that hour's gust is at or under the drone's wind limit, red when above. Map age h is hours since the newest aircraft perimeter in the record. The coloured bars are the drone task we propose for each phase.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M3 firefighter safety, bottom line. The quantity is P(M &lt; 0), the probability the fire reaches a crew before the crew has finished escaping. First card: Camp's first burnovers, 45-minute escape, Alta X overwatch with its limit read on sustained wind: 10%. Second card: the same case read on gusts: 91%, because the drone cannot fly most of that day. Third card: Carr on 26 July, where every listed drone could fly: 21%; the remaining risk comes from a missed detection pass, warning relay retries and the escape itself. p, the wind gate, is the share of hours in the standard day when the station wind is at or under the drone's wind limit. Read on sustained wind (10-minute mean) it is the optimistic value; read on gusts (peak in the hour) it is the conservative value. Both are measured 20 ft above ground, so wind at flight altitude is stronger and both overstate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M3 calculation. Safety margin M = T_fire - (T_detect + T_notify + T_egress). The crew is safe when M is positive. T_fire is the time from the hazard becoming visible to fire reaching the crew: 85 minutes at Camp (first 911 call 06:25 to first burnovers 07:50) and 62 minutes at Carr (aerial warning 18:38 to mayday 19:40). T_detect is the time for the drone to see the hazard: passes every 15 minutes (assumed), each flies with probability p (wind gate) and detects with Pd = 0.9 (assumed). T_notify is the time to get the warning to the crew: a retry every 2 minutes (assumed), each delivered with s = 52%, the TCL 1 telemetry sharing rate with four ground nodes (Wu et al. 2025), used as a stand-in for alert delivery. T_egress is the time the crew needs to reach a safety zone; crew positions are not in the records, so it is shown at 30, 45 and 60 minutes. P(M &lt; 0) is estimated by Monte Carlo: 20,000 random draws of T_detect and T_notify per case, counting how often M comes out negative. How to read the hour strip: one column per hour of the standard day (06:00 to 06:00 local on the peak-run day). Gust mph is the peak wind in that hour at the station named on the document (red when above 30 mph). Alta X 22 and Type 1 at 30 are fly or no-fly: green when that hour's gust is at or under the drone's wind limit, red when above. Map age h is hours since the newest aircraft perimeter in the record. The coloured bars are the drone task we propose for each phase.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M4 water drop, bottom line. No drone in the project library has dropped water, so M4 quantifies what the wind would have allowed. First card: drift of 32 to 53 m for a load released from 30 m in Camp's standard-day wind, from the sustained to the gust value, before any aiming correction. Second card: on LNU's overnight run, a 30 kt (34.5 mph) aircraft, the autonomous Firehawk class, could fly 100% of night hours by Atlas Peak gusts. Third card: throughput from the Week 6 workbook, about 35 litres per hour for a small drone against 10,345 for a large airtanker. p, the wind gate, is the share of hours in the standard day when the station wind is at or under the drone's wind limit. Read on sustained wind (10-minute mean) it is the optimistic value; read on gusts (peak in the hour) it is the conservative value. Both are measured 20 ft above ground, so wind at flight altitude is stronger and both overstate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M4 calculation. Water on target per hour V_eff = n x S x V x P(hit) x p. n is the number of aircraft. S is sorties per hour = 60 / (2 x transit + drop + turnaround), with each term in minutes. V is the load per sortie. p is the wind gate. P(hit) is the chance the drop lands on target: P(hit) = Phi((w - d_res) / sigma) - Phi((-w - d_res) / sigma), where Phi is the standard normal cumulative distribution, w is half the target width, sigma is the aiming error, and d_res is the drift left after the pilot aims for the wind. Drift d = u x sqrt(2h / g): u is wind speed in m/s, h is release height (30 m assumed), g is 9.81 m/s2; sqrt(2h/g) is the fall time, 2.47 s from 30 m. The gust spread, gust drift minus sustained drift, is the part an aim made on sustained wind cannot remove. This is a no-drag, instant-wind estimate; drag and stronger wind aloft pull in opposite directions. How to read the hour strip: one column per hour of the standard day (06:00 to 06:00 local on the peak-run day). Gust mph is the peak wind in that hour at the station named on the document (red when above 30 mph). Alta X 22 and Type 1 at 30 are fly or no-fly: green when that hour's gust is at or under the drone's wind limit, red when above. Map age h is hours since the newest aircraft perimeter in the record. The coloured bars are the drone task we propose for each phase.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M5 logistics, bottom line. The quantity is P(on time): the chance a requested delivery of water or supplies reaches a crew within its time window. First card: loaded radius of an Alta X carrying 10 kg, 7.1 km in still air and 0.9 km into Camp's peak 29 mph sustained headwind; zero in its gusts, which exceed the assumed cruise speed. Second card: Camp standard day, a 3 km delivery inside 30 minutes is on time in 4% to 71% of hours (gust to sustained reading). Third card: Pioneer's lighter wind gives 96% to 100%. p, the wind gate, is the share of hours in the standard day when the station wind is at or under the drone's wind limit. Read on sustained wind (10-minute mean) it is the optimistic value; read on gusts (peak in the hour) it is the conservative value. Both are measured 20 ft above ground, so wind at flight altitude is stronger and both overstate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M5 calculation. P(on time) = p x P(complete | fly) x P(cycle &lt;= window). p is the wind gate. P(complete | fly) is the chance a delivery that launches succeeds; set to 1 until a success rate is measured. P(cycle &lt;= window) is the chance the round trip fits inside the delivery window (30 minutes assumed). Loaded radius r = t_usable / (1/(V - w) + 1/(V + w)): t_usable is loaded endurance minus reserve (22 minutes at 22 lb from Week 5, minus 5 minutes reserve), V is cruise airspeed (50 km/h assumed), w is the headwind; flying out against the wind and back with it is what the two terms add up. Cycle = round trip + hold (2 min) + turnaround (10 min), the Week 6 M5 Q4 formula, for a crew 3 km away (assumed). On the slide, P(on time) is the share of standard-day hours that meet both the wind limit and the window. How to read the hour strip: one column per hour of the standard day (06:00 to 06:00 local on the peak-run day). Gust mph is the peak wind in that hour at the station named on the document (red when above 30 mph). Alta X 22 and Type 1 at 30 are fly or no-fly: green when that hour's gust is at or under the drone's wind limit, red when above. Map age h is hours since the newest aircraft perimeter in the record. The coloured bars are the drone task we propose for each phase.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2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607040" cy="1737360"/>
          </a:xfrm>
          <a:prstGeom prst="rect">
            <a:avLst/>
          </a:prstGeom>
          <a:noFill/>
        </p:spPr>
        <p:txBody>
          <a:bodyPr wrap="square" anchor="b" lIns="0" rIns="0" tIns="0" bIns="0">
            <a:spAutoFit/>
          </a:bodyPr>
          <a:lstStyle/>
          <a:p>
            <a:pPr algn="l">
              <a:spcAft>
                <a:spcPts val="400"/>
              </a:spcAft>
            </a:pPr>
            <a:r>
              <a:rPr sz="4000" b="1">
                <a:solidFill>
                  <a:srgbClr val="FFFFFF"/>
                </a:solidFill>
                <a:latin typeface="Arial"/>
              </a:rPr>
              <a:t>Five Missions, Quantified</a:t>
            </a:r>
          </a:p>
        </p:txBody>
      </p:sp>
      <p:sp>
        <p:nvSpPr>
          <p:cNvPr id="4" name="TextBox 3"/>
          <p:cNvSpPr txBox="1"/>
          <p:nvPr/>
        </p:nvSpPr>
        <p:spPr>
          <a:xfrm>
            <a:off x="548640" y="3749039"/>
            <a:ext cx="10241280" cy="914400"/>
          </a:xfrm>
          <a:prstGeom prst="rect">
            <a:avLst/>
          </a:prstGeom>
          <a:noFill/>
        </p:spPr>
        <p:txBody>
          <a:bodyPr wrap="square" anchor="t" lIns="0" rIns="0" tIns="0" bIns="0">
            <a:spAutoFit/>
          </a:bodyPr>
          <a:lstStyle/>
          <a:p>
            <a:pPr algn="l">
              <a:spcAft>
                <a:spcPts val="400"/>
              </a:spcAft>
            </a:pPr>
            <a:r>
              <a:rPr sz="2000" b="0">
                <a:solidFill>
                  <a:srgbClr val="F1F2F4"/>
                </a:solidFill>
                <a:latin typeface="Calibri"/>
              </a:rPr>
              <a:t>Mission UQ v1.1: how each mission's uncertainty is calculated, which drones fit, the weather on the fires, and where drones fit hour by hour</a:t>
            </a:r>
          </a:p>
        </p:txBody>
      </p:sp>
      <p:sp>
        <p:nvSpPr>
          <p:cNvPr id="5" name="TextBox 4"/>
          <p:cNvSpPr txBox="1"/>
          <p:nvPr/>
        </p:nvSpPr>
        <p:spPr>
          <a:xfrm>
            <a:off x="548640" y="6035040"/>
            <a:ext cx="10058400" cy="365760"/>
          </a:xfrm>
          <a:prstGeom prst="rect">
            <a:avLst/>
          </a:prstGeom>
          <a:noFill/>
        </p:spPr>
        <p:txBody>
          <a:bodyPr wrap="square" anchor="t" lIns="0" rIns="0" tIns="0" bIns="0">
            <a:spAutoFit/>
          </a:bodyPr>
          <a:lstStyle/>
          <a:p>
            <a:pPr algn="l">
              <a:spcAft>
                <a:spcPts val="400"/>
              </a:spcAft>
            </a:pPr>
            <a:r>
              <a:rPr sz="1300" b="0">
                <a:solidFill>
                  <a:srgbClr val="6B7480"/>
                </a:solidFill>
                <a:latin typeface="Calibri"/>
              </a:rPr>
              <a:t>NASA Aerial Wildfire Project  |  ACERO Disaster Lab working group  |  20 October 2026  |  Standard day: 24 h, 06:00 to 06:00, peak-run day  |  GOFER not used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229600" cy="274320"/>
          </a:xfrm>
          <a:prstGeom prst="rect">
            <a:avLst/>
          </a:prstGeom>
          <a:noFill/>
        </p:spPr>
        <p:txBody>
          <a:bodyPr wrap="square" anchor="t" lIns="0" rIns="0" tIns="0" bIns="0">
            <a:spAutoFit/>
          </a:bodyPr>
          <a:lstStyle/>
          <a:p>
            <a:pPr algn="l">
              <a:spcAft>
                <a:spcPts val="400"/>
              </a:spcAft>
            </a:pPr>
            <a:r>
              <a:rPr sz="1200" b="1">
                <a:solidFill>
                  <a:srgbClr val="E8642F"/>
                </a:solidFill>
                <a:latin typeface="Arial"/>
              </a:rPr>
              <a:t>M1  |  FIRELINE MAPPING  |  BOTTOM LINE</a:t>
            </a:r>
          </a:p>
        </p:txBody>
      </p:sp>
      <p:sp>
        <p:nvSpPr>
          <p:cNvPr id="3" name="TextBox 2"/>
          <p:cNvSpPr txBox="1"/>
          <p:nvPr/>
        </p:nvSpPr>
        <p:spPr>
          <a:xfrm>
            <a:off x="548640" y="566928"/>
            <a:ext cx="11064240" cy="685800"/>
          </a:xfrm>
          <a:prstGeom prst="rect">
            <a:avLst/>
          </a:prstGeom>
          <a:noFill/>
        </p:spPr>
        <p:txBody>
          <a:bodyPr wrap="square" anchor="t" lIns="0" rIns="0" tIns="0" bIns="0">
            <a:spAutoFit/>
          </a:bodyPr>
          <a:lstStyle/>
          <a:p>
            <a:pPr algn="l">
              <a:spcAft>
                <a:spcPts val="400"/>
              </a:spcAft>
            </a:pPr>
            <a:r>
              <a:rPr sz="2800" b="1">
                <a:solidFill>
                  <a:srgbClr val="1D2125"/>
                </a:solidFill>
                <a:latin typeface="Arial"/>
              </a:rPr>
              <a:t>The map is the uncertainty: how old it is, and whether drones can keep it fresh</a:t>
            </a:r>
          </a:p>
        </p:txBody>
      </p:sp>
      <p:sp>
        <p:nvSpPr>
          <p:cNvPr id="4" name="TextBox 3"/>
          <p:cNvSpPr txBox="1"/>
          <p:nvPr/>
        </p:nvSpPr>
        <p:spPr>
          <a:xfrm>
            <a:off x="548640" y="6446520"/>
            <a:ext cx="9144000" cy="256032"/>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NASA Aerial Wildfire Project  |  ACERO Disaster Lab  |  Mission UQ v1.1  |  20 October 2026</a:t>
            </a:r>
          </a:p>
        </p:txBody>
      </p:sp>
      <p:sp>
        <p:nvSpPr>
          <p:cNvPr id="5" name="TextBox 4"/>
          <p:cNvSpPr txBox="1"/>
          <p:nvPr/>
        </p:nvSpPr>
        <p:spPr>
          <a:xfrm>
            <a:off x="11155680" y="6446520"/>
            <a:ext cx="502920" cy="256032"/>
          </a:xfrm>
          <a:prstGeom prst="rect">
            <a:avLst/>
          </a:prstGeom>
          <a:noFill/>
        </p:spPr>
        <p:txBody>
          <a:bodyPr wrap="square" anchor="t" lIns="0" rIns="0" tIns="0" bIns="0">
            <a:spAutoFit/>
          </a:bodyPr>
          <a:lstStyle/>
          <a:p>
            <a:pPr algn="r">
              <a:spcAft>
                <a:spcPts val="400"/>
              </a:spcAft>
            </a:pPr>
            <a:r>
              <a:rPr sz="1000" b="0">
                <a:solidFill>
                  <a:srgbClr val="6B7480"/>
                </a:solidFill>
                <a:latin typeface="Calibri"/>
              </a:rPr>
              <a:t>2</a:t>
            </a:r>
          </a:p>
        </p:txBody>
      </p:sp>
      <p:sp>
        <p:nvSpPr>
          <p:cNvPr id="6" name="Rounded Rectangle 5"/>
          <p:cNvSpPr/>
          <p:nvPr/>
        </p:nvSpPr>
        <p:spPr>
          <a:xfrm>
            <a:off x="548640"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3108960" cy="777240"/>
          </a:xfrm>
          <a:prstGeom prst="rect">
            <a:avLst/>
          </a:prstGeom>
          <a:noFill/>
        </p:spPr>
        <p:txBody>
          <a:bodyPr wrap="square" anchor="b" lIns="0" rIns="0" tIns="0" bIns="0">
            <a:spAutoFit/>
          </a:bodyPr>
          <a:lstStyle/>
          <a:p>
            <a:pPr algn="l">
              <a:spcAft>
                <a:spcPts val="400"/>
              </a:spcAft>
            </a:pPr>
            <a:r>
              <a:rPr sz="3400" b="1">
                <a:solidFill>
                  <a:srgbClr val="E8642F"/>
                </a:solidFill>
                <a:latin typeface="Arial"/>
              </a:rPr>
              <a:t>18 h</a:t>
            </a:r>
          </a:p>
        </p:txBody>
      </p:sp>
      <p:sp>
        <p:nvSpPr>
          <p:cNvPr id="8" name="TextBox 7"/>
          <p:cNvSpPr txBox="1"/>
          <p:nvPr/>
        </p:nvSpPr>
        <p:spPr>
          <a:xfrm>
            <a:off x="777240"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Oldest the newest aircraft perimeter got during Carr's 26 July run; every listed drone could fly all 24 hours</a:t>
            </a:r>
          </a:p>
        </p:txBody>
      </p:sp>
      <p:sp>
        <p:nvSpPr>
          <p:cNvPr id="9" name="Rounded Rectangle 8"/>
          <p:cNvSpPr/>
          <p:nvPr/>
        </p:nvSpPr>
        <p:spPr>
          <a:xfrm>
            <a:off x="4297679"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00200"/>
            <a:ext cx="3108960" cy="777240"/>
          </a:xfrm>
          <a:prstGeom prst="rect">
            <a:avLst/>
          </a:prstGeom>
          <a:noFill/>
        </p:spPr>
        <p:txBody>
          <a:bodyPr wrap="square" anchor="b" lIns="0" rIns="0" tIns="0" bIns="0">
            <a:spAutoFit/>
          </a:bodyPr>
          <a:lstStyle/>
          <a:p>
            <a:pPr algn="l">
              <a:spcAft>
                <a:spcPts val="400"/>
              </a:spcAft>
            </a:pPr>
            <a:r>
              <a:rPr sz="3400" b="1">
                <a:solidFill>
                  <a:srgbClr val="C8402A"/>
                </a:solidFill>
                <a:latin typeface="Arial"/>
              </a:rPr>
              <a:t>4% of hours</a:t>
            </a:r>
          </a:p>
        </p:txBody>
      </p:sp>
      <p:sp>
        <p:nvSpPr>
          <p:cNvPr id="11" name="TextBox 10"/>
          <p:cNvSpPr txBox="1"/>
          <p:nvPr/>
        </p:nvSpPr>
        <p:spPr>
          <a:xfrm>
            <a:off x="4526279"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Camp standard day: hours an Alta X could fly by gusts at Jarbo Gap, so its map would be most of the day old</a:t>
            </a:r>
          </a:p>
        </p:txBody>
      </p:sp>
      <p:sp>
        <p:nvSpPr>
          <p:cNvPr id="12" name="Rounded Rectangle 11"/>
          <p:cNvSpPr/>
          <p:nvPr/>
        </p:nvSpPr>
        <p:spPr>
          <a:xfrm>
            <a:off x="8046719"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1600200"/>
            <a:ext cx="3108960" cy="777240"/>
          </a:xfrm>
          <a:prstGeom prst="rect">
            <a:avLst/>
          </a:prstGeom>
          <a:noFill/>
        </p:spPr>
        <p:txBody>
          <a:bodyPr wrap="square" anchor="b" lIns="0" rIns="0" tIns="0" bIns="0">
            <a:spAutoFit/>
          </a:bodyPr>
          <a:lstStyle/>
          <a:p>
            <a:pPr algn="l">
              <a:spcAft>
                <a:spcPts val="400"/>
              </a:spcAft>
            </a:pPr>
            <a:r>
              <a:rPr sz="3400" b="1">
                <a:solidFill>
                  <a:srgbClr val="18A878"/>
                </a:solidFill>
                <a:latin typeface="Arial"/>
              </a:rPr>
              <a:t>1.7 h</a:t>
            </a:r>
          </a:p>
        </p:txBody>
      </p:sp>
      <p:sp>
        <p:nvSpPr>
          <p:cNvPr id="14" name="TextBox 13"/>
          <p:cNvSpPr txBox="1"/>
          <p:nvPr/>
        </p:nvSpPr>
        <p:spPr>
          <a:xfrm>
            <a:off x="8275319"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Expected map age at Camp for a Type 1 rated to 30 mph on a 1 h revisit (about 7,700 ac unmapped)</a:t>
            </a:r>
          </a:p>
        </p:txBody>
      </p:sp>
      <p:sp>
        <p:nvSpPr>
          <p:cNvPr id="15" name="Rounded Rectangle 14"/>
          <p:cNvSpPr/>
          <p:nvPr/>
        </p:nvSpPr>
        <p:spPr>
          <a:xfrm>
            <a:off x="548640" y="3840480"/>
            <a:ext cx="5394960" cy="23774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950208"/>
            <a:ext cx="4937760" cy="320040"/>
          </a:xfrm>
          <a:prstGeom prst="rect">
            <a:avLst/>
          </a:prstGeom>
          <a:noFill/>
        </p:spPr>
        <p:txBody>
          <a:bodyPr wrap="square" anchor="t" lIns="0" rIns="0" tIns="0" bIns="0">
            <a:spAutoFit/>
          </a:bodyPr>
          <a:lstStyle/>
          <a:p>
            <a:pPr algn="l">
              <a:spcAft>
                <a:spcPts val="400"/>
              </a:spcAft>
            </a:pPr>
            <a:r>
              <a:rPr sz="1500" b="1">
                <a:solidFill>
                  <a:srgbClr val="1D2125"/>
                </a:solidFill>
                <a:latin typeface="Arial"/>
              </a:rPr>
              <a:t>Who uses it</a:t>
            </a:r>
          </a:p>
        </p:txBody>
      </p:sp>
      <p:sp>
        <p:nvSpPr>
          <p:cNvPr id="17" name="TextBox 16"/>
          <p:cNvSpPr txBox="1"/>
          <p:nvPr/>
        </p:nvSpPr>
        <p:spPr>
          <a:xfrm>
            <a:off x="777240" y="4343400"/>
            <a:ext cx="4937760" cy="1828800"/>
          </a:xfrm>
          <a:prstGeom prst="rect">
            <a:avLst/>
          </a:prstGeom>
          <a:noFill/>
        </p:spPr>
        <p:txBody>
          <a:bodyPr wrap="square" anchor="t" lIns="0" rIns="0" tIns="0" bIns="0">
            <a:spAutoFit/>
          </a:bodyPr>
          <a:lstStyle/>
          <a:p>
            <a:pPr algn="l">
              <a:spcAft>
                <a:spcPts val="400"/>
              </a:spcAft>
            </a:pPr>
            <a:r>
              <a:rPr sz="1300" b="1">
                <a:solidFill>
                  <a:srgbClr val="1D2125"/>
                </a:solidFill>
                <a:latin typeface="Calibri"/>
              </a:rPr>
              <a:t>Incident commander and planning: </a:t>
            </a:r>
            <a:r>
              <a:rPr sz="1300" b="0">
                <a:solidFill>
                  <a:srgbClr val="1D2125"/>
                </a:solidFill>
                <a:latin typeface="Calibri"/>
              </a:rPr>
              <a:t>map age decides whether resource orders and evacuation triggers rest on a current line.</a:t>
            </a:r>
          </a:p>
          <a:p>
            <a:pPr algn="l">
              <a:spcAft>
                <a:spcPts val="400"/>
              </a:spcAft>
            </a:pPr>
            <a:r>
              <a:rPr sz="1300" b="1">
                <a:solidFill>
                  <a:srgbClr val="1D2125"/>
                </a:solidFill>
                <a:latin typeface="Calibri"/>
              </a:rPr>
              <a:t>Division supervisors and lookouts: </a:t>
            </a:r>
            <a:r>
              <a:rPr sz="1300" b="0">
                <a:solidFill>
                  <a:srgbClr val="1D2125"/>
                </a:solidFill>
                <a:latin typeface="Calibri"/>
              </a:rPr>
              <a:t>head and flank position, refreshed within the hour.</a:t>
            </a:r>
          </a:p>
        </p:txBody>
      </p:sp>
      <p:sp>
        <p:nvSpPr>
          <p:cNvPr id="18" name="Rounded Rectangle 17"/>
          <p:cNvSpPr/>
          <p:nvPr/>
        </p:nvSpPr>
        <p:spPr>
          <a:xfrm>
            <a:off x="6126479" y="3840480"/>
            <a:ext cx="5486400" cy="23774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9" y="3950208"/>
            <a:ext cx="5029200" cy="320040"/>
          </a:xfrm>
          <a:prstGeom prst="rect">
            <a:avLst/>
          </a:prstGeom>
          <a:noFill/>
        </p:spPr>
        <p:txBody>
          <a:bodyPr wrap="square" anchor="t" lIns="0" rIns="0" tIns="0" bIns="0">
            <a:spAutoFit/>
          </a:bodyPr>
          <a:lstStyle/>
          <a:p>
            <a:pPr algn="l">
              <a:spcAft>
                <a:spcPts val="400"/>
              </a:spcAft>
            </a:pPr>
            <a:r>
              <a:rPr sz="1500" b="1">
                <a:solidFill>
                  <a:srgbClr val="1D2125"/>
                </a:solidFill>
                <a:latin typeface="Arial"/>
              </a:rPr>
              <a:t>Drone types and parameters</a:t>
            </a:r>
          </a:p>
        </p:txBody>
      </p:sp>
      <p:sp>
        <p:nvSpPr>
          <p:cNvPr id="20" name="TextBox 19"/>
          <p:cNvSpPr txBox="1"/>
          <p:nvPr/>
        </p:nvSpPr>
        <p:spPr>
          <a:xfrm>
            <a:off x="6355079" y="4343400"/>
            <a:ext cx="5029200" cy="1828800"/>
          </a:xfrm>
          <a:prstGeom prst="rect">
            <a:avLst/>
          </a:prstGeom>
          <a:noFill/>
        </p:spPr>
        <p:txBody>
          <a:bodyPr wrap="square" anchor="t" lIns="0" rIns="0" tIns="0" bIns="0">
            <a:spAutoFit/>
          </a:bodyPr>
          <a:lstStyle/>
          <a:p>
            <a:pPr algn="l">
              <a:spcAft>
                <a:spcPts val="400"/>
              </a:spcAft>
            </a:pPr>
            <a:r>
              <a:rPr sz="1200" b="1">
                <a:solidFill>
                  <a:srgbClr val="1D2125"/>
                </a:solidFill>
                <a:latin typeface="Calibri"/>
              </a:rPr>
              <a:t>FVR-90, Type 1 FW: </a:t>
            </a:r>
            <a:r>
              <a:rPr sz="1200" b="0">
                <a:solidFill>
                  <a:srgbClr val="1D2125"/>
                </a:solidFill>
                <a:latin typeface="Calibri"/>
              </a:rPr>
              <a:t>12 to 18 h, thermal video, wind limit not found</a:t>
            </a:r>
          </a:p>
          <a:p>
            <a:pPr algn="l">
              <a:spcAft>
                <a:spcPts val="400"/>
              </a:spcAft>
            </a:pPr>
            <a:r>
              <a:rPr sz="1200" b="1">
                <a:solidFill>
                  <a:srgbClr val="1D2125"/>
                </a:solidFill>
                <a:latin typeface="Calibri"/>
              </a:rPr>
              <a:t>SuperVolo: </a:t>
            </a:r>
            <a:r>
              <a:rPr sz="1200" b="0">
                <a:solidFill>
                  <a:srgbClr val="1D2125"/>
                </a:solidFill>
                <a:latin typeface="Calibri"/>
              </a:rPr>
              <a:t>8 h, relay and second mapping tier</a:t>
            </a:r>
          </a:p>
          <a:p>
            <a:pPr algn="l">
              <a:spcAft>
                <a:spcPts val="400"/>
              </a:spcAft>
            </a:pPr>
            <a:r>
              <a:rPr sz="1200" b="1">
                <a:solidFill>
                  <a:srgbClr val="1D2125"/>
                </a:solidFill>
                <a:latin typeface="Calibri"/>
              </a:rPr>
              <a:t>Alta X, Type 3: </a:t>
            </a:r>
            <a:r>
              <a:rPr sz="1200" b="0">
                <a:solidFill>
                  <a:srgbClr val="1D2125"/>
                </a:solidFill>
                <a:latin typeface="Calibri"/>
              </a:rPr>
              <a:t>17 min sorties, 22 mph</a:t>
            </a:r>
          </a:p>
          <a:p>
            <a:pPr algn="l">
              <a:spcAft>
                <a:spcPts val="400"/>
              </a:spcAft>
            </a:pPr>
            <a:r>
              <a:rPr sz="1200" b="1">
                <a:solidFill>
                  <a:srgbClr val="1D2125"/>
                </a:solidFill>
                <a:latin typeface="Calibri"/>
              </a:rPr>
              <a:t>SwitchBlade-Elite: </a:t>
            </a:r>
            <a:r>
              <a:rPr sz="1200" b="0">
                <a:solidFill>
                  <a:srgbClr val="1D2125"/>
                </a:solidFill>
                <a:latin typeface="Calibri"/>
              </a:rPr>
              <a:t>18 min sorties, 25 mph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229600" cy="274320"/>
          </a:xfrm>
          <a:prstGeom prst="rect">
            <a:avLst/>
          </a:prstGeom>
          <a:noFill/>
        </p:spPr>
        <p:txBody>
          <a:bodyPr wrap="square" anchor="t" lIns="0" rIns="0" tIns="0" bIns="0">
            <a:spAutoFit/>
          </a:bodyPr>
          <a:lstStyle/>
          <a:p>
            <a:pPr algn="l">
              <a:spcAft>
                <a:spcPts val="400"/>
              </a:spcAft>
            </a:pPr>
            <a:r>
              <a:rPr sz="1200" b="1">
                <a:solidFill>
                  <a:srgbClr val="E8642F"/>
                </a:solidFill>
                <a:latin typeface="Arial"/>
              </a:rPr>
              <a:t>M1  |  FIRELINE MAPPING  |  HOUR BY HOUR</a:t>
            </a:r>
          </a:p>
        </p:txBody>
      </p:sp>
      <p:sp>
        <p:nvSpPr>
          <p:cNvPr id="3" name="TextBox 2"/>
          <p:cNvSpPr txBox="1"/>
          <p:nvPr/>
        </p:nvSpPr>
        <p:spPr>
          <a:xfrm>
            <a:off x="548640" y="566928"/>
            <a:ext cx="11064240" cy="685800"/>
          </a:xfrm>
          <a:prstGeom prst="rect">
            <a:avLst/>
          </a:prstGeom>
          <a:noFill/>
        </p:spPr>
        <p:txBody>
          <a:bodyPr wrap="square" anchor="t" lIns="0" rIns="0" tIns="0" bIns="0">
            <a:spAutoFit/>
          </a:bodyPr>
          <a:lstStyle/>
          <a:p>
            <a:pPr algn="l">
              <a:spcAft>
                <a:spcPts val="400"/>
              </a:spcAft>
            </a:pPr>
            <a:r>
              <a:rPr sz="2800" b="1">
                <a:solidFill>
                  <a:srgbClr val="1D2125"/>
                </a:solidFill>
                <a:latin typeface="Arial"/>
              </a:rPr>
              <a:t>Carr, 26 to 27 July: the line moved while the record stood still</a:t>
            </a:r>
          </a:p>
        </p:txBody>
      </p:sp>
      <p:sp>
        <p:nvSpPr>
          <p:cNvPr id="4" name="TextBox 3"/>
          <p:cNvSpPr txBox="1"/>
          <p:nvPr/>
        </p:nvSpPr>
        <p:spPr>
          <a:xfrm>
            <a:off x="548640" y="6446520"/>
            <a:ext cx="9144000" cy="256032"/>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NASA Aerial Wildfire Project  |  ACERO Disaster Lab  |  Mission UQ v1.1  |  20 October 2026</a:t>
            </a:r>
          </a:p>
        </p:txBody>
      </p:sp>
      <p:sp>
        <p:nvSpPr>
          <p:cNvPr id="5" name="TextBox 4"/>
          <p:cNvSpPr txBox="1"/>
          <p:nvPr/>
        </p:nvSpPr>
        <p:spPr>
          <a:xfrm>
            <a:off x="11155680" y="6446520"/>
            <a:ext cx="502920" cy="256032"/>
          </a:xfrm>
          <a:prstGeom prst="rect">
            <a:avLst/>
          </a:prstGeom>
          <a:noFill/>
        </p:spPr>
        <p:txBody>
          <a:bodyPr wrap="square" anchor="t" lIns="0" rIns="0" tIns="0" bIns="0">
            <a:spAutoFit/>
          </a:bodyPr>
          <a:lstStyle/>
          <a:p>
            <a:pPr algn="r">
              <a:spcAft>
                <a:spcPts val="400"/>
              </a:spcAft>
            </a:pPr>
            <a:r>
              <a:rPr sz="1000" b="0">
                <a:solidFill>
                  <a:srgbClr val="6B7480"/>
                </a:solidFill>
                <a:latin typeface="Calibri"/>
              </a:rPr>
              <a:t>3</a:t>
            </a:r>
          </a:p>
        </p:txBody>
      </p:sp>
      <p:sp>
        <p:nvSpPr>
          <p:cNvPr id="6" name="TextBox 5"/>
          <p:cNvSpPr txBox="1"/>
          <p:nvPr/>
        </p:nvSpPr>
        <p:spPr>
          <a:xfrm>
            <a:off x="548640" y="1417320"/>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Hour</a:t>
            </a:r>
          </a:p>
        </p:txBody>
      </p:sp>
      <p:sp>
        <p:nvSpPr>
          <p:cNvPr id="7" name="Rectangle 6"/>
          <p:cNvSpPr/>
          <p:nvPr/>
        </p:nvSpPr>
        <p:spPr>
          <a:xfrm>
            <a:off x="1965960"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06</a:t>
            </a:r>
          </a:p>
        </p:txBody>
      </p:sp>
      <p:sp>
        <p:nvSpPr>
          <p:cNvPr id="9" name="Rectangle 8"/>
          <p:cNvSpPr/>
          <p:nvPr/>
        </p:nvSpPr>
        <p:spPr>
          <a:xfrm>
            <a:off x="2369172"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69172"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07</a:t>
            </a:r>
          </a:p>
        </p:txBody>
      </p:sp>
      <p:sp>
        <p:nvSpPr>
          <p:cNvPr id="11" name="Rectangle 10"/>
          <p:cNvSpPr/>
          <p:nvPr/>
        </p:nvSpPr>
        <p:spPr>
          <a:xfrm>
            <a:off x="2772384"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72384"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08</a:t>
            </a:r>
          </a:p>
        </p:txBody>
      </p:sp>
      <p:sp>
        <p:nvSpPr>
          <p:cNvPr id="13" name="Rectangle 12"/>
          <p:cNvSpPr/>
          <p:nvPr/>
        </p:nvSpPr>
        <p:spPr>
          <a:xfrm>
            <a:off x="3175596"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75596"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09</a:t>
            </a:r>
          </a:p>
        </p:txBody>
      </p:sp>
      <p:sp>
        <p:nvSpPr>
          <p:cNvPr id="15" name="Rectangle 14"/>
          <p:cNvSpPr/>
          <p:nvPr/>
        </p:nvSpPr>
        <p:spPr>
          <a:xfrm>
            <a:off x="3578809"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8809"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10</a:t>
            </a:r>
          </a:p>
        </p:txBody>
      </p:sp>
      <p:sp>
        <p:nvSpPr>
          <p:cNvPr id="17" name="Rectangle 16"/>
          <p:cNvSpPr/>
          <p:nvPr/>
        </p:nvSpPr>
        <p:spPr>
          <a:xfrm>
            <a:off x="3982021"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82021"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11</a:t>
            </a:r>
          </a:p>
        </p:txBody>
      </p:sp>
      <p:sp>
        <p:nvSpPr>
          <p:cNvPr id="19" name="Rectangle 18"/>
          <p:cNvSpPr/>
          <p:nvPr/>
        </p:nvSpPr>
        <p:spPr>
          <a:xfrm>
            <a:off x="4385233"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5233"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12</a:t>
            </a:r>
          </a:p>
        </p:txBody>
      </p:sp>
      <p:sp>
        <p:nvSpPr>
          <p:cNvPr id="21" name="Rectangle 20"/>
          <p:cNvSpPr/>
          <p:nvPr/>
        </p:nvSpPr>
        <p:spPr>
          <a:xfrm>
            <a:off x="4788446"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88446"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13</a:t>
            </a:r>
          </a:p>
        </p:txBody>
      </p:sp>
      <p:sp>
        <p:nvSpPr>
          <p:cNvPr id="23" name="Rectangle 22"/>
          <p:cNvSpPr/>
          <p:nvPr/>
        </p:nvSpPr>
        <p:spPr>
          <a:xfrm>
            <a:off x="5191658"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1658"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14</a:t>
            </a:r>
          </a:p>
        </p:txBody>
      </p:sp>
      <p:sp>
        <p:nvSpPr>
          <p:cNvPr id="25" name="Rectangle 24"/>
          <p:cNvSpPr/>
          <p:nvPr/>
        </p:nvSpPr>
        <p:spPr>
          <a:xfrm>
            <a:off x="5594870"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94870"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15</a:t>
            </a:r>
          </a:p>
        </p:txBody>
      </p:sp>
      <p:sp>
        <p:nvSpPr>
          <p:cNvPr id="27" name="Rectangle 26"/>
          <p:cNvSpPr/>
          <p:nvPr/>
        </p:nvSpPr>
        <p:spPr>
          <a:xfrm>
            <a:off x="5998083"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98083"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16</a:t>
            </a:r>
          </a:p>
        </p:txBody>
      </p:sp>
      <p:sp>
        <p:nvSpPr>
          <p:cNvPr id="29" name="Rectangle 28"/>
          <p:cNvSpPr/>
          <p:nvPr/>
        </p:nvSpPr>
        <p:spPr>
          <a:xfrm>
            <a:off x="6401295"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1295"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17</a:t>
            </a:r>
          </a:p>
        </p:txBody>
      </p:sp>
      <p:sp>
        <p:nvSpPr>
          <p:cNvPr id="31" name="Rectangle 30"/>
          <p:cNvSpPr/>
          <p:nvPr/>
        </p:nvSpPr>
        <p:spPr>
          <a:xfrm>
            <a:off x="6804507"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04507"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18</a:t>
            </a:r>
          </a:p>
        </p:txBody>
      </p:sp>
      <p:sp>
        <p:nvSpPr>
          <p:cNvPr id="33" name="Rectangle 32"/>
          <p:cNvSpPr/>
          <p:nvPr/>
        </p:nvSpPr>
        <p:spPr>
          <a:xfrm>
            <a:off x="7207719"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7719"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19</a:t>
            </a:r>
          </a:p>
        </p:txBody>
      </p:sp>
      <p:sp>
        <p:nvSpPr>
          <p:cNvPr id="35" name="Rectangle 34"/>
          <p:cNvSpPr/>
          <p:nvPr/>
        </p:nvSpPr>
        <p:spPr>
          <a:xfrm>
            <a:off x="7610932"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10932"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20</a:t>
            </a:r>
          </a:p>
        </p:txBody>
      </p:sp>
      <p:sp>
        <p:nvSpPr>
          <p:cNvPr id="37" name="Rectangle 36"/>
          <p:cNvSpPr/>
          <p:nvPr/>
        </p:nvSpPr>
        <p:spPr>
          <a:xfrm>
            <a:off x="8014144"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14144"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21</a:t>
            </a:r>
          </a:p>
        </p:txBody>
      </p:sp>
      <p:sp>
        <p:nvSpPr>
          <p:cNvPr id="39" name="Rectangle 38"/>
          <p:cNvSpPr/>
          <p:nvPr/>
        </p:nvSpPr>
        <p:spPr>
          <a:xfrm>
            <a:off x="8417356"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7356"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22</a:t>
            </a:r>
          </a:p>
        </p:txBody>
      </p:sp>
      <p:sp>
        <p:nvSpPr>
          <p:cNvPr id="41" name="Rectangle 40"/>
          <p:cNvSpPr/>
          <p:nvPr/>
        </p:nvSpPr>
        <p:spPr>
          <a:xfrm>
            <a:off x="8820569"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20569"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23</a:t>
            </a:r>
          </a:p>
        </p:txBody>
      </p:sp>
      <p:sp>
        <p:nvSpPr>
          <p:cNvPr id="43" name="Rectangle 42"/>
          <p:cNvSpPr/>
          <p:nvPr/>
        </p:nvSpPr>
        <p:spPr>
          <a:xfrm>
            <a:off x="9223781"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23781"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00</a:t>
            </a:r>
          </a:p>
        </p:txBody>
      </p:sp>
      <p:sp>
        <p:nvSpPr>
          <p:cNvPr id="45" name="Rectangle 44"/>
          <p:cNvSpPr/>
          <p:nvPr/>
        </p:nvSpPr>
        <p:spPr>
          <a:xfrm>
            <a:off x="9626993"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26993"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01</a:t>
            </a:r>
          </a:p>
        </p:txBody>
      </p:sp>
      <p:sp>
        <p:nvSpPr>
          <p:cNvPr id="47" name="Rectangle 46"/>
          <p:cNvSpPr/>
          <p:nvPr/>
        </p:nvSpPr>
        <p:spPr>
          <a:xfrm>
            <a:off x="10030206"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30206"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02</a:t>
            </a:r>
          </a:p>
        </p:txBody>
      </p:sp>
      <p:sp>
        <p:nvSpPr>
          <p:cNvPr id="49" name="Rectangle 48"/>
          <p:cNvSpPr/>
          <p:nvPr/>
        </p:nvSpPr>
        <p:spPr>
          <a:xfrm>
            <a:off x="10433418"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3418"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03</a:t>
            </a:r>
          </a:p>
        </p:txBody>
      </p:sp>
      <p:sp>
        <p:nvSpPr>
          <p:cNvPr id="51" name="Rectangle 50"/>
          <p:cNvSpPr/>
          <p:nvPr/>
        </p:nvSpPr>
        <p:spPr>
          <a:xfrm>
            <a:off x="10836630"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836630"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04</a:t>
            </a:r>
          </a:p>
        </p:txBody>
      </p:sp>
      <p:sp>
        <p:nvSpPr>
          <p:cNvPr id="53" name="Rectangle 52"/>
          <p:cNvSpPr/>
          <p:nvPr/>
        </p:nvSpPr>
        <p:spPr>
          <a:xfrm>
            <a:off x="11239842"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239842"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05</a:t>
            </a:r>
          </a:p>
        </p:txBody>
      </p:sp>
      <p:sp>
        <p:nvSpPr>
          <p:cNvPr id="55" name="TextBox 54"/>
          <p:cNvSpPr txBox="1"/>
          <p:nvPr/>
        </p:nvSpPr>
        <p:spPr>
          <a:xfrm>
            <a:off x="548640" y="1764792"/>
            <a:ext cx="1371600" cy="329184"/>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Gust mph</a:t>
            </a:r>
          </a:p>
        </p:txBody>
      </p:sp>
      <p:sp>
        <p:nvSpPr>
          <p:cNvPr id="56" name="Rectangle 55"/>
          <p:cNvSpPr/>
          <p:nvPr/>
        </p:nvSpPr>
        <p:spPr>
          <a:xfrm>
            <a:off x="196596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965960"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19</a:t>
            </a:r>
          </a:p>
        </p:txBody>
      </p:sp>
      <p:sp>
        <p:nvSpPr>
          <p:cNvPr id="58" name="Rectangle 57"/>
          <p:cNvSpPr/>
          <p:nvPr/>
        </p:nvSpPr>
        <p:spPr>
          <a:xfrm>
            <a:off x="236917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69172"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20</a:t>
            </a:r>
          </a:p>
        </p:txBody>
      </p:sp>
      <p:sp>
        <p:nvSpPr>
          <p:cNvPr id="60" name="Rectangle 59"/>
          <p:cNvSpPr/>
          <p:nvPr/>
        </p:nvSpPr>
        <p:spPr>
          <a:xfrm>
            <a:off x="2772384"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2384"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20</a:t>
            </a:r>
          </a:p>
        </p:txBody>
      </p:sp>
      <p:sp>
        <p:nvSpPr>
          <p:cNvPr id="62" name="Rectangle 61"/>
          <p:cNvSpPr/>
          <p:nvPr/>
        </p:nvSpPr>
        <p:spPr>
          <a:xfrm>
            <a:off x="317559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175596"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17</a:t>
            </a:r>
          </a:p>
        </p:txBody>
      </p:sp>
      <p:sp>
        <p:nvSpPr>
          <p:cNvPr id="64" name="Rectangle 63"/>
          <p:cNvSpPr/>
          <p:nvPr/>
        </p:nvSpPr>
        <p:spPr>
          <a:xfrm>
            <a:off x="357880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578809"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18</a:t>
            </a:r>
          </a:p>
        </p:txBody>
      </p:sp>
      <p:sp>
        <p:nvSpPr>
          <p:cNvPr id="66" name="Rectangle 65"/>
          <p:cNvSpPr/>
          <p:nvPr/>
        </p:nvSpPr>
        <p:spPr>
          <a:xfrm>
            <a:off x="3982021"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982021"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14</a:t>
            </a:r>
          </a:p>
        </p:txBody>
      </p:sp>
      <p:sp>
        <p:nvSpPr>
          <p:cNvPr id="68" name="Rectangle 67"/>
          <p:cNvSpPr/>
          <p:nvPr/>
        </p:nvSpPr>
        <p:spPr>
          <a:xfrm>
            <a:off x="438523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385233"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12</a:t>
            </a:r>
          </a:p>
        </p:txBody>
      </p:sp>
      <p:sp>
        <p:nvSpPr>
          <p:cNvPr id="70" name="Rectangle 69"/>
          <p:cNvSpPr/>
          <p:nvPr/>
        </p:nvSpPr>
        <p:spPr>
          <a:xfrm>
            <a:off x="478844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88446"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10</a:t>
            </a:r>
          </a:p>
        </p:txBody>
      </p:sp>
      <p:sp>
        <p:nvSpPr>
          <p:cNvPr id="72" name="Rectangle 71"/>
          <p:cNvSpPr/>
          <p:nvPr/>
        </p:nvSpPr>
        <p:spPr>
          <a:xfrm>
            <a:off x="5191658"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91658"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9</a:t>
            </a:r>
          </a:p>
        </p:txBody>
      </p:sp>
      <p:sp>
        <p:nvSpPr>
          <p:cNvPr id="74" name="Rectangle 73"/>
          <p:cNvSpPr/>
          <p:nvPr/>
        </p:nvSpPr>
        <p:spPr>
          <a:xfrm>
            <a:off x="559487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594870"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9</a:t>
            </a:r>
          </a:p>
        </p:txBody>
      </p:sp>
      <p:sp>
        <p:nvSpPr>
          <p:cNvPr id="76" name="Rectangle 75"/>
          <p:cNvSpPr/>
          <p:nvPr/>
        </p:nvSpPr>
        <p:spPr>
          <a:xfrm>
            <a:off x="599808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998083"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11</a:t>
            </a:r>
          </a:p>
        </p:txBody>
      </p:sp>
      <p:sp>
        <p:nvSpPr>
          <p:cNvPr id="78" name="Rectangle 77"/>
          <p:cNvSpPr/>
          <p:nvPr/>
        </p:nvSpPr>
        <p:spPr>
          <a:xfrm>
            <a:off x="6401295"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01295"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9</a:t>
            </a:r>
          </a:p>
        </p:txBody>
      </p:sp>
      <p:sp>
        <p:nvSpPr>
          <p:cNvPr id="80" name="Rectangle 79"/>
          <p:cNvSpPr/>
          <p:nvPr/>
        </p:nvSpPr>
        <p:spPr>
          <a:xfrm>
            <a:off x="6804507"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804507"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21</a:t>
            </a:r>
          </a:p>
        </p:txBody>
      </p:sp>
      <p:sp>
        <p:nvSpPr>
          <p:cNvPr id="82" name="Rectangle 81"/>
          <p:cNvSpPr/>
          <p:nvPr/>
        </p:nvSpPr>
        <p:spPr>
          <a:xfrm>
            <a:off x="720771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207719"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14</a:t>
            </a:r>
          </a:p>
        </p:txBody>
      </p:sp>
      <p:sp>
        <p:nvSpPr>
          <p:cNvPr id="84" name="Rectangle 83"/>
          <p:cNvSpPr/>
          <p:nvPr/>
        </p:nvSpPr>
        <p:spPr>
          <a:xfrm>
            <a:off x="761093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610932"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13</a:t>
            </a:r>
          </a:p>
        </p:txBody>
      </p:sp>
      <p:sp>
        <p:nvSpPr>
          <p:cNvPr id="86" name="Rectangle 85"/>
          <p:cNvSpPr/>
          <p:nvPr/>
        </p:nvSpPr>
        <p:spPr>
          <a:xfrm>
            <a:off x="8014144"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014144"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12</a:t>
            </a:r>
          </a:p>
        </p:txBody>
      </p:sp>
      <p:sp>
        <p:nvSpPr>
          <p:cNvPr id="88" name="Rectangle 87"/>
          <p:cNvSpPr/>
          <p:nvPr/>
        </p:nvSpPr>
        <p:spPr>
          <a:xfrm>
            <a:off x="841735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417356"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20</a:t>
            </a:r>
          </a:p>
        </p:txBody>
      </p:sp>
      <p:sp>
        <p:nvSpPr>
          <p:cNvPr id="90" name="Rectangle 89"/>
          <p:cNvSpPr/>
          <p:nvPr/>
        </p:nvSpPr>
        <p:spPr>
          <a:xfrm>
            <a:off x="882056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820569"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20</a:t>
            </a:r>
          </a:p>
        </p:txBody>
      </p:sp>
      <p:sp>
        <p:nvSpPr>
          <p:cNvPr id="92" name="Rectangle 91"/>
          <p:cNvSpPr/>
          <p:nvPr/>
        </p:nvSpPr>
        <p:spPr>
          <a:xfrm>
            <a:off x="9223781"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223781"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18</a:t>
            </a:r>
          </a:p>
        </p:txBody>
      </p:sp>
      <p:sp>
        <p:nvSpPr>
          <p:cNvPr id="94" name="Rectangle 93"/>
          <p:cNvSpPr/>
          <p:nvPr/>
        </p:nvSpPr>
        <p:spPr>
          <a:xfrm>
            <a:off x="962699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626993"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14</a:t>
            </a:r>
          </a:p>
        </p:txBody>
      </p:sp>
      <p:sp>
        <p:nvSpPr>
          <p:cNvPr id="96" name="Rectangle 95"/>
          <p:cNvSpPr/>
          <p:nvPr/>
        </p:nvSpPr>
        <p:spPr>
          <a:xfrm>
            <a:off x="1003020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030206"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13</a:t>
            </a:r>
          </a:p>
        </p:txBody>
      </p:sp>
      <p:sp>
        <p:nvSpPr>
          <p:cNvPr id="98" name="Rectangle 97"/>
          <p:cNvSpPr/>
          <p:nvPr/>
        </p:nvSpPr>
        <p:spPr>
          <a:xfrm>
            <a:off x="10433418"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433418"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14</a:t>
            </a:r>
          </a:p>
        </p:txBody>
      </p:sp>
      <p:sp>
        <p:nvSpPr>
          <p:cNvPr id="100" name="Rectangle 99"/>
          <p:cNvSpPr/>
          <p:nvPr/>
        </p:nvSpPr>
        <p:spPr>
          <a:xfrm>
            <a:off x="1083663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836630"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14</a:t>
            </a:r>
          </a:p>
        </p:txBody>
      </p:sp>
      <p:sp>
        <p:nvSpPr>
          <p:cNvPr id="102" name="Rectangle 101"/>
          <p:cNvSpPr/>
          <p:nvPr/>
        </p:nvSpPr>
        <p:spPr>
          <a:xfrm>
            <a:off x="1123984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239842"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14</a:t>
            </a:r>
          </a:p>
        </p:txBody>
      </p:sp>
      <p:sp>
        <p:nvSpPr>
          <p:cNvPr id="104" name="TextBox 103"/>
          <p:cNvSpPr txBox="1"/>
          <p:nvPr/>
        </p:nvSpPr>
        <p:spPr>
          <a:xfrm>
            <a:off x="548640" y="2148840"/>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Alta X 22</a:t>
            </a:r>
          </a:p>
        </p:txBody>
      </p:sp>
      <p:sp>
        <p:nvSpPr>
          <p:cNvPr id="105" name="Rectangle 104"/>
          <p:cNvSpPr/>
          <p:nvPr/>
        </p:nvSpPr>
        <p:spPr>
          <a:xfrm>
            <a:off x="1965960"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2369172"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2772384"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3175596"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3578809"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982021"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4385233"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788446"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191658"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594870"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5998083"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6401295"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6804507"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7207719"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7610932"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8014144"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417356"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8820569"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223781"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9626993"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0030206"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0433418"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836630"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239842"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48640" y="2496312"/>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Type 1 at 30</a:t>
            </a:r>
          </a:p>
        </p:txBody>
      </p:sp>
      <p:sp>
        <p:nvSpPr>
          <p:cNvPr id="130" name="Rectangle 129"/>
          <p:cNvSpPr/>
          <p:nvPr/>
        </p:nvSpPr>
        <p:spPr>
          <a:xfrm>
            <a:off x="1965960"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2369172"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2772384"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3175596"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3578809"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3982021"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4385233"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4788446"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5191658"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5594870"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998083"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6401295"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6804507"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7207719"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7610932"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8014144"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8417356"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8820569"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9223781"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9626993"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10030206"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10433418"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10836630"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1239842"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48640" y="2843784"/>
            <a:ext cx="1371600" cy="329184"/>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Map age h</a:t>
            </a:r>
          </a:p>
        </p:txBody>
      </p:sp>
      <p:sp>
        <p:nvSpPr>
          <p:cNvPr id="155" name="TextBox 154"/>
          <p:cNvSpPr txBox="1"/>
          <p:nvPr/>
        </p:nvSpPr>
        <p:spPr>
          <a:xfrm>
            <a:off x="196596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11</a:t>
            </a:r>
          </a:p>
        </p:txBody>
      </p:sp>
      <p:sp>
        <p:nvSpPr>
          <p:cNvPr id="156" name="TextBox 155"/>
          <p:cNvSpPr txBox="1"/>
          <p:nvPr/>
        </p:nvSpPr>
        <p:spPr>
          <a:xfrm>
            <a:off x="236917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12</a:t>
            </a:r>
          </a:p>
        </p:txBody>
      </p:sp>
      <p:sp>
        <p:nvSpPr>
          <p:cNvPr id="157" name="TextBox 156"/>
          <p:cNvSpPr txBox="1"/>
          <p:nvPr/>
        </p:nvSpPr>
        <p:spPr>
          <a:xfrm>
            <a:off x="2772384"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13</a:t>
            </a:r>
          </a:p>
        </p:txBody>
      </p:sp>
      <p:sp>
        <p:nvSpPr>
          <p:cNvPr id="158" name="TextBox 157"/>
          <p:cNvSpPr txBox="1"/>
          <p:nvPr/>
        </p:nvSpPr>
        <p:spPr>
          <a:xfrm>
            <a:off x="317559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14</a:t>
            </a:r>
          </a:p>
        </p:txBody>
      </p:sp>
      <p:sp>
        <p:nvSpPr>
          <p:cNvPr id="159" name="TextBox 158"/>
          <p:cNvSpPr txBox="1"/>
          <p:nvPr/>
        </p:nvSpPr>
        <p:spPr>
          <a:xfrm>
            <a:off x="357880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15</a:t>
            </a:r>
          </a:p>
        </p:txBody>
      </p:sp>
      <p:sp>
        <p:nvSpPr>
          <p:cNvPr id="160" name="TextBox 159"/>
          <p:cNvSpPr txBox="1"/>
          <p:nvPr/>
        </p:nvSpPr>
        <p:spPr>
          <a:xfrm>
            <a:off x="3982021"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16</a:t>
            </a:r>
          </a:p>
        </p:txBody>
      </p:sp>
      <p:sp>
        <p:nvSpPr>
          <p:cNvPr id="161" name="TextBox 160"/>
          <p:cNvSpPr txBox="1"/>
          <p:nvPr/>
        </p:nvSpPr>
        <p:spPr>
          <a:xfrm>
            <a:off x="438523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17</a:t>
            </a:r>
          </a:p>
        </p:txBody>
      </p:sp>
      <p:sp>
        <p:nvSpPr>
          <p:cNvPr id="162" name="TextBox 161"/>
          <p:cNvSpPr txBox="1"/>
          <p:nvPr/>
        </p:nvSpPr>
        <p:spPr>
          <a:xfrm>
            <a:off x="478844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18</a:t>
            </a:r>
          </a:p>
        </p:txBody>
      </p:sp>
      <p:sp>
        <p:nvSpPr>
          <p:cNvPr id="163" name="TextBox 162"/>
          <p:cNvSpPr txBox="1"/>
          <p:nvPr/>
        </p:nvSpPr>
        <p:spPr>
          <a:xfrm>
            <a:off x="5191658"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a:t>
            </a:r>
          </a:p>
        </p:txBody>
      </p:sp>
      <p:sp>
        <p:nvSpPr>
          <p:cNvPr id="164" name="TextBox 163"/>
          <p:cNvSpPr txBox="1"/>
          <p:nvPr/>
        </p:nvSpPr>
        <p:spPr>
          <a:xfrm>
            <a:off x="559487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a:t>
            </a:r>
          </a:p>
        </p:txBody>
      </p:sp>
      <p:sp>
        <p:nvSpPr>
          <p:cNvPr id="165" name="TextBox 164"/>
          <p:cNvSpPr txBox="1"/>
          <p:nvPr/>
        </p:nvSpPr>
        <p:spPr>
          <a:xfrm>
            <a:off x="599808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3</a:t>
            </a:r>
          </a:p>
        </p:txBody>
      </p:sp>
      <p:sp>
        <p:nvSpPr>
          <p:cNvPr id="166" name="TextBox 165"/>
          <p:cNvSpPr txBox="1"/>
          <p:nvPr/>
        </p:nvSpPr>
        <p:spPr>
          <a:xfrm>
            <a:off x="6401295"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0</a:t>
            </a:r>
          </a:p>
        </p:txBody>
      </p:sp>
      <p:sp>
        <p:nvSpPr>
          <p:cNvPr id="167" name="TextBox 166"/>
          <p:cNvSpPr txBox="1"/>
          <p:nvPr/>
        </p:nvSpPr>
        <p:spPr>
          <a:xfrm>
            <a:off x="6804507"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a:t>
            </a:r>
          </a:p>
        </p:txBody>
      </p:sp>
      <p:sp>
        <p:nvSpPr>
          <p:cNvPr id="168" name="TextBox 167"/>
          <p:cNvSpPr txBox="1"/>
          <p:nvPr/>
        </p:nvSpPr>
        <p:spPr>
          <a:xfrm>
            <a:off x="720771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a:t>
            </a:r>
          </a:p>
        </p:txBody>
      </p:sp>
      <p:sp>
        <p:nvSpPr>
          <p:cNvPr id="169" name="TextBox 168"/>
          <p:cNvSpPr txBox="1"/>
          <p:nvPr/>
        </p:nvSpPr>
        <p:spPr>
          <a:xfrm>
            <a:off x="761093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3</a:t>
            </a:r>
          </a:p>
        </p:txBody>
      </p:sp>
      <p:sp>
        <p:nvSpPr>
          <p:cNvPr id="170" name="TextBox 169"/>
          <p:cNvSpPr txBox="1"/>
          <p:nvPr/>
        </p:nvSpPr>
        <p:spPr>
          <a:xfrm>
            <a:off x="8014144"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4</a:t>
            </a:r>
          </a:p>
        </p:txBody>
      </p:sp>
      <p:sp>
        <p:nvSpPr>
          <p:cNvPr id="171" name="TextBox 170"/>
          <p:cNvSpPr txBox="1"/>
          <p:nvPr/>
        </p:nvSpPr>
        <p:spPr>
          <a:xfrm>
            <a:off x="841735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5</a:t>
            </a:r>
          </a:p>
        </p:txBody>
      </p:sp>
      <p:sp>
        <p:nvSpPr>
          <p:cNvPr id="172" name="TextBox 171"/>
          <p:cNvSpPr txBox="1"/>
          <p:nvPr/>
        </p:nvSpPr>
        <p:spPr>
          <a:xfrm>
            <a:off x="882056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6</a:t>
            </a:r>
          </a:p>
        </p:txBody>
      </p:sp>
      <p:sp>
        <p:nvSpPr>
          <p:cNvPr id="173" name="TextBox 172"/>
          <p:cNvSpPr txBox="1"/>
          <p:nvPr/>
        </p:nvSpPr>
        <p:spPr>
          <a:xfrm>
            <a:off x="9223781"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a:t>
            </a:r>
          </a:p>
        </p:txBody>
      </p:sp>
      <p:sp>
        <p:nvSpPr>
          <p:cNvPr id="174" name="TextBox 173"/>
          <p:cNvSpPr txBox="1"/>
          <p:nvPr/>
        </p:nvSpPr>
        <p:spPr>
          <a:xfrm>
            <a:off x="962699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a:t>
            </a:r>
          </a:p>
        </p:txBody>
      </p:sp>
      <p:sp>
        <p:nvSpPr>
          <p:cNvPr id="175" name="TextBox 174"/>
          <p:cNvSpPr txBox="1"/>
          <p:nvPr/>
        </p:nvSpPr>
        <p:spPr>
          <a:xfrm>
            <a:off x="1003020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3</a:t>
            </a:r>
          </a:p>
        </p:txBody>
      </p:sp>
      <p:sp>
        <p:nvSpPr>
          <p:cNvPr id="176" name="TextBox 175"/>
          <p:cNvSpPr txBox="1"/>
          <p:nvPr/>
        </p:nvSpPr>
        <p:spPr>
          <a:xfrm>
            <a:off x="10433418"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4</a:t>
            </a:r>
          </a:p>
        </p:txBody>
      </p:sp>
      <p:sp>
        <p:nvSpPr>
          <p:cNvPr id="177" name="TextBox 176"/>
          <p:cNvSpPr txBox="1"/>
          <p:nvPr/>
        </p:nvSpPr>
        <p:spPr>
          <a:xfrm>
            <a:off x="1083663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5</a:t>
            </a:r>
          </a:p>
        </p:txBody>
      </p:sp>
      <p:sp>
        <p:nvSpPr>
          <p:cNvPr id="178" name="TextBox 177"/>
          <p:cNvSpPr txBox="1"/>
          <p:nvPr/>
        </p:nvSpPr>
        <p:spPr>
          <a:xfrm>
            <a:off x="1123984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6</a:t>
            </a:r>
          </a:p>
        </p:txBody>
      </p:sp>
      <p:sp>
        <p:nvSpPr>
          <p:cNvPr id="179" name="TextBox 178"/>
          <p:cNvSpPr txBox="1"/>
          <p:nvPr/>
        </p:nvSpPr>
        <p:spPr>
          <a:xfrm>
            <a:off x="548640" y="3227832"/>
            <a:ext cx="1371600" cy="56692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Drone task</a:t>
            </a:r>
          </a:p>
        </p:txBody>
      </p:sp>
      <p:sp>
        <p:nvSpPr>
          <p:cNvPr id="180" name="Rounded Rectangle 179"/>
          <p:cNvSpPr/>
          <p:nvPr/>
        </p:nvSpPr>
        <p:spPr>
          <a:xfrm>
            <a:off x="1965960" y="3227832"/>
            <a:ext cx="2391841" cy="566928"/>
          </a:xfrm>
          <a:prstGeom prst="roundRect">
            <a:avLst>
              <a:gd name="adj" fmla="val 6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2011679" y="3246120"/>
            <a:ext cx="2309545" cy="530352"/>
          </a:xfrm>
          <a:prstGeom prst="rect">
            <a:avLst/>
          </a:prstGeom>
          <a:noFill/>
        </p:spPr>
        <p:txBody>
          <a:bodyPr wrap="square" anchor="ctr" lIns="0" rIns="0" tIns="0" bIns="0">
            <a:spAutoFit/>
          </a:bodyPr>
          <a:lstStyle/>
          <a:p>
            <a:pPr algn="l">
              <a:spcAft>
                <a:spcPts val="400"/>
              </a:spcAft>
            </a:pPr>
            <a:r>
              <a:rPr sz="1000" b="0">
                <a:solidFill>
                  <a:srgbClr val="FFFFFF"/>
                </a:solidFill>
                <a:latin typeface="Calibri"/>
              </a:rPr>
              <a:t>Fresh perimeter for the morning plan; decide where the line and resources go</a:t>
            </a:r>
          </a:p>
        </p:txBody>
      </p:sp>
      <p:sp>
        <p:nvSpPr>
          <p:cNvPr id="182" name="Rounded Rectangle 181"/>
          <p:cNvSpPr/>
          <p:nvPr/>
        </p:nvSpPr>
        <p:spPr>
          <a:xfrm>
            <a:off x="4385233" y="3227832"/>
            <a:ext cx="1988629" cy="566928"/>
          </a:xfrm>
          <a:prstGeom prst="roundRect">
            <a:avLst>
              <a:gd name="adj" fmla="val 6000"/>
            </a:avLst>
          </a:prstGeom>
          <a:solidFill>
            <a:srgbClr val="E86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4430953" y="3246120"/>
            <a:ext cx="1906333" cy="530352"/>
          </a:xfrm>
          <a:prstGeom prst="rect">
            <a:avLst/>
          </a:prstGeom>
          <a:noFill/>
        </p:spPr>
        <p:txBody>
          <a:bodyPr wrap="square" anchor="ctr" lIns="0" rIns="0" tIns="0" bIns="0">
            <a:spAutoFit/>
          </a:bodyPr>
          <a:lstStyle/>
          <a:p>
            <a:pPr algn="l">
              <a:spcAft>
                <a:spcPts val="400"/>
              </a:spcAft>
            </a:pPr>
            <a:r>
              <a:rPr sz="900" b="0">
                <a:solidFill>
                  <a:srgbClr val="FFFFFF"/>
                </a:solidFill>
                <a:latin typeface="Calibri"/>
              </a:rPr>
              <a:t>Type 1 holds whole-fire perimeter; Type 3 maps the active east flank</a:t>
            </a:r>
          </a:p>
        </p:txBody>
      </p:sp>
      <p:sp>
        <p:nvSpPr>
          <p:cNvPr id="184" name="Rounded Rectangle 183"/>
          <p:cNvSpPr/>
          <p:nvPr/>
        </p:nvSpPr>
        <p:spPr>
          <a:xfrm>
            <a:off x="6401295" y="3227832"/>
            <a:ext cx="1182204" cy="566928"/>
          </a:xfrm>
          <a:prstGeom prst="roundRect">
            <a:avLst>
              <a:gd name="adj" fmla="val 6000"/>
            </a:avLst>
          </a:prstGeom>
          <a:solidFill>
            <a:srgbClr val="8E7B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6447015" y="3246120"/>
            <a:ext cx="1099908" cy="530352"/>
          </a:xfrm>
          <a:prstGeom prst="rect">
            <a:avLst/>
          </a:prstGeom>
          <a:noFill/>
        </p:spPr>
        <p:txBody>
          <a:bodyPr wrap="square" anchor="ctr" lIns="0" rIns="0" tIns="0" bIns="0">
            <a:spAutoFit/>
          </a:bodyPr>
          <a:lstStyle/>
          <a:p>
            <a:pPr algn="l">
              <a:spcAft>
                <a:spcPts val="400"/>
              </a:spcAft>
            </a:pPr>
            <a:r>
              <a:rPr sz="900" b="0">
                <a:solidFill>
                  <a:srgbClr val="FFFFFF"/>
                </a:solidFill>
                <a:latin typeface="Calibri"/>
              </a:rPr>
              <a:t>Track the run hourly: head, spots across the river; push the line to IC and divisions</a:t>
            </a:r>
          </a:p>
        </p:txBody>
      </p:sp>
      <p:sp>
        <p:nvSpPr>
          <p:cNvPr id="186" name="Rounded Rectangle 185"/>
          <p:cNvSpPr/>
          <p:nvPr/>
        </p:nvSpPr>
        <p:spPr>
          <a:xfrm>
            <a:off x="7610932" y="3227832"/>
            <a:ext cx="1585417" cy="566928"/>
          </a:xfrm>
          <a:prstGeom prst="roundRect">
            <a:avLst>
              <a:gd name="adj" fmla="val 6000"/>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7656652" y="3246120"/>
            <a:ext cx="1503121" cy="530352"/>
          </a:xfrm>
          <a:prstGeom prst="rect">
            <a:avLst/>
          </a:prstGeom>
          <a:noFill/>
        </p:spPr>
        <p:txBody>
          <a:bodyPr wrap="square" anchor="ctr" lIns="0" rIns="0" tIns="0" bIns="0">
            <a:spAutoFit/>
          </a:bodyPr>
          <a:lstStyle/>
          <a:p>
            <a:pPr algn="l">
              <a:spcAft>
                <a:spcPts val="400"/>
              </a:spcAft>
            </a:pPr>
            <a:r>
              <a:rPr sz="900" b="0">
                <a:solidFill>
                  <a:srgbClr val="FFFFFF"/>
                </a:solidFill>
                <a:latin typeface="Calibri"/>
              </a:rPr>
              <a:t>Night IR perimeter by Type 1 so the morning plan starts from a current line</a:t>
            </a:r>
          </a:p>
        </p:txBody>
      </p:sp>
      <p:sp>
        <p:nvSpPr>
          <p:cNvPr id="188" name="Rounded Rectangle 187"/>
          <p:cNvSpPr/>
          <p:nvPr/>
        </p:nvSpPr>
        <p:spPr>
          <a:xfrm>
            <a:off x="9223781" y="3227832"/>
            <a:ext cx="2391841" cy="566928"/>
          </a:xfrm>
          <a:prstGeom prst="roundRect">
            <a:avLst>
              <a:gd name="adj" fmla="val 6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9269501" y="3246120"/>
            <a:ext cx="2309545" cy="530352"/>
          </a:xfrm>
          <a:prstGeom prst="rect">
            <a:avLst/>
          </a:prstGeom>
          <a:noFill/>
        </p:spPr>
        <p:txBody>
          <a:bodyPr wrap="square" anchor="ctr" lIns="0" rIns="0" tIns="0" bIns="0">
            <a:spAutoFit/>
          </a:bodyPr>
          <a:lstStyle/>
          <a:p>
            <a:pPr algn="l">
              <a:spcAft>
                <a:spcPts val="400"/>
              </a:spcAft>
            </a:pPr>
            <a:r>
              <a:rPr sz="1000" b="0">
                <a:solidFill>
                  <a:srgbClr val="FFFFFF"/>
                </a:solidFill>
                <a:latin typeface="Calibri"/>
              </a:rPr>
              <a:t>Night IR passes on spots and flanks; fresh perimeter before the briefing</a:t>
            </a:r>
          </a:p>
        </p:txBody>
      </p:sp>
      <p:sp>
        <p:nvSpPr>
          <p:cNvPr id="190" name="TextBox 189"/>
          <p:cNvSpPr txBox="1"/>
          <p:nvPr/>
        </p:nvSpPr>
        <p:spPr>
          <a:xfrm>
            <a:off x="548640" y="3913631"/>
            <a:ext cx="11064240" cy="228600"/>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Green: can fly by station gusts. Red: grounded. Dark hour cells: night (20:00 to 06:00). Map age: hours since the newest aircraft perimeter in the record.</a:t>
            </a:r>
          </a:p>
        </p:txBody>
      </p:sp>
      <p:sp>
        <p:nvSpPr>
          <p:cNvPr id="191" name="Rounded Rectangle 190"/>
          <p:cNvSpPr/>
          <p:nvPr/>
        </p:nvSpPr>
        <p:spPr>
          <a:xfrm>
            <a:off x="548640" y="4279392"/>
            <a:ext cx="6675120" cy="1984248"/>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731520" y="4370831"/>
            <a:ext cx="6309360" cy="274320"/>
          </a:xfrm>
          <a:prstGeom prst="rect">
            <a:avLst/>
          </a:prstGeom>
          <a:noFill/>
        </p:spPr>
        <p:txBody>
          <a:bodyPr wrap="square" anchor="t" lIns="0" rIns="0" tIns="0" bIns="0">
            <a:spAutoFit/>
          </a:bodyPr>
          <a:lstStyle/>
          <a:p>
            <a:pPr algn="l">
              <a:spcAft>
                <a:spcPts val="400"/>
              </a:spcAft>
            </a:pPr>
            <a:r>
              <a:rPr sz="1400" b="1">
                <a:solidFill>
                  <a:srgbClr val="1D2125"/>
                </a:solidFill>
                <a:latin typeface="Arial"/>
              </a:rPr>
              <a:t>What the records show</a:t>
            </a:r>
          </a:p>
        </p:txBody>
      </p:sp>
      <p:sp>
        <p:nvSpPr>
          <p:cNvPr id="193" name="TextBox 192"/>
          <p:cNvSpPr txBox="1"/>
          <p:nvPr/>
        </p:nvSpPr>
        <p:spPr>
          <a:xfrm>
            <a:off x="731520" y="4690872"/>
            <a:ext cx="6309360" cy="1527048"/>
          </a:xfrm>
          <a:prstGeom prst="rect">
            <a:avLst/>
          </a:prstGeom>
          <a:noFill/>
        </p:spPr>
        <p:txBody>
          <a:bodyPr wrap="square" anchor="t" lIns="0" rIns="0" tIns="0" bIns="0">
            <a:spAutoFit/>
          </a:bodyPr>
          <a:lstStyle/>
          <a:p>
            <a:pPr algn="l">
              <a:spcAft>
                <a:spcPts val="400"/>
              </a:spcAft>
            </a:pPr>
            <a:r>
              <a:rPr sz="1200" b="1">
                <a:solidFill>
                  <a:srgbClr val="1D2125"/>
                </a:solidFill>
                <a:latin typeface="Calibri"/>
              </a:rPr>
              <a:t>17:30  </a:t>
            </a:r>
            <a:r>
              <a:rPr sz="1200" b="0">
                <a:solidFill>
                  <a:srgbClr val="1D2125"/>
                </a:solidFill>
                <a:latin typeface="Calibri"/>
              </a:rPr>
              <a:t>Run east at 2.5 mph, spotting over 1 mile; 17:34 aircraft perimeter 44,484 ac</a:t>
            </a:r>
          </a:p>
          <a:p>
            <a:pPr algn="l">
              <a:spcAft>
                <a:spcPts val="400"/>
              </a:spcAft>
            </a:pPr>
            <a:r>
              <a:rPr sz="1200" b="1">
                <a:solidFill>
                  <a:srgbClr val="1D2125"/>
                </a:solidFill>
                <a:latin typeface="Calibri"/>
              </a:rPr>
              <a:t>19:17  </a:t>
            </a:r>
            <a:r>
              <a:rPr sz="1200" b="0">
                <a:solidFill>
                  <a:srgbClr val="1D2125"/>
                </a:solidFill>
                <a:latin typeface="Calibri"/>
              </a:rPr>
              <a:t>Spots east of the Sacramento River; 19:20 to 20:00 vortex on radar</a:t>
            </a:r>
          </a:p>
          <a:p>
            <a:pPr algn="l">
              <a:spcAft>
                <a:spcPts val="400"/>
              </a:spcAft>
            </a:pPr>
            <a:r>
              <a:rPr sz="1200" b="1">
                <a:solidFill>
                  <a:srgbClr val="1D2125"/>
                </a:solidFill>
                <a:latin typeface="Calibri"/>
              </a:rPr>
              <a:t>19:45  </a:t>
            </a:r>
            <a:r>
              <a:rPr sz="1200" b="0">
                <a:solidFill>
                  <a:srgbClr val="1D2125"/>
                </a:solidFill>
                <a:latin typeface="Calibri"/>
              </a:rPr>
              <a:t>ICS-209 28,763 ac, unchanged at 20:15 and 21:00</a:t>
            </a:r>
          </a:p>
          <a:p>
            <a:pPr algn="l">
              <a:spcAft>
                <a:spcPts val="400"/>
              </a:spcAft>
            </a:pPr>
            <a:r>
              <a:rPr sz="1200" b="1">
                <a:solidFill>
                  <a:srgbClr val="1D2125"/>
                </a:solidFill>
                <a:latin typeface="Calibri"/>
              </a:rPr>
              <a:t>00:00  </a:t>
            </a:r>
            <a:r>
              <a:rPr sz="1200" b="0">
                <a:solidFill>
                  <a:srgbClr val="1D2125"/>
                </a:solidFill>
                <a:latin typeface="Calibri"/>
              </a:rPr>
              <a:t>Next aircraft perimeter 50,050 ac; spots south of Whiskeytown Lake</a:t>
            </a:r>
          </a:p>
          <a:p>
            <a:pPr algn="l">
              <a:spcAft>
                <a:spcPts val="400"/>
              </a:spcAft>
            </a:pPr>
            <a:r>
              <a:rPr sz="1200" b="1">
                <a:solidFill>
                  <a:srgbClr val="1D2125"/>
                </a:solidFill>
                <a:latin typeface="Calibri"/>
              </a:rPr>
              <a:t>Night  </a:t>
            </a:r>
            <a:r>
              <a:rPr sz="1200" b="0">
                <a:solidFill>
                  <a:srgbClr val="1D2125"/>
                </a:solidFill>
                <a:latin typeface="Calibri"/>
              </a:rPr>
              <a:t>10% of Carr aircraft perimeters were flown at night, but about 28% of growth fell at night</a:t>
            </a:r>
          </a:p>
        </p:txBody>
      </p:sp>
      <p:sp>
        <p:nvSpPr>
          <p:cNvPr id="194" name="Rounded Rectangle 193"/>
          <p:cNvSpPr/>
          <p:nvPr/>
        </p:nvSpPr>
        <p:spPr>
          <a:xfrm>
            <a:off x="7406640" y="4279392"/>
            <a:ext cx="4206240" cy="1984248"/>
          </a:xfrm>
          <a:prstGeom prst="roundRect">
            <a:avLst>
              <a:gd name="adj" fmla="val 6000"/>
            </a:avLst>
          </a:prstGeom>
          <a:solidFill>
            <a:srgbClr val="1D2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7589520" y="4370831"/>
            <a:ext cx="3840480" cy="274320"/>
          </a:xfrm>
          <a:prstGeom prst="rect">
            <a:avLst/>
          </a:prstGeom>
          <a:noFill/>
        </p:spPr>
        <p:txBody>
          <a:bodyPr wrap="square" anchor="t" lIns="0" rIns="0" tIns="0" bIns="0">
            <a:spAutoFit/>
          </a:bodyPr>
          <a:lstStyle/>
          <a:p>
            <a:pPr algn="l">
              <a:spcAft>
                <a:spcPts val="400"/>
              </a:spcAft>
            </a:pPr>
            <a:r>
              <a:rPr sz="1400" b="1">
                <a:solidFill>
                  <a:srgbClr val="E9A821"/>
                </a:solidFill>
                <a:latin typeface="Arial"/>
              </a:rPr>
              <a:t>Quantified uncertainty</a:t>
            </a:r>
          </a:p>
        </p:txBody>
      </p:sp>
      <p:sp>
        <p:nvSpPr>
          <p:cNvPr id="196" name="TextBox 195"/>
          <p:cNvSpPr txBox="1"/>
          <p:nvPr/>
        </p:nvSpPr>
        <p:spPr>
          <a:xfrm>
            <a:off x="7589520" y="4690872"/>
            <a:ext cx="3840480" cy="1527048"/>
          </a:xfrm>
          <a:prstGeom prst="rect">
            <a:avLst/>
          </a:prstGeom>
          <a:noFill/>
        </p:spPr>
        <p:txBody>
          <a:bodyPr wrap="square" anchor="t" lIns="0" rIns="0" tIns="0" bIns="0">
            <a:spAutoFit/>
          </a:bodyPr>
          <a:lstStyle/>
          <a:p>
            <a:pPr algn="l">
              <a:spcAft>
                <a:spcPts val="400"/>
              </a:spcAft>
            </a:pPr>
            <a:r>
              <a:rPr sz="1300" b="0">
                <a:solidFill>
                  <a:srgbClr val="FFFFFF"/>
                </a:solidFill>
                <a:latin typeface="Calibri"/>
              </a:rPr>
              <a:t>E[A] = R (2 - p) / (2p). Carr: p = 100%, so a 1 h revisit holds the map near 0.5 h old. Camp: 0.9 h if the limit is read on sustained wind, 23.3 h on gusts.</a:t>
            </a:r>
          </a:p>
          <a:p>
            <a:pPr algn="l">
              <a:spcAft>
                <a:spcPts val="400"/>
              </a:spcAft>
            </a:pPr>
            <a:r>
              <a:rPr sz="1100" b="0">
                <a:solidFill>
                  <a:srgbClr val="E1E4E8"/>
                </a:solidFill>
                <a:latin typeface="Calibri"/>
              </a:rPr>
              <a:t>Largest unknowns: sustained versus gust reading, and the unpublished Type 1 wind limit.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229600" cy="274320"/>
          </a:xfrm>
          <a:prstGeom prst="rect">
            <a:avLst/>
          </a:prstGeom>
          <a:noFill/>
        </p:spPr>
        <p:txBody>
          <a:bodyPr wrap="square" anchor="t" lIns="0" rIns="0" tIns="0" bIns="0">
            <a:spAutoFit/>
          </a:bodyPr>
          <a:lstStyle/>
          <a:p>
            <a:pPr algn="l">
              <a:spcAft>
                <a:spcPts val="400"/>
              </a:spcAft>
            </a:pPr>
            <a:r>
              <a:rPr sz="1200" b="1">
                <a:solidFill>
                  <a:srgbClr val="E8642F"/>
                </a:solidFill>
                <a:latin typeface="Arial"/>
              </a:rPr>
              <a:t>M2  |  SPOT FIRE DETECTION  |  BOTTOM LINE</a:t>
            </a:r>
          </a:p>
        </p:txBody>
      </p:sp>
      <p:sp>
        <p:nvSpPr>
          <p:cNvPr id="3" name="TextBox 2"/>
          <p:cNvSpPr txBox="1"/>
          <p:nvPr/>
        </p:nvSpPr>
        <p:spPr>
          <a:xfrm>
            <a:off x="548640" y="566928"/>
            <a:ext cx="11064240" cy="685800"/>
          </a:xfrm>
          <a:prstGeom prst="rect">
            <a:avLst/>
          </a:prstGeom>
          <a:noFill/>
        </p:spPr>
        <p:txBody>
          <a:bodyPr wrap="square" anchor="t" lIns="0" rIns="0" tIns="0" bIns="0">
            <a:spAutoFit/>
          </a:bodyPr>
          <a:lstStyle/>
          <a:p>
            <a:pPr algn="l">
              <a:spcAft>
                <a:spcPts val="400"/>
              </a:spcAft>
            </a:pPr>
            <a:r>
              <a:rPr sz="2800" b="1">
                <a:solidFill>
                  <a:srgbClr val="1D2125"/>
                </a:solidFill>
                <a:latin typeface="Arial"/>
              </a:rPr>
              <a:t>Spot fires: detection time depends on whether the drone can fly at all</a:t>
            </a:r>
          </a:p>
        </p:txBody>
      </p:sp>
      <p:sp>
        <p:nvSpPr>
          <p:cNvPr id="4" name="TextBox 3"/>
          <p:cNvSpPr txBox="1"/>
          <p:nvPr/>
        </p:nvSpPr>
        <p:spPr>
          <a:xfrm>
            <a:off x="548640" y="6446520"/>
            <a:ext cx="9144000" cy="256032"/>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NASA Aerial Wildfire Project  |  ACERO Disaster Lab  |  Mission UQ v1.1  |  20 October 2026</a:t>
            </a:r>
          </a:p>
        </p:txBody>
      </p:sp>
      <p:sp>
        <p:nvSpPr>
          <p:cNvPr id="5" name="TextBox 4"/>
          <p:cNvSpPr txBox="1"/>
          <p:nvPr/>
        </p:nvSpPr>
        <p:spPr>
          <a:xfrm>
            <a:off x="11155680" y="6446520"/>
            <a:ext cx="502920" cy="256032"/>
          </a:xfrm>
          <a:prstGeom prst="rect">
            <a:avLst/>
          </a:prstGeom>
          <a:noFill/>
        </p:spPr>
        <p:txBody>
          <a:bodyPr wrap="square" anchor="t" lIns="0" rIns="0" tIns="0" bIns="0">
            <a:spAutoFit/>
          </a:bodyPr>
          <a:lstStyle/>
          <a:p>
            <a:pPr algn="r">
              <a:spcAft>
                <a:spcPts val="400"/>
              </a:spcAft>
            </a:pPr>
            <a:r>
              <a:rPr sz="1000" b="0">
                <a:solidFill>
                  <a:srgbClr val="6B7480"/>
                </a:solidFill>
                <a:latin typeface="Calibri"/>
              </a:rPr>
              <a:t>4</a:t>
            </a:r>
          </a:p>
        </p:txBody>
      </p:sp>
      <p:sp>
        <p:nvSpPr>
          <p:cNvPr id="6" name="Rounded Rectangle 5"/>
          <p:cNvSpPr/>
          <p:nvPr/>
        </p:nvSpPr>
        <p:spPr>
          <a:xfrm>
            <a:off x="548640"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3108960" cy="777240"/>
          </a:xfrm>
          <a:prstGeom prst="rect">
            <a:avLst/>
          </a:prstGeom>
          <a:noFill/>
        </p:spPr>
        <p:txBody>
          <a:bodyPr wrap="square" anchor="b" lIns="0" rIns="0" tIns="0" bIns="0">
            <a:spAutoFit/>
          </a:bodyPr>
          <a:lstStyle/>
          <a:p>
            <a:pPr algn="l">
              <a:spcAft>
                <a:spcPts val="400"/>
              </a:spcAft>
            </a:pPr>
            <a:r>
              <a:rPr sz="3400" b="1">
                <a:solidFill>
                  <a:srgbClr val="E8642F"/>
                </a:solidFill>
                <a:latin typeface="Arial"/>
              </a:rPr>
              <a:t>32 to 779 min</a:t>
            </a:r>
          </a:p>
        </p:txBody>
      </p:sp>
      <p:sp>
        <p:nvSpPr>
          <p:cNvPr id="8" name="TextBox 7"/>
          <p:cNvSpPr txBox="1"/>
          <p:nvPr/>
        </p:nvSpPr>
        <p:spPr>
          <a:xfrm>
            <a:off x="777240"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Expected time for an Alta X to find a spot at Camp, from the sustained to the gust reading (30 min search, Pd 0.9 assumed)</a:t>
            </a:r>
          </a:p>
        </p:txBody>
      </p:sp>
      <p:sp>
        <p:nvSpPr>
          <p:cNvPr id="9" name="Rounded Rectangle 8"/>
          <p:cNvSpPr/>
          <p:nvPr/>
        </p:nvSpPr>
        <p:spPr>
          <a:xfrm>
            <a:off x="4297679"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00200"/>
            <a:ext cx="3108960" cy="777240"/>
          </a:xfrm>
          <a:prstGeom prst="rect">
            <a:avLst/>
          </a:prstGeom>
          <a:noFill/>
        </p:spPr>
        <p:txBody>
          <a:bodyPr wrap="square" anchor="b" lIns="0" rIns="0" tIns="0" bIns="0">
            <a:spAutoFit/>
          </a:bodyPr>
          <a:lstStyle/>
          <a:p>
            <a:pPr algn="l">
              <a:spcAft>
                <a:spcPts val="400"/>
              </a:spcAft>
            </a:pPr>
            <a:r>
              <a:rPr sz="3400" b="1">
                <a:solidFill>
                  <a:srgbClr val="C8402A"/>
                </a:solidFill>
                <a:latin typeface="Arial"/>
              </a:rPr>
              <a:t>85 min</a:t>
            </a:r>
          </a:p>
        </p:txBody>
      </p:sp>
      <p:sp>
        <p:nvSpPr>
          <p:cNvPr id="11" name="TextBox 10"/>
          <p:cNvSpPr txBox="1"/>
          <p:nvPr/>
        </p:nvSpPr>
        <p:spPr>
          <a:xfrm>
            <a:off x="4526279"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First 911 call to first burnovers at Camp: the clock every detection competes with</a:t>
            </a:r>
          </a:p>
        </p:txBody>
      </p:sp>
      <p:sp>
        <p:nvSpPr>
          <p:cNvPr id="12" name="Rounded Rectangle 11"/>
          <p:cNvSpPr/>
          <p:nvPr/>
        </p:nvSpPr>
        <p:spPr>
          <a:xfrm>
            <a:off x="8046719"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1600200"/>
            <a:ext cx="3108960" cy="777240"/>
          </a:xfrm>
          <a:prstGeom prst="rect">
            <a:avLst/>
          </a:prstGeom>
          <a:noFill/>
        </p:spPr>
        <p:txBody>
          <a:bodyPr wrap="square" anchor="b" lIns="0" rIns="0" tIns="0" bIns="0">
            <a:spAutoFit/>
          </a:bodyPr>
          <a:lstStyle/>
          <a:p>
            <a:pPr algn="l">
              <a:spcAft>
                <a:spcPts val="400"/>
              </a:spcAft>
            </a:pPr>
            <a:r>
              <a:rPr sz="3400" b="1">
                <a:solidFill>
                  <a:srgbClr val="18A878"/>
                </a:solidFill>
                <a:latin typeface="Arial"/>
              </a:rPr>
              <a:t>58 min</a:t>
            </a:r>
          </a:p>
        </p:txBody>
      </p:sp>
      <p:sp>
        <p:nvSpPr>
          <p:cNvPr id="14" name="TextBox 13"/>
          <p:cNvSpPr txBox="1"/>
          <p:nvPr/>
        </p:nvSpPr>
        <p:spPr>
          <a:xfrm>
            <a:off x="8275319"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Same search by a Type 1 rated to 30 mph, read on gusts</a:t>
            </a:r>
          </a:p>
        </p:txBody>
      </p:sp>
      <p:sp>
        <p:nvSpPr>
          <p:cNvPr id="15" name="Rounded Rectangle 14"/>
          <p:cNvSpPr/>
          <p:nvPr/>
        </p:nvSpPr>
        <p:spPr>
          <a:xfrm>
            <a:off x="548640" y="3840480"/>
            <a:ext cx="5394960" cy="23774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950208"/>
            <a:ext cx="4937760" cy="320040"/>
          </a:xfrm>
          <a:prstGeom prst="rect">
            <a:avLst/>
          </a:prstGeom>
          <a:noFill/>
        </p:spPr>
        <p:txBody>
          <a:bodyPr wrap="square" anchor="t" lIns="0" rIns="0" tIns="0" bIns="0">
            <a:spAutoFit/>
          </a:bodyPr>
          <a:lstStyle/>
          <a:p>
            <a:pPr algn="l">
              <a:spcAft>
                <a:spcPts val="400"/>
              </a:spcAft>
            </a:pPr>
            <a:r>
              <a:rPr sz="1500" b="1">
                <a:solidFill>
                  <a:srgbClr val="1D2125"/>
                </a:solidFill>
                <a:latin typeface="Arial"/>
              </a:rPr>
              <a:t>Who uses it</a:t>
            </a:r>
          </a:p>
        </p:txBody>
      </p:sp>
      <p:sp>
        <p:nvSpPr>
          <p:cNvPr id="17" name="TextBox 16"/>
          <p:cNvSpPr txBox="1"/>
          <p:nvPr/>
        </p:nvSpPr>
        <p:spPr>
          <a:xfrm>
            <a:off x="777240" y="4343400"/>
            <a:ext cx="4937760" cy="1828800"/>
          </a:xfrm>
          <a:prstGeom prst="rect">
            <a:avLst/>
          </a:prstGeom>
          <a:noFill/>
        </p:spPr>
        <p:txBody>
          <a:bodyPr wrap="square" anchor="t" lIns="0" rIns="0" tIns="0" bIns="0">
            <a:spAutoFit/>
          </a:bodyPr>
          <a:lstStyle/>
          <a:p>
            <a:pPr algn="l">
              <a:spcAft>
                <a:spcPts val="400"/>
              </a:spcAft>
            </a:pPr>
            <a:r>
              <a:rPr sz="1300" b="1">
                <a:solidFill>
                  <a:srgbClr val="1D2125"/>
                </a:solidFill>
                <a:latin typeface="Calibri"/>
              </a:rPr>
              <a:t>Lookouts and division supervisors: </a:t>
            </a:r>
            <a:r>
              <a:rPr sz="1300" b="0">
                <a:solidFill>
                  <a:srgbClr val="1D2125"/>
                </a:solidFill>
                <a:latin typeface="Calibri"/>
              </a:rPr>
              <a:t>a spot across the line changes escape routes and safety zones within minutes.</a:t>
            </a:r>
          </a:p>
          <a:p>
            <a:pPr algn="l">
              <a:spcAft>
                <a:spcPts val="400"/>
              </a:spcAft>
            </a:pPr>
            <a:r>
              <a:rPr sz="1300" b="1">
                <a:solidFill>
                  <a:srgbClr val="1D2125"/>
                </a:solidFill>
                <a:latin typeface="Calibri"/>
              </a:rPr>
              <a:t>Incident commander: </a:t>
            </a:r>
            <a:r>
              <a:rPr sz="1300" b="0">
                <a:solidFill>
                  <a:srgbClr val="1D2125"/>
                </a:solidFill>
                <a:latin typeface="Calibri"/>
              </a:rPr>
              <a:t>whether initial attack reaches a spot before it becomes a new front.</a:t>
            </a:r>
          </a:p>
        </p:txBody>
      </p:sp>
      <p:sp>
        <p:nvSpPr>
          <p:cNvPr id="18" name="Rounded Rectangle 17"/>
          <p:cNvSpPr/>
          <p:nvPr/>
        </p:nvSpPr>
        <p:spPr>
          <a:xfrm>
            <a:off x="6126479" y="3840480"/>
            <a:ext cx="5486400" cy="23774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9" y="3950208"/>
            <a:ext cx="5029200" cy="320040"/>
          </a:xfrm>
          <a:prstGeom prst="rect">
            <a:avLst/>
          </a:prstGeom>
          <a:noFill/>
        </p:spPr>
        <p:txBody>
          <a:bodyPr wrap="square" anchor="t" lIns="0" rIns="0" tIns="0" bIns="0">
            <a:spAutoFit/>
          </a:bodyPr>
          <a:lstStyle/>
          <a:p>
            <a:pPr algn="l">
              <a:spcAft>
                <a:spcPts val="400"/>
              </a:spcAft>
            </a:pPr>
            <a:r>
              <a:rPr sz="1500" b="1">
                <a:solidFill>
                  <a:srgbClr val="1D2125"/>
                </a:solidFill>
                <a:latin typeface="Arial"/>
              </a:rPr>
              <a:t>Drone types and parameters</a:t>
            </a:r>
          </a:p>
        </p:txBody>
      </p:sp>
      <p:sp>
        <p:nvSpPr>
          <p:cNvPr id="20" name="TextBox 19"/>
          <p:cNvSpPr txBox="1"/>
          <p:nvPr/>
        </p:nvSpPr>
        <p:spPr>
          <a:xfrm>
            <a:off x="6355079" y="4343400"/>
            <a:ext cx="5029200" cy="1828800"/>
          </a:xfrm>
          <a:prstGeom prst="rect">
            <a:avLst/>
          </a:prstGeom>
          <a:noFill/>
        </p:spPr>
        <p:txBody>
          <a:bodyPr wrap="square" anchor="t" lIns="0" rIns="0" tIns="0" bIns="0">
            <a:spAutoFit/>
          </a:bodyPr>
          <a:lstStyle/>
          <a:p>
            <a:pPr algn="l">
              <a:spcAft>
                <a:spcPts val="400"/>
              </a:spcAft>
            </a:pPr>
            <a:r>
              <a:rPr sz="1200" b="1">
                <a:solidFill>
                  <a:srgbClr val="1D2125"/>
                </a:solidFill>
                <a:latin typeface="Calibri"/>
              </a:rPr>
              <a:t>Type 1 / 2 FW: </a:t>
            </a:r>
            <a:r>
              <a:rPr sz="1200" b="0">
                <a:solidFill>
                  <a:srgbClr val="1D2125"/>
                </a:solidFill>
                <a:latin typeface="Calibri"/>
              </a:rPr>
              <a:t>6 to 14 h mid-wave IR, 1 to 6 h long-wave IR</a:t>
            </a:r>
          </a:p>
          <a:p>
            <a:pPr algn="l">
              <a:spcAft>
                <a:spcPts val="400"/>
              </a:spcAft>
            </a:pPr>
            <a:r>
              <a:rPr sz="1200" b="1">
                <a:solidFill>
                  <a:srgbClr val="1D2125"/>
                </a:solidFill>
                <a:latin typeface="Calibri"/>
              </a:rPr>
              <a:t>Alta X / SwitchBlade-Elite: </a:t>
            </a:r>
            <a:r>
              <a:rPr sz="1200" b="0">
                <a:solidFill>
                  <a:srgbClr val="1D2125"/>
                </a:solidFill>
                <a:latin typeface="Calibri"/>
              </a:rPr>
              <a:t>initial attack size-up, confirm hot spots</a:t>
            </a:r>
          </a:p>
          <a:p>
            <a:pPr algn="l">
              <a:spcAft>
                <a:spcPts val="400"/>
              </a:spcAft>
            </a:pPr>
            <a:r>
              <a:rPr sz="1200" b="1">
                <a:solidFill>
                  <a:srgbClr val="1D2125"/>
                </a:solidFill>
                <a:latin typeface="Calibri"/>
              </a:rPr>
              <a:t>Mavic 2 EA (sensor reference): </a:t>
            </a:r>
            <a:r>
              <a:rPr sz="1200" b="0">
                <a:solidFill>
                  <a:srgbClr val="1D2125"/>
                </a:solidFill>
                <a:latin typeface="Calibri"/>
              </a:rPr>
              <a:t>640 x 512 thermal, 8 to 14 µm, saturates at 550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229600" cy="274320"/>
          </a:xfrm>
          <a:prstGeom prst="rect">
            <a:avLst/>
          </a:prstGeom>
          <a:noFill/>
        </p:spPr>
        <p:txBody>
          <a:bodyPr wrap="square" anchor="t" lIns="0" rIns="0" tIns="0" bIns="0">
            <a:spAutoFit/>
          </a:bodyPr>
          <a:lstStyle/>
          <a:p>
            <a:pPr algn="l">
              <a:spcAft>
                <a:spcPts val="400"/>
              </a:spcAft>
            </a:pPr>
            <a:r>
              <a:rPr sz="1200" b="1">
                <a:solidFill>
                  <a:srgbClr val="E8642F"/>
                </a:solidFill>
                <a:latin typeface="Arial"/>
              </a:rPr>
              <a:t>M2  |  SPOT FIRE DETECTION  |  HOUR BY HOUR</a:t>
            </a:r>
          </a:p>
        </p:txBody>
      </p:sp>
      <p:sp>
        <p:nvSpPr>
          <p:cNvPr id="3" name="TextBox 2"/>
          <p:cNvSpPr txBox="1"/>
          <p:nvPr/>
        </p:nvSpPr>
        <p:spPr>
          <a:xfrm>
            <a:off x="548640" y="566928"/>
            <a:ext cx="11064240" cy="685800"/>
          </a:xfrm>
          <a:prstGeom prst="rect">
            <a:avLst/>
          </a:prstGeom>
          <a:noFill/>
        </p:spPr>
        <p:txBody>
          <a:bodyPr wrap="square" anchor="t" lIns="0" rIns="0" tIns="0" bIns="0">
            <a:spAutoFit/>
          </a:bodyPr>
          <a:lstStyle/>
          <a:p>
            <a:pPr algn="l">
              <a:spcAft>
                <a:spcPts val="400"/>
              </a:spcAft>
            </a:pPr>
            <a:r>
              <a:rPr sz="2800" b="1">
                <a:solidFill>
                  <a:srgbClr val="1D2125"/>
                </a:solidFill>
                <a:latin typeface="Arial"/>
              </a:rPr>
              <a:t>Camp, 8 to 9 November: initial attack in wind that grounded small drones</a:t>
            </a:r>
          </a:p>
        </p:txBody>
      </p:sp>
      <p:sp>
        <p:nvSpPr>
          <p:cNvPr id="4" name="TextBox 3"/>
          <p:cNvSpPr txBox="1"/>
          <p:nvPr/>
        </p:nvSpPr>
        <p:spPr>
          <a:xfrm>
            <a:off x="548640" y="6446520"/>
            <a:ext cx="9144000" cy="256032"/>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NASA Aerial Wildfire Project  |  ACERO Disaster Lab  |  Mission UQ v1.1  |  20 October 2026</a:t>
            </a:r>
          </a:p>
        </p:txBody>
      </p:sp>
      <p:sp>
        <p:nvSpPr>
          <p:cNvPr id="5" name="TextBox 4"/>
          <p:cNvSpPr txBox="1"/>
          <p:nvPr/>
        </p:nvSpPr>
        <p:spPr>
          <a:xfrm>
            <a:off x="11155680" y="6446520"/>
            <a:ext cx="502920" cy="256032"/>
          </a:xfrm>
          <a:prstGeom prst="rect">
            <a:avLst/>
          </a:prstGeom>
          <a:noFill/>
        </p:spPr>
        <p:txBody>
          <a:bodyPr wrap="square" anchor="t" lIns="0" rIns="0" tIns="0" bIns="0">
            <a:spAutoFit/>
          </a:bodyPr>
          <a:lstStyle/>
          <a:p>
            <a:pPr algn="r">
              <a:spcAft>
                <a:spcPts val="400"/>
              </a:spcAft>
            </a:pPr>
            <a:r>
              <a:rPr sz="1000" b="0">
                <a:solidFill>
                  <a:srgbClr val="6B7480"/>
                </a:solidFill>
                <a:latin typeface="Calibri"/>
              </a:rPr>
              <a:t>5</a:t>
            </a:r>
          </a:p>
        </p:txBody>
      </p:sp>
      <p:sp>
        <p:nvSpPr>
          <p:cNvPr id="6" name="TextBox 5"/>
          <p:cNvSpPr txBox="1"/>
          <p:nvPr/>
        </p:nvSpPr>
        <p:spPr>
          <a:xfrm>
            <a:off x="548640" y="1417320"/>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Hour</a:t>
            </a:r>
          </a:p>
        </p:txBody>
      </p:sp>
      <p:sp>
        <p:nvSpPr>
          <p:cNvPr id="7" name="Rectangle 6"/>
          <p:cNvSpPr/>
          <p:nvPr/>
        </p:nvSpPr>
        <p:spPr>
          <a:xfrm>
            <a:off x="1965960"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06</a:t>
            </a:r>
          </a:p>
        </p:txBody>
      </p:sp>
      <p:sp>
        <p:nvSpPr>
          <p:cNvPr id="9" name="Rectangle 8"/>
          <p:cNvSpPr/>
          <p:nvPr/>
        </p:nvSpPr>
        <p:spPr>
          <a:xfrm>
            <a:off x="2369172"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69172"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07</a:t>
            </a:r>
          </a:p>
        </p:txBody>
      </p:sp>
      <p:sp>
        <p:nvSpPr>
          <p:cNvPr id="11" name="Rectangle 10"/>
          <p:cNvSpPr/>
          <p:nvPr/>
        </p:nvSpPr>
        <p:spPr>
          <a:xfrm>
            <a:off x="2772384"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72384"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08</a:t>
            </a:r>
          </a:p>
        </p:txBody>
      </p:sp>
      <p:sp>
        <p:nvSpPr>
          <p:cNvPr id="13" name="Rectangle 12"/>
          <p:cNvSpPr/>
          <p:nvPr/>
        </p:nvSpPr>
        <p:spPr>
          <a:xfrm>
            <a:off x="3175596"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75596"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09</a:t>
            </a:r>
          </a:p>
        </p:txBody>
      </p:sp>
      <p:sp>
        <p:nvSpPr>
          <p:cNvPr id="15" name="Rectangle 14"/>
          <p:cNvSpPr/>
          <p:nvPr/>
        </p:nvSpPr>
        <p:spPr>
          <a:xfrm>
            <a:off x="3578809"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8809"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10</a:t>
            </a:r>
          </a:p>
        </p:txBody>
      </p:sp>
      <p:sp>
        <p:nvSpPr>
          <p:cNvPr id="17" name="Rectangle 16"/>
          <p:cNvSpPr/>
          <p:nvPr/>
        </p:nvSpPr>
        <p:spPr>
          <a:xfrm>
            <a:off x="3982021"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82021"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11</a:t>
            </a:r>
          </a:p>
        </p:txBody>
      </p:sp>
      <p:sp>
        <p:nvSpPr>
          <p:cNvPr id="19" name="Rectangle 18"/>
          <p:cNvSpPr/>
          <p:nvPr/>
        </p:nvSpPr>
        <p:spPr>
          <a:xfrm>
            <a:off x="4385233"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5233"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12</a:t>
            </a:r>
          </a:p>
        </p:txBody>
      </p:sp>
      <p:sp>
        <p:nvSpPr>
          <p:cNvPr id="21" name="Rectangle 20"/>
          <p:cNvSpPr/>
          <p:nvPr/>
        </p:nvSpPr>
        <p:spPr>
          <a:xfrm>
            <a:off x="4788446"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88446"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13</a:t>
            </a:r>
          </a:p>
        </p:txBody>
      </p:sp>
      <p:sp>
        <p:nvSpPr>
          <p:cNvPr id="23" name="Rectangle 22"/>
          <p:cNvSpPr/>
          <p:nvPr/>
        </p:nvSpPr>
        <p:spPr>
          <a:xfrm>
            <a:off x="5191658"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1658"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14</a:t>
            </a:r>
          </a:p>
        </p:txBody>
      </p:sp>
      <p:sp>
        <p:nvSpPr>
          <p:cNvPr id="25" name="Rectangle 24"/>
          <p:cNvSpPr/>
          <p:nvPr/>
        </p:nvSpPr>
        <p:spPr>
          <a:xfrm>
            <a:off x="5594870"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94870"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15</a:t>
            </a:r>
          </a:p>
        </p:txBody>
      </p:sp>
      <p:sp>
        <p:nvSpPr>
          <p:cNvPr id="27" name="Rectangle 26"/>
          <p:cNvSpPr/>
          <p:nvPr/>
        </p:nvSpPr>
        <p:spPr>
          <a:xfrm>
            <a:off x="5998083"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98083"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16</a:t>
            </a:r>
          </a:p>
        </p:txBody>
      </p:sp>
      <p:sp>
        <p:nvSpPr>
          <p:cNvPr id="29" name="Rectangle 28"/>
          <p:cNvSpPr/>
          <p:nvPr/>
        </p:nvSpPr>
        <p:spPr>
          <a:xfrm>
            <a:off x="6401295"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1295"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17</a:t>
            </a:r>
          </a:p>
        </p:txBody>
      </p:sp>
      <p:sp>
        <p:nvSpPr>
          <p:cNvPr id="31" name="Rectangle 30"/>
          <p:cNvSpPr/>
          <p:nvPr/>
        </p:nvSpPr>
        <p:spPr>
          <a:xfrm>
            <a:off x="6804507"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04507"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18</a:t>
            </a:r>
          </a:p>
        </p:txBody>
      </p:sp>
      <p:sp>
        <p:nvSpPr>
          <p:cNvPr id="33" name="Rectangle 32"/>
          <p:cNvSpPr/>
          <p:nvPr/>
        </p:nvSpPr>
        <p:spPr>
          <a:xfrm>
            <a:off x="7207719"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7719"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19</a:t>
            </a:r>
          </a:p>
        </p:txBody>
      </p:sp>
      <p:sp>
        <p:nvSpPr>
          <p:cNvPr id="35" name="Rectangle 34"/>
          <p:cNvSpPr/>
          <p:nvPr/>
        </p:nvSpPr>
        <p:spPr>
          <a:xfrm>
            <a:off x="7610932"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10932"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20</a:t>
            </a:r>
          </a:p>
        </p:txBody>
      </p:sp>
      <p:sp>
        <p:nvSpPr>
          <p:cNvPr id="37" name="Rectangle 36"/>
          <p:cNvSpPr/>
          <p:nvPr/>
        </p:nvSpPr>
        <p:spPr>
          <a:xfrm>
            <a:off x="8014144"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14144"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21</a:t>
            </a:r>
          </a:p>
        </p:txBody>
      </p:sp>
      <p:sp>
        <p:nvSpPr>
          <p:cNvPr id="39" name="Rectangle 38"/>
          <p:cNvSpPr/>
          <p:nvPr/>
        </p:nvSpPr>
        <p:spPr>
          <a:xfrm>
            <a:off x="8417356"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7356"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22</a:t>
            </a:r>
          </a:p>
        </p:txBody>
      </p:sp>
      <p:sp>
        <p:nvSpPr>
          <p:cNvPr id="41" name="Rectangle 40"/>
          <p:cNvSpPr/>
          <p:nvPr/>
        </p:nvSpPr>
        <p:spPr>
          <a:xfrm>
            <a:off x="8820569"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20569"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23</a:t>
            </a:r>
          </a:p>
        </p:txBody>
      </p:sp>
      <p:sp>
        <p:nvSpPr>
          <p:cNvPr id="43" name="Rectangle 42"/>
          <p:cNvSpPr/>
          <p:nvPr/>
        </p:nvSpPr>
        <p:spPr>
          <a:xfrm>
            <a:off x="9223781"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23781"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00</a:t>
            </a:r>
          </a:p>
        </p:txBody>
      </p:sp>
      <p:sp>
        <p:nvSpPr>
          <p:cNvPr id="45" name="Rectangle 44"/>
          <p:cNvSpPr/>
          <p:nvPr/>
        </p:nvSpPr>
        <p:spPr>
          <a:xfrm>
            <a:off x="9626993"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26993"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01</a:t>
            </a:r>
          </a:p>
        </p:txBody>
      </p:sp>
      <p:sp>
        <p:nvSpPr>
          <p:cNvPr id="47" name="Rectangle 46"/>
          <p:cNvSpPr/>
          <p:nvPr/>
        </p:nvSpPr>
        <p:spPr>
          <a:xfrm>
            <a:off x="10030206"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30206"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02</a:t>
            </a:r>
          </a:p>
        </p:txBody>
      </p:sp>
      <p:sp>
        <p:nvSpPr>
          <p:cNvPr id="49" name="Rectangle 48"/>
          <p:cNvSpPr/>
          <p:nvPr/>
        </p:nvSpPr>
        <p:spPr>
          <a:xfrm>
            <a:off x="10433418"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3418"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03</a:t>
            </a:r>
          </a:p>
        </p:txBody>
      </p:sp>
      <p:sp>
        <p:nvSpPr>
          <p:cNvPr id="51" name="Rectangle 50"/>
          <p:cNvSpPr/>
          <p:nvPr/>
        </p:nvSpPr>
        <p:spPr>
          <a:xfrm>
            <a:off x="10836630"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836630"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04</a:t>
            </a:r>
          </a:p>
        </p:txBody>
      </p:sp>
      <p:sp>
        <p:nvSpPr>
          <p:cNvPr id="53" name="Rectangle 52"/>
          <p:cNvSpPr/>
          <p:nvPr/>
        </p:nvSpPr>
        <p:spPr>
          <a:xfrm>
            <a:off x="11239842"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239842"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05</a:t>
            </a:r>
          </a:p>
        </p:txBody>
      </p:sp>
      <p:sp>
        <p:nvSpPr>
          <p:cNvPr id="55" name="TextBox 54"/>
          <p:cNvSpPr txBox="1"/>
          <p:nvPr/>
        </p:nvSpPr>
        <p:spPr>
          <a:xfrm>
            <a:off x="548640" y="1764792"/>
            <a:ext cx="1371600" cy="329184"/>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Gust mph</a:t>
            </a:r>
          </a:p>
        </p:txBody>
      </p:sp>
      <p:sp>
        <p:nvSpPr>
          <p:cNvPr id="56" name="Rectangle 55"/>
          <p:cNvSpPr/>
          <p:nvPr/>
        </p:nvSpPr>
        <p:spPr>
          <a:xfrm>
            <a:off x="196596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965960"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40</a:t>
            </a:r>
          </a:p>
        </p:txBody>
      </p:sp>
      <p:sp>
        <p:nvSpPr>
          <p:cNvPr id="58" name="Rectangle 57"/>
          <p:cNvSpPr/>
          <p:nvPr/>
        </p:nvSpPr>
        <p:spPr>
          <a:xfrm>
            <a:off x="236917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69172"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28</a:t>
            </a:r>
          </a:p>
        </p:txBody>
      </p:sp>
      <p:sp>
        <p:nvSpPr>
          <p:cNvPr id="60" name="Rectangle 59"/>
          <p:cNvSpPr/>
          <p:nvPr/>
        </p:nvSpPr>
        <p:spPr>
          <a:xfrm>
            <a:off x="2772384"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2384"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25</a:t>
            </a:r>
          </a:p>
        </p:txBody>
      </p:sp>
      <p:sp>
        <p:nvSpPr>
          <p:cNvPr id="62" name="Rectangle 61"/>
          <p:cNvSpPr/>
          <p:nvPr/>
        </p:nvSpPr>
        <p:spPr>
          <a:xfrm>
            <a:off x="317559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175596"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21</a:t>
            </a:r>
          </a:p>
        </p:txBody>
      </p:sp>
      <p:sp>
        <p:nvSpPr>
          <p:cNvPr id="64" name="Rectangle 63"/>
          <p:cNvSpPr/>
          <p:nvPr/>
        </p:nvSpPr>
        <p:spPr>
          <a:xfrm>
            <a:off x="357880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578809"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30</a:t>
            </a:r>
          </a:p>
        </p:txBody>
      </p:sp>
      <p:sp>
        <p:nvSpPr>
          <p:cNvPr id="66" name="Rectangle 65"/>
          <p:cNvSpPr/>
          <p:nvPr/>
        </p:nvSpPr>
        <p:spPr>
          <a:xfrm>
            <a:off x="3982021"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982021"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29</a:t>
            </a:r>
          </a:p>
        </p:txBody>
      </p:sp>
      <p:sp>
        <p:nvSpPr>
          <p:cNvPr id="68" name="Rectangle 67"/>
          <p:cNvSpPr/>
          <p:nvPr/>
        </p:nvSpPr>
        <p:spPr>
          <a:xfrm>
            <a:off x="438523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385233"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33</a:t>
            </a:r>
          </a:p>
        </p:txBody>
      </p:sp>
      <p:sp>
        <p:nvSpPr>
          <p:cNvPr id="70" name="Rectangle 69"/>
          <p:cNvSpPr/>
          <p:nvPr/>
        </p:nvSpPr>
        <p:spPr>
          <a:xfrm>
            <a:off x="478844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88446"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32</a:t>
            </a:r>
          </a:p>
        </p:txBody>
      </p:sp>
      <p:sp>
        <p:nvSpPr>
          <p:cNvPr id="72" name="Rectangle 71"/>
          <p:cNvSpPr/>
          <p:nvPr/>
        </p:nvSpPr>
        <p:spPr>
          <a:xfrm>
            <a:off x="5191658"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91658"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24</a:t>
            </a:r>
          </a:p>
        </p:txBody>
      </p:sp>
      <p:sp>
        <p:nvSpPr>
          <p:cNvPr id="74" name="Rectangle 73"/>
          <p:cNvSpPr/>
          <p:nvPr/>
        </p:nvSpPr>
        <p:spPr>
          <a:xfrm>
            <a:off x="559487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594870"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28</a:t>
            </a:r>
          </a:p>
        </p:txBody>
      </p:sp>
      <p:sp>
        <p:nvSpPr>
          <p:cNvPr id="76" name="Rectangle 75"/>
          <p:cNvSpPr/>
          <p:nvPr/>
        </p:nvSpPr>
        <p:spPr>
          <a:xfrm>
            <a:off x="599808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998083"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25</a:t>
            </a:r>
          </a:p>
        </p:txBody>
      </p:sp>
      <p:sp>
        <p:nvSpPr>
          <p:cNvPr id="78" name="Rectangle 77"/>
          <p:cNvSpPr/>
          <p:nvPr/>
        </p:nvSpPr>
        <p:spPr>
          <a:xfrm>
            <a:off x="6401295"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01295"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23</a:t>
            </a:r>
          </a:p>
        </p:txBody>
      </p:sp>
      <p:sp>
        <p:nvSpPr>
          <p:cNvPr id="80" name="Rectangle 79"/>
          <p:cNvSpPr/>
          <p:nvPr/>
        </p:nvSpPr>
        <p:spPr>
          <a:xfrm>
            <a:off x="6804507"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804507"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27</a:t>
            </a:r>
          </a:p>
        </p:txBody>
      </p:sp>
      <p:sp>
        <p:nvSpPr>
          <p:cNvPr id="82" name="Rectangle 81"/>
          <p:cNvSpPr/>
          <p:nvPr/>
        </p:nvSpPr>
        <p:spPr>
          <a:xfrm>
            <a:off x="720771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207719"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30</a:t>
            </a:r>
          </a:p>
        </p:txBody>
      </p:sp>
      <p:sp>
        <p:nvSpPr>
          <p:cNvPr id="84" name="Rectangle 83"/>
          <p:cNvSpPr/>
          <p:nvPr/>
        </p:nvSpPr>
        <p:spPr>
          <a:xfrm>
            <a:off x="761093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610932"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34</a:t>
            </a:r>
          </a:p>
        </p:txBody>
      </p:sp>
      <p:sp>
        <p:nvSpPr>
          <p:cNvPr id="86" name="Rectangle 85"/>
          <p:cNvSpPr/>
          <p:nvPr/>
        </p:nvSpPr>
        <p:spPr>
          <a:xfrm>
            <a:off x="8014144"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014144"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36</a:t>
            </a:r>
          </a:p>
        </p:txBody>
      </p:sp>
      <p:sp>
        <p:nvSpPr>
          <p:cNvPr id="88" name="Rectangle 87"/>
          <p:cNvSpPr/>
          <p:nvPr/>
        </p:nvSpPr>
        <p:spPr>
          <a:xfrm>
            <a:off x="841735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417356"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39</a:t>
            </a:r>
          </a:p>
        </p:txBody>
      </p:sp>
      <p:sp>
        <p:nvSpPr>
          <p:cNvPr id="90" name="Rectangle 89"/>
          <p:cNvSpPr/>
          <p:nvPr/>
        </p:nvSpPr>
        <p:spPr>
          <a:xfrm>
            <a:off x="882056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820569"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43</a:t>
            </a:r>
          </a:p>
        </p:txBody>
      </p:sp>
      <p:sp>
        <p:nvSpPr>
          <p:cNvPr id="92" name="Rectangle 91"/>
          <p:cNvSpPr/>
          <p:nvPr/>
        </p:nvSpPr>
        <p:spPr>
          <a:xfrm>
            <a:off x="9223781"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223781"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48</a:t>
            </a:r>
          </a:p>
        </p:txBody>
      </p:sp>
      <p:sp>
        <p:nvSpPr>
          <p:cNvPr id="94" name="Rectangle 93"/>
          <p:cNvSpPr/>
          <p:nvPr/>
        </p:nvSpPr>
        <p:spPr>
          <a:xfrm>
            <a:off x="962699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626993"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45</a:t>
            </a:r>
          </a:p>
        </p:txBody>
      </p:sp>
      <p:sp>
        <p:nvSpPr>
          <p:cNvPr id="96" name="Rectangle 95"/>
          <p:cNvSpPr/>
          <p:nvPr/>
        </p:nvSpPr>
        <p:spPr>
          <a:xfrm>
            <a:off x="1003020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030206"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48</a:t>
            </a:r>
          </a:p>
        </p:txBody>
      </p:sp>
      <p:sp>
        <p:nvSpPr>
          <p:cNvPr id="98" name="Rectangle 97"/>
          <p:cNvSpPr/>
          <p:nvPr/>
        </p:nvSpPr>
        <p:spPr>
          <a:xfrm>
            <a:off x="10433418"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433418"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41</a:t>
            </a:r>
          </a:p>
        </p:txBody>
      </p:sp>
      <p:sp>
        <p:nvSpPr>
          <p:cNvPr id="100" name="Rectangle 99"/>
          <p:cNvSpPr/>
          <p:nvPr/>
        </p:nvSpPr>
        <p:spPr>
          <a:xfrm>
            <a:off x="1083663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836630"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47</a:t>
            </a:r>
          </a:p>
        </p:txBody>
      </p:sp>
      <p:sp>
        <p:nvSpPr>
          <p:cNvPr id="102" name="Rectangle 101"/>
          <p:cNvSpPr/>
          <p:nvPr/>
        </p:nvSpPr>
        <p:spPr>
          <a:xfrm>
            <a:off x="1123984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239842"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45</a:t>
            </a:r>
          </a:p>
        </p:txBody>
      </p:sp>
      <p:sp>
        <p:nvSpPr>
          <p:cNvPr id="104" name="TextBox 103"/>
          <p:cNvSpPr txBox="1"/>
          <p:nvPr/>
        </p:nvSpPr>
        <p:spPr>
          <a:xfrm>
            <a:off x="548640" y="2148840"/>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Alta X 22</a:t>
            </a:r>
          </a:p>
        </p:txBody>
      </p:sp>
      <p:sp>
        <p:nvSpPr>
          <p:cNvPr id="105" name="Rectangle 104"/>
          <p:cNvSpPr/>
          <p:nvPr/>
        </p:nvSpPr>
        <p:spPr>
          <a:xfrm>
            <a:off x="1965960"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2369172"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2772384"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3175596"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3578809"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982021"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4385233"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788446"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191658"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594870"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5998083"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6401295"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6804507"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7207719"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7610932"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8014144"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417356"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8820569"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223781"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9626993"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0030206"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0433418"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836630"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239842"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48640" y="2496312"/>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Type 1 at 30</a:t>
            </a:r>
          </a:p>
        </p:txBody>
      </p:sp>
      <p:sp>
        <p:nvSpPr>
          <p:cNvPr id="130" name="Rectangle 129"/>
          <p:cNvSpPr/>
          <p:nvPr/>
        </p:nvSpPr>
        <p:spPr>
          <a:xfrm>
            <a:off x="1965960"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2369172"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2772384"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3175596"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3578809"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3982021"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4385233"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4788446"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5191658"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5594870"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998083"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6401295"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6804507"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7207719"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7610932"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8014144"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8417356"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8820569"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9223781"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9626993"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10030206"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10433418"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10836630"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1239842"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48640" y="2843784"/>
            <a:ext cx="1371600" cy="329184"/>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Map age h</a:t>
            </a:r>
          </a:p>
        </p:txBody>
      </p:sp>
      <p:sp>
        <p:nvSpPr>
          <p:cNvPr id="155" name="TextBox 154"/>
          <p:cNvSpPr txBox="1"/>
          <p:nvPr/>
        </p:nvSpPr>
        <p:spPr>
          <a:xfrm>
            <a:off x="196596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56" name="TextBox 155"/>
          <p:cNvSpPr txBox="1"/>
          <p:nvPr/>
        </p:nvSpPr>
        <p:spPr>
          <a:xfrm>
            <a:off x="236917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57" name="TextBox 156"/>
          <p:cNvSpPr txBox="1"/>
          <p:nvPr/>
        </p:nvSpPr>
        <p:spPr>
          <a:xfrm>
            <a:off x="2772384"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58" name="TextBox 157"/>
          <p:cNvSpPr txBox="1"/>
          <p:nvPr/>
        </p:nvSpPr>
        <p:spPr>
          <a:xfrm>
            <a:off x="317559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0</a:t>
            </a:r>
          </a:p>
        </p:txBody>
      </p:sp>
      <p:sp>
        <p:nvSpPr>
          <p:cNvPr id="159" name="TextBox 158"/>
          <p:cNvSpPr txBox="1"/>
          <p:nvPr/>
        </p:nvSpPr>
        <p:spPr>
          <a:xfrm>
            <a:off x="357880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a:t>
            </a:r>
          </a:p>
        </p:txBody>
      </p:sp>
      <p:sp>
        <p:nvSpPr>
          <p:cNvPr id="160" name="TextBox 159"/>
          <p:cNvSpPr txBox="1"/>
          <p:nvPr/>
        </p:nvSpPr>
        <p:spPr>
          <a:xfrm>
            <a:off x="3982021"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a:t>
            </a:r>
          </a:p>
        </p:txBody>
      </p:sp>
      <p:sp>
        <p:nvSpPr>
          <p:cNvPr id="161" name="TextBox 160"/>
          <p:cNvSpPr txBox="1"/>
          <p:nvPr/>
        </p:nvSpPr>
        <p:spPr>
          <a:xfrm>
            <a:off x="438523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3</a:t>
            </a:r>
          </a:p>
        </p:txBody>
      </p:sp>
      <p:sp>
        <p:nvSpPr>
          <p:cNvPr id="162" name="TextBox 161"/>
          <p:cNvSpPr txBox="1"/>
          <p:nvPr/>
        </p:nvSpPr>
        <p:spPr>
          <a:xfrm>
            <a:off x="478844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4</a:t>
            </a:r>
          </a:p>
        </p:txBody>
      </p:sp>
      <p:sp>
        <p:nvSpPr>
          <p:cNvPr id="163" name="TextBox 162"/>
          <p:cNvSpPr txBox="1"/>
          <p:nvPr/>
        </p:nvSpPr>
        <p:spPr>
          <a:xfrm>
            <a:off x="5191658"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5</a:t>
            </a:r>
          </a:p>
        </p:txBody>
      </p:sp>
      <p:sp>
        <p:nvSpPr>
          <p:cNvPr id="164" name="TextBox 163"/>
          <p:cNvSpPr txBox="1"/>
          <p:nvPr/>
        </p:nvSpPr>
        <p:spPr>
          <a:xfrm>
            <a:off x="559487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6</a:t>
            </a:r>
          </a:p>
        </p:txBody>
      </p:sp>
      <p:sp>
        <p:nvSpPr>
          <p:cNvPr id="165" name="TextBox 164"/>
          <p:cNvSpPr txBox="1"/>
          <p:nvPr/>
        </p:nvSpPr>
        <p:spPr>
          <a:xfrm>
            <a:off x="599808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a:t>
            </a:r>
          </a:p>
        </p:txBody>
      </p:sp>
      <p:sp>
        <p:nvSpPr>
          <p:cNvPr id="166" name="TextBox 165"/>
          <p:cNvSpPr txBox="1"/>
          <p:nvPr/>
        </p:nvSpPr>
        <p:spPr>
          <a:xfrm>
            <a:off x="6401295"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a:t>
            </a:r>
          </a:p>
        </p:txBody>
      </p:sp>
      <p:sp>
        <p:nvSpPr>
          <p:cNvPr id="167" name="TextBox 166"/>
          <p:cNvSpPr txBox="1"/>
          <p:nvPr/>
        </p:nvSpPr>
        <p:spPr>
          <a:xfrm>
            <a:off x="6804507"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3</a:t>
            </a:r>
          </a:p>
        </p:txBody>
      </p:sp>
      <p:sp>
        <p:nvSpPr>
          <p:cNvPr id="168" name="TextBox 167"/>
          <p:cNvSpPr txBox="1"/>
          <p:nvPr/>
        </p:nvSpPr>
        <p:spPr>
          <a:xfrm>
            <a:off x="720771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4</a:t>
            </a:r>
          </a:p>
        </p:txBody>
      </p:sp>
      <p:sp>
        <p:nvSpPr>
          <p:cNvPr id="169" name="TextBox 168"/>
          <p:cNvSpPr txBox="1"/>
          <p:nvPr/>
        </p:nvSpPr>
        <p:spPr>
          <a:xfrm>
            <a:off x="761093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5</a:t>
            </a:r>
          </a:p>
        </p:txBody>
      </p:sp>
      <p:sp>
        <p:nvSpPr>
          <p:cNvPr id="170" name="TextBox 169"/>
          <p:cNvSpPr txBox="1"/>
          <p:nvPr/>
        </p:nvSpPr>
        <p:spPr>
          <a:xfrm>
            <a:off x="8014144"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6</a:t>
            </a:r>
          </a:p>
        </p:txBody>
      </p:sp>
      <p:sp>
        <p:nvSpPr>
          <p:cNvPr id="171" name="TextBox 170"/>
          <p:cNvSpPr txBox="1"/>
          <p:nvPr/>
        </p:nvSpPr>
        <p:spPr>
          <a:xfrm>
            <a:off x="841735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7</a:t>
            </a:r>
          </a:p>
        </p:txBody>
      </p:sp>
      <p:sp>
        <p:nvSpPr>
          <p:cNvPr id="172" name="TextBox 171"/>
          <p:cNvSpPr txBox="1"/>
          <p:nvPr/>
        </p:nvSpPr>
        <p:spPr>
          <a:xfrm>
            <a:off x="882056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8</a:t>
            </a:r>
          </a:p>
        </p:txBody>
      </p:sp>
      <p:sp>
        <p:nvSpPr>
          <p:cNvPr id="173" name="TextBox 172"/>
          <p:cNvSpPr txBox="1"/>
          <p:nvPr/>
        </p:nvSpPr>
        <p:spPr>
          <a:xfrm>
            <a:off x="9223781"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9</a:t>
            </a:r>
          </a:p>
        </p:txBody>
      </p:sp>
      <p:sp>
        <p:nvSpPr>
          <p:cNvPr id="174" name="TextBox 173"/>
          <p:cNvSpPr txBox="1"/>
          <p:nvPr/>
        </p:nvSpPr>
        <p:spPr>
          <a:xfrm>
            <a:off x="962699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10</a:t>
            </a:r>
          </a:p>
        </p:txBody>
      </p:sp>
      <p:sp>
        <p:nvSpPr>
          <p:cNvPr id="175" name="TextBox 174"/>
          <p:cNvSpPr txBox="1"/>
          <p:nvPr/>
        </p:nvSpPr>
        <p:spPr>
          <a:xfrm>
            <a:off x="1003020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11</a:t>
            </a:r>
          </a:p>
        </p:txBody>
      </p:sp>
      <p:sp>
        <p:nvSpPr>
          <p:cNvPr id="176" name="TextBox 175"/>
          <p:cNvSpPr txBox="1"/>
          <p:nvPr/>
        </p:nvSpPr>
        <p:spPr>
          <a:xfrm>
            <a:off x="10433418"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12</a:t>
            </a:r>
          </a:p>
        </p:txBody>
      </p:sp>
      <p:sp>
        <p:nvSpPr>
          <p:cNvPr id="177" name="TextBox 176"/>
          <p:cNvSpPr txBox="1"/>
          <p:nvPr/>
        </p:nvSpPr>
        <p:spPr>
          <a:xfrm>
            <a:off x="1083663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13</a:t>
            </a:r>
          </a:p>
        </p:txBody>
      </p:sp>
      <p:sp>
        <p:nvSpPr>
          <p:cNvPr id="178" name="TextBox 177"/>
          <p:cNvSpPr txBox="1"/>
          <p:nvPr/>
        </p:nvSpPr>
        <p:spPr>
          <a:xfrm>
            <a:off x="1123984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14</a:t>
            </a:r>
          </a:p>
        </p:txBody>
      </p:sp>
      <p:sp>
        <p:nvSpPr>
          <p:cNvPr id="179" name="TextBox 178"/>
          <p:cNvSpPr txBox="1"/>
          <p:nvPr/>
        </p:nvSpPr>
        <p:spPr>
          <a:xfrm>
            <a:off x="548640" y="3227832"/>
            <a:ext cx="1371600" cy="56692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Drone task</a:t>
            </a:r>
          </a:p>
        </p:txBody>
      </p:sp>
      <p:sp>
        <p:nvSpPr>
          <p:cNvPr id="180" name="Rounded Rectangle 179"/>
          <p:cNvSpPr/>
          <p:nvPr/>
        </p:nvSpPr>
        <p:spPr>
          <a:xfrm>
            <a:off x="1965960" y="3227832"/>
            <a:ext cx="375780" cy="566928"/>
          </a:xfrm>
          <a:prstGeom prst="roundRect">
            <a:avLst>
              <a:gd name="adj" fmla="val 6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2011679" y="3246120"/>
            <a:ext cx="293484" cy="530352"/>
          </a:xfrm>
          <a:prstGeom prst="rect">
            <a:avLst/>
          </a:prstGeom>
          <a:noFill/>
        </p:spPr>
        <p:txBody>
          <a:bodyPr wrap="square" anchor="ctr" lIns="0" rIns="0" tIns="0" bIns="0">
            <a:spAutoFit/>
          </a:bodyPr>
          <a:lstStyle/>
          <a:p>
            <a:pPr algn="l">
              <a:spcAft>
                <a:spcPts val="400"/>
              </a:spcAft>
            </a:pPr>
            <a:r>
              <a:rPr sz="800" b="0">
                <a:solidFill>
                  <a:srgbClr val="FFFFFF"/>
                </a:solidFill>
                <a:latin typeface="Calibri"/>
              </a:rPr>
              <a:t>Initial attack</a:t>
            </a:r>
          </a:p>
        </p:txBody>
      </p:sp>
      <p:sp>
        <p:nvSpPr>
          <p:cNvPr id="182" name="Rounded Rectangle 181"/>
          <p:cNvSpPr/>
          <p:nvPr/>
        </p:nvSpPr>
        <p:spPr>
          <a:xfrm>
            <a:off x="2369172" y="3227832"/>
            <a:ext cx="778992" cy="566928"/>
          </a:xfrm>
          <a:prstGeom prst="roundRect">
            <a:avLst>
              <a:gd name="adj" fmla="val 6000"/>
            </a:avLst>
          </a:prstGeom>
          <a:solidFill>
            <a:srgbClr val="E86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2414892" y="3246120"/>
            <a:ext cx="696696" cy="530352"/>
          </a:xfrm>
          <a:prstGeom prst="rect">
            <a:avLst/>
          </a:prstGeom>
          <a:noFill/>
        </p:spPr>
        <p:txBody>
          <a:bodyPr wrap="square" anchor="ctr" lIns="0" rIns="0" tIns="0" bIns="0">
            <a:spAutoFit/>
          </a:bodyPr>
          <a:lstStyle/>
          <a:p>
            <a:pPr algn="l">
              <a:spcAft>
                <a:spcPts val="400"/>
              </a:spcAft>
            </a:pPr>
            <a:r>
              <a:rPr sz="800" b="0">
                <a:solidFill>
                  <a:srgbClr val="FFFFFF"/>
                </a:solidFill>
                <a:latin typeface="Calibri"/>
              </a:rPr>
              <a:t>Search ahead of the</a:t>
            </a:r>
          </a:p>
        </p:txBody>
      </p:sp>
      <p:sp>
        <p:nvSpPr>
          <p:cNvPr id="184" name="Rounded Rectangle 183"/>
          <p:cNvSpPr/>
          <p:nvPr/>
        </p:nvSpPr>
        <p:spPr>
          <a:xfrm>
            <a:off x="3175596" y="3227832"/>
            <a:ext cx="3601478" cy="566928"/>
          </a:xfrm>
          <a:prstGeom prst="roundRect">
            <a:avLst>
              <a:gd name="adj" fmla="val 6000"/>
            </a:avLst>
          </a:prstGeom>
          <a:solidFill>
            <a:srgbClr val="8E7B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3221316" y="3246120"/>
            <a:ext cx="3519182" cy="530352"/>
          </a:xfrm>
          <a:prstGeom prst="rect">
            <a:avLst/>
          </a:prstGeom>
          <a:noFill/>
        </p:spPr>
        <p:txBody>
          <a:bodyPr wrap="square" anchor="ctr" lIns="0" rIns="0" tIns="0" bIns="0">
            <a:spAutoFit/>
          </a:bodyPr>
          <a:lstStyle/>
          <a:p>
            <a:pPr algn="l">
              <a:spcAft>
                <a:spcPts val="400"/>
              </a:spcAft>
            </a:pPr>
            <a:r>
              <a:rPr sz="1000" b="0">
                <a:solidFill>
                  <a:srgbClr val="FFFFFF"/>
                </a:solidFill>
                <a:latin typeface="Calibri"/>
              </a:rPr>
              <a:t>Wide-area IR search downwind; confirm spots that threaten evacuation routes</a:t>
            </a:r>
          </a:p>
        </p:txBody>
      </p:sp>
      <p:sp>
        <p:nvSpPr>
          <p:cNvPr id="186" name="Rounded Rectangle 185"/>
          <p:cNvSpPr/>
          <p:nvPr/>
        </p:nvSpPr>
        <p:spPr>
          <a:xfrm>
            <a:off x="6804507" y="3227832"/>
            <a:ext cx="2391841" cy="566928"/>
          </a:xfrm>
          <a:prstGeom prst="roundRect">
            <a:avLst>
              <a:gd name="adj" fmla="val 6000"/>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6850227" y="3246120"/>
            <a:ext cx="2309545" cy="530352"/>
          </a:xfrm>
          <a:prstGeom prst="rect">
            <a:avLst/>
          </a:prstGeom>
          <a:noFill/>
        </p:spPr>
        <p:txBody>
          <a:bodyPr wrap="square" anchor="ctr" lIns="0" rIns="0" tIns="0" bIns="0">
            <a:spAutoFit/>
          </a:bodyPr>
          <a:lstStyle/>
          <a:p>
            <a:pPr algn="l">
              <a:spcAft>
                <a:spcPts val="400"/>
              </a:spcAft>
            </a:pPr>
            <a:r>
              <a:rPr sz="1000" b="0">
                <a:solidFill>
                  <a:srgbClr val="FFFFFF"/>
                </a:solidFill>
                <a:latin typeface="Calibri"/>
              </a:rPr>
              <a:t>Night IR search for spots outside the line; send positions to night operations</a:t>
            </a:r>
          </a:p>
        </p:txBody>
      </p:sp>
      <p:sp>
        <p:nvSpPr>
          <p:cNvPr id="188" name="Rounded Rectangle 187"/>
          <p:cNvSpPr/>
          <p:nvPr/>
        </p:nvSpPr>
        <p:spPr>
          <a:xfrm>
            <a:off x="9223781" y="3227832"/>
            <a:ext cx="2391841" cy="566928"/>
          </a:xfrm>
          <a:prstGeom prst="roundRect">
            <a:avLst>
              <a:gd name="adj" fmla="val 6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9269501" y="3246120"/>
            <a:ext cx="2309545" cy="530352"/>
          </a:xfrm>
          <a:prstGeom prst="rect">
            <a:avLst/>
          </a:prstGeom>
          <a:noFill/>
        </p:spPr>
        <p:txBody>
          <a:bodyPr wrap="square" anchor="ctr" lIns="0" rIns="0" tIns="0" bIns="0">
            <a:spAutoFit/>
          </a:bodyPr>
          <a:lstStyle/>
          <a:p>
            <a:pPr algn="l">
              <a:spcAft>
                <a:spcPts val="400"/>
              </a:spcAft>
            </a:pPr>
            <a:r>
              <a:rPr sz="1000" b="0">
                <a:solidFill>
                  <a:srgbClr val="FFFFFF"/>
                </a:solidFill>
                <a:latin typeface="Calibri"/>
              </a:rPr>
              <a:t>Night IR search; list confirmed spots for the morning briefing</a:t>
            </a:r>
          </a:p>
        </p:txBody>
      </p:sp>
      <p:sp>
        <p:nvSpPr>
          <p:cNvPr id="190" name="TextBox 189"/>
          <p:cNvSpPr txBox="1"/>
          <p:nvPr/>
        </p:nvSpPr>
        <p:spPr>
          <a:xfrm>
            <a:off x="548640" y="3913631"/>
            <a:ext cx="11064240" cy="228600"/>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Green: can fly by station gusts. Red: grounded. Dark hour cells: night (20:00 to 06:00). Map age: hours since the newest aircraft perimeter in the record.</a:t>
            </a:r>
          </a:p>
        </p:txBody>
      </p:sp>
      <p:sp>
        <p:nvSpPr>
          <p:cNvPr id="191" name="Rounded Rectangle 190"/>
          <p:cNvSpPr/>
          <p:nvPr/>
        </p:nvSpPr>
        <p:spPr>
          <a:xfrm>
            <a:off x="548640" y="4279392"/>
            <a:ext cx="6675120" cy="1984248"/>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731520" y="4370831"/>
            <a:ext cx="6309360" cy="274320"/>
          </a:xfrm>
          <a:prstGeom prst="rect">
            <a:avLst/>
          </a:prstGeom>
          <a:noFill/>
        </p:spPr>
        <p:txBody>
          <a:bodyPr wrap="square" anchor="t" lIns="0" rIns="0" tIns="0" bIns="0">
            <a:spAutoFit/>
          </a:bodyPr>
          <a:lstStyle/>
          <a:p>
            <a:pPr algn="l">
              <a:spcAft>
                <a:spcPts val="400"/>
              </a:spcAft>
            </a:pPr>
            <a:r>
              <a:rPr sz="1400" b="1">
                <a:solidFill>
                  <a:srgbClr val="1D2125"/>
                </a:solidFill>
                <a:latin typeface="Arial"/>
              </a:rPr>
              <a:t>What the records show</a:t>
            </a:r>
          </a:p>
        </p:txBody>
      </p:sp>
      <p:sp>
        <p:nvSpPr>
          <p:cNvPr id="193" name="TextBox 192"/>
          <p:cNvSpPr txBox="1"/>
          <p:nvPr/>
        </p:nvSpPr>
        <p:spPr>
          <a:xfrm>
            <a:off x="731520" y="4690872"/>
            <a:ext cx="6309360" cy="1527048"/>
          </a:xfrm>
          <a:prstGeom prst="rect">
            <a:avLst/>
          </a:prstGeom>
          <a:noFill/>
        </p:spPr>
        <p:txBody>
          <a:bodyPr wrap="square" anchor="t" lIns="0" rIns="0" tIns="0" bIns="0">
            <a:spAutoFit/>
          </a:bodyPr>
          <a:lstStyle/>
          <a:p>
            <a:pPr algn="l">
              <a:spcAft>
                <a:spcPts val="400"/>
              </a:spcAft>
            </a:pPr>
            <a:r>
              <a:rPr sz="1200" b="1">
                <a:solidFill>
                  <a:srgbClr val="1D2125"/>
                </a:solidFill>
                <a:latin typeface="Calibri"/>
              </a:rPr>
              <a:t>06:25  </a:t>
            </a:r>
            <a:r>
              <a:rPr sz="1200" b="0">
                <a:solidFill>
                  <a:srgbClr val="1D2125"/>
                </a:solidFill>
                <a:latin typeface="Calibri"/>
              </a:rPr>
              <a:t>First 911 call; 06:44 first engine reports about 35 mph wind; 06:45 second ignition</a:t>
            </a:r>
          </a:p>
          <a:p>
            <a:pPr algn="l">
              <a:spcAft>
                <a:spcPts val="400"/>
              </a:spcAft>
            </a:pPr>
            <a:r>
              <a:rPr sz="1200" b="1">
                <a:solidFill>
                  <a:srgbClr val="1D2125"/>
                </a:solidFill>
                <a:latin typeface="Calibri"/>
              </a:rPr>
              <a:t>07:10  </a:t>
            </a:r>
            <a:r>
              <a:rPr sz="1200" b="0">
                <a:solidFill>
                  <a:srgbClr val="1D2125"/>
                </a:solidFill>
                <a:latin typeface="Calibri"/>
              </a:rPr>
              <a:t>Engine estimate 200 to 300 ac; 07:37 Concow order; 07:50 first burnovers</a:t>
            </a:r>
          </a:p>
          <a:p>
            <a:pPr algn="l">
              <a:spcAft>
                <a:spcPts val="400"/>
              </a:spcAft>
            </a:pPr>
            <a:r>
              <a:rPr sz="1200" b="1">
                <a:solidFill>
                  <a:srgbClr val="1D2125"/>
                </a:solidFill>
                <a:latin typeface="Calibri"/>
              </a:rPr>
              <a:t>08:01  </a:t>
            </a:r>
            <a:r>
              <a:rPr sz="1200" b="0">
                <a:solidFill>
                  <a:srgbClr val="1D2125"/>
                </a:solidFill>
                <a:latin typeface="Calibri"/>
              </a:rPr>
              <a:t>Air attack: 'fire is now in Paradise', about 2,000 ac</a:t>
            </a:r>
          </a:p>
          <a:p>
            <a:pPr algn="l">
              <a:spcAft>
                <a:spcPts val="400"/>
              </a:spcAft>
            </a:pPr>
            <a:r>
              <a:rPr sz="1200" b="1">
                <a:solidFill>
                  <a:srgbClr val="1D2125"/>
                </a:solidFill>
                <a:latin typeface="Calibri"/>
              </a:rPr>
              <a:t>09:54  </a:t>
            </a:r>
            <a:r>
              <a:rPr sz="1200" b="0">
                <a:solidFill>
                  <a:srgbClr val="1D2125"/>
                </a:solidFill>
                <a:latin typeface="Calibri"/>
              </a:rPr>
              <a:t>First aircraft perimeter: 54,586 ac</a:t>
            </a:r>
          </a:p>
          <a:p>
            <a:pPr algn="l">
              <a:spcAft>
                <a:spcPts val="400"/>
              </a:spcAft>
            </a:pPr>
            <a:r>
              <a:rPr sz="1200" b="1">
                <a:solidFill>
                  <a:srgbClr val="1D2125"/>
                </a:solidFill>
                <a:latin typeface="Calibri"/>
              </a:rPr>
              <a:t>Night  </a:t>
            </a:r>
            <a:r>
              <a:rPr sz="1200" b="0">
                <a:solidFill>
                  <a:srgbClr val="1D2125"/>
                </a:solidFill>
                <a:latin typeface="Calibri"/>
              </a:rPr>
              <a:t>Camp night gusts grounded an Alta X in 38% of night hours</a:t>
            </a:r>
          </a:p>
        </p:txBody>
      </p:sp>
      <p:sp>
        <p:nvSpPr>
          <p:cNvPr id="194" name="Rounded Rectangle 193"/>
          <p:cNvSpPr/>
          <p:nvPr/>
        </p:nvSpPr>
        <p:spPr>
          <a:xfrm>
            <a:off x="7406640" y="4279392"/>
            <a:ext cx="4206240" cy="1984248"/>
          </a:xfrm>
          <a:prstGeom prst="roundRect">
            <a:avLst>
              <a:gd name="adj" fmla="val 6000"/>
            </a:avLst>
          </a:prstGeom>
          <a:solidFill>
            <a:srgbClr val="1D2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7589520" y="4370831"/>
            <a:ext cx="3840480" cy="274320"/>
          </a:xfrm>
          <a:prstGeom prst="rect">
            <a:avLst/>
          </a:prstGeom>
          <a:noFill/>
        </p:spPr>
        <p:txBody>
          <a:bodyPr wrap="square" anchor="t" lIns="0" rIns="0" tIns="0" bIns="0">
            <a:spAutoFit/>
          </a:bodyPr>
          <a:lstStyle/>
          <a:p>
            <a:pPr algn="l">
              <a:spcAft>
                <a:spcPts val="400"/>
              </a:spcAft>
            </a:pPr>
            <a:r>
              <a:rPr sz="1400" b="1">
                <a:solidFill>
                  <a:srgbClr val="E9A821"/>
                </a:solidFill>
                <a:latin typeface="Arial"/>
              </a:rPr>
              <a:t>Quantified uncertainty</a:t>
            </a:r>
          </a:p>
        </p:txBody>
      </p:sp>
      <p:sp>
        <p:nvSpPr>
          <p:cNvPr id="196" name="TextBox 195"/>
          <p:cNvSpPr txBox="1"/>
          <p:nvPr/>
        </p:nvSpPr>
        <p:spPr>
          <a:xfrm>
            <a:off x="7589520" y="4690872"/>
            <a:ext cx="3840480" cy="1527048"/>
          </a:xfrm>
          <a:prstGeom prst="rect">
            <a:avLst/>
          </a:prstGeom>
          <a:noFill/>
        </p:spPr>
        <p:txBody>
          <a:bodyPr wrap="square" anchor="t" lIns="0" rIns="0" tIns="0" bIns="0">
            <a:spAutoFit/>
          </a:bodyPr>
          <a:lstStyle/>
          <a:p>
            <a:pPr algn="l">
              <a:spcAft>
                <a:spcPts val="400"/>
              </a:spcAft>
            </a:pPr>
            <a:r>
              <a:rPr sz="1300" b="0">
                <a:solidFill>
                  <a:srgbClr val="FFFFFF"/>
                </a:solidFill>
                <a:latin typeface="Calibri"/>
              </a:rPr>
              <a:t>E[T] = R/2 + R (1 - q)/q, q = p x Pd. Read on gusts: Alta X 779 min, SwitchBlade-Elite 145 min, Type 1 at 30 mph 58 min, against 85.</a:t>
            </a:r>
          </a:p>
          <a:p>
            <a:pPr algn="l">
              <a:spcAft>
                <a:spcPts val="400"/>
              </a:spcAft>
            </a:pPr>
            <a:r>
              <a:rPr sz="1100" b="0">
                <a:solidFill>
                  <a:srgbClr val="E1E4E8"/>
                </a:solidFill>
                <a:latin typeface="Calibri"/>
              </a:rPr>
              <a:t>Pd has no operational record yet; v1.1 runs 50%, 80% and 95%.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229600" cy="274320"/>
          </a:xfrm>
          <a:prstGeom prst="rect">
            <a:avLst/>
          </a:prstGeom>
          <a:noFill/>
        </p:spPr>
        <p:txBody>
          <a:bodyPr wrap="square" anchor="t" lIns="0" rIns="0" tIns="0" bIns="0">
            <a:spAutoFit/>
          </a:bodyPr>
          <a:lstStyle/>
          <a:p>
            <a:pPr algn="l">
              <a:spcAft>
                <a:spcPts val="400"/>
              </a:spcAft>
            </a:pPr>
            <a:r>
              <a:rPr sz="1200" b="1">
                <a:solidFill>
                  <a:srgbClr val="E8642F"/>
                </a:solidFill>
                <a:latin typeface="Arial"/>
              </a:rPr>
              <a:t>M3  |  FIREFIGHTER SAFETY  |  BOTTOM LINE</a:t>
            </a:r>
          </a:p>
        </p:txBody>
      </p:sp>
      <p:sp>
        <p:nvSpPr>
          <p:cNvPr id="3" name="TextBox 2"/>
          <p:cNvSpPr txBox="1"/>
          <p:nvPr/>
        </p:nvSpPr>
        <p:spPr>
          <a:xfrm>
            <a:off x="548640" y="566928"/>
            <a:ext cx="11064240" cy="685800"/>
          </a:xfrm>
          <a:prstGeom prst="rect">
            <a:avLst/>
          </a:prstGeom>
          <a:noFill/>
        </p:spPr>
        <p:txBody>
          <a:bodyPr wrap="square" anchor="t" lIns="0" rIns="0" tIns="0" bIns="0">
            <a:spAutoFit/>
          </a:bodyPr>
          <a:lstStyle/>
          <a:p>
            <a:pPr algn="l">
              <a:spcAft>
                <a:spcPts val="400"/>
              </a:spcAft>
            </a:pPr>
            <a:r>
              <a:rPr sz="2800" b="1">
                <a:solidFill>
                  <a:srgbClr val="1D2125"/>
                </a:solidFill>
                <a:latin typeface="Arial"/>
              </a:rPr>
              <a:t>Crew safety: the chance the fire wins, P(M &lt; 0)</a:t>
            </a:r>
          </a:p>
        </p:txBody>
      </p:sp>
      <p:sp>
        <p:nvSpPr>
          <p:cNvPr id="4" name="TextBox 3"/>
          <p:cNvSpPr txBox="1"/>
          <p:nvPr/>
        </p:nvSpPr>
        <p:spPr>
          <a:xfrm>
            <a:off x="548640" y="6446520"/>
            <a:ext cx="9144000" cy="256032"/>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NASA Aerial Wildfire Project  |  ACERO Disaster Lab  |  Mission UQ v1.1  |  20 October 2026</a:t>
            </a:r>
          </a:p>
        </p:txBody>
      </p:sp>
      <p:sp>
        <p:nvSpPr>
          <p:cNvPr id="5" name="TextBox 4"/>
          <p:cNvSpPr txBox="1"/>
          <p:nvPr/>
        </p:nvSpPr>
        <p:spPr>
          <a:xfrm>
            <a:off x="11155680" y="6446520"/>
            <a:ext cx="502920" cy="256032"/>
          </a:xfrm>
          <a:prstGeom prst="rect">
            <a:avLst/>
          </a:prstGeom>
          <a:noFill/>
        </p:spPr>
        <p:txBody>
          <a:bodyPr wrap="square" anchor="t" lIns="0" rIns="0" tIns="0" bIns="0">
            <a:spAutoFit/>
          </a:bodyPr>
          <a:lstStyle/>
          <a:p>
            <a:pPr algn="r">
              <a:spcAft>
                <a:spcPts val="400"/>
              </a:spcAft>
            </a:pPr>
            <a:r>
              <a:rPr sz="1000" b="0">
                <a:solidFill>
                  <a:srgbClr val="6B7480"/>
                </a:solidFill>
                <a:latin typeface="Calibri"/>
              </a:rPr>
              <a:t>6</a:t>
            </a:r>
          </a:p>
        </p:txBody>
      </p:sp>
      <p:sp>
        <p:nvSpPr>
          <p:cNvPr id="6" name="Rounded Rectangle 5"/>
          <p:cNvSpPr/>
          <p:nvPr/>
        </p:nvSpPr>
        <p:spPr>
          <a:xfrm>
            <a:off x="548640"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3108960" cy="777240"/>
          </a:xfrm>
          <a:prstGeom prst="rect">
            <a:avLst/>
          </a:prstGeom>
          <a:noFill/>
        </p:spPr>
        <p:txBody>
          <a:bodyPr wrap="square" anchor="b" lIns="0" rIns="0" tIns="0" bIns="0">
            <a:spAutoFit/>
          </a:bodyPr>
          <a:lstStyle/>
          <a:p>
            <a:pPr algn="l">
              <a:spcAft>
                <a:spcPts val="400"/>
              </a:spcAft>
            </a:pPr>
            <a:r>
              <a:rPr sz="3400" b="1">
                <a:solidFill>
                  <a:srgbClr val="18A878"/>
                </a:solidFill>
                <a:latin typeface="Arial"/>
              </a:rPr>
              <a:t>10%</a:t>
            </a:r>
          </a:p>
        </p:txBody>
      </p:sp>
      <p:sp>
        <p:nvSpPr>
          <p:cNvPr id="8" name="TextBox 7"/>
          <p:cNvSpPr txBox="1"/>
          <p:nvPr/>
        </p:nvSpPr>
        <p:spPr>
          <a:xfrm>
            <a:off x="777240"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P(M &lt; 0) at Camp's first burnovers, 45 min escape, Alta X overwatch, limit read on sustained wind</a:t>
            </a:r>
          </a:p>
        </p:txBody>
      </p:sp>
      <p:sp>
        <p:nvSpPr>
          <p:cNvPr id="9" name="Rounded Rectangle 8"/>
          <p:cNvSpPr/>
          <p:nvPr/>
        </p:nvSpPr>
        <p:spPr>
          <a:xfrm>
            <a:off x="4297679"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00200"/>
            <a:ext cx="3108960" cy="777240"/>
          </a:xfrm>
          <a:prstGeom prst="rect">
            <a:avLst/>
          </a:prstGeom>
          <a:noFill/>
        </p:spPr>
        <p:txBody>
          <a:bodyPr wrap="square" anchor="b" lIns="0" rIns="0" tIns="0" bIns="0">
            <a:spAutoFit/>
          </a:bodyPr>
          <a:lstStyle/>
          <a:p>
            <a:pPr algn="l">
              <a:spcAft>
                <a:spcPts val="400"/>
              </a:spcAft>
            </a:pPr>
            <a:r>
              <a:rPr sz="3400" b="1">
                <a:solidFill>
                  <a:srgbClr val="C8402A"/>
                </a:solidFill>
                <a:latin typeface="Arial"/>
              </a:rPr>
              <a:t>91%</a:t>
            </a:r>
          </a:p>
        </p:txBody>
      </p:sp>
      <p:sp>
        <p:nvSpPr>
          <p:cNvPr id="11" name="TextBox 10"/>
          <p:cNvSpPr txBox="1"/>
          <p:nvPr/>
        </p:nvSpPr>
        <p:spPr>
          <a:xfrm>
            <a:off x="4526279"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Same case with the limit read on gusts: the drone is grounded most of the morning</a:t>
            </a:r>
          </a:p>
        </p:txBody>
      </p:sp>
      <p:sp>
        <p:nvSpPr>
          <p:cNvPr id="12" name="Rounded Rectangle 11"/>
          <p:cNvSpPr/>
          <p:nvPr/>
        </p:nvSpPr>
        <p:spPr>
          <a:xfrm>
            <a:off x="8046719"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1600200"/>
            <a:ext cx="3108960" cy="777240"/>
          </a:xfrm>
          <a:prstGeom prst="rect">
            <a:avLst/>
          </a:prstGeom>
          <a:noFill/>
        </p:spPr>
        <p:txBody>
          <a:bodyPr wrap="square" anchor="b" lIns="0" rIns="0" tIns="0" bIns="0">
            <a:spAutoFit/>
          </a:bodyPr>
          <a:lstStyle/>
          <a:p>
            <a:pPr algn="l">
              <a:spcAft>
                <a:spcPts val="400"/>
              </a:spcAft>
            </a:pPr>
            <a:r>
              <a:rPr sz="3400" b="1">
                <a:solidFill>
                  <a:srgbClr val="E8642F"/>
                </a:solidFill>
                <a:latin typeface="Arial"/>
              </a:rPr>
              <a:t>21%</a:t>
            </a:r>
          </a:p>
        </p:txBody>
      </p:sp>
      <p:sp>
        <p:nvSpPr>
          <p:cNvPr id="14" name="TextBox 13"/>
          <p:cNvSpPr txBox="1"/>
          <p:nvPr/>
        </p:nvSpPr>
        <p:spPr>
          <a:xfrm>
            <a:off x="8275319"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Carr 26 July, every drone flyable: risk left from a missed pass, relay retries and egress</a:t>
            </a:r>
          </a:p>
        </p:txBody>
      </p:sp>
      <p:sp>
        <p:nvSpPr>
          <p:cNvPr id="15" name="Rounded Rectangle 14"/>
          <p:cNvSpPr/>
          <p:nvPr/>
        </p:nvSpPr>
        <p:spPr>
          <a:xfrm>
            <a:off x="548640" y="3840480"/>
            <a:ext cx="5394960" cy="23774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950208"/>
            <a:ext cx="4937760" cy="320040"/>
          </a:xfrm>
          <a:prstGeom prst="rect">
            <a:avLst/>
          </a:prstGeom>
          <a:noFill/>
        </p:spPr>
        <p:txBody>
          <a:bodyPr wrap="square" anchor="t" lIns="0" rIns="0" tIns="0" bIns="0">
            <a:spAutoFit/>
          </a:bodyPr>
          <a:lstStyle/>
          <a:p>
            <a:pPr algn="l">
              <a:spcAft>
                <a:spcPts val="400"/>
              </a:spcAft>
            </a:pPr>
            <a:r>
              <a:rPr sz="1500" b="1">
                <a:solidFill>
                  <a:srgbClr val="1D2125"/>
                </a:solidFill>
                <a:latin typeface="Arial"/>
              </a:rPr>
              <a:t>Who uses it</a:t>
            </a:r>
          </a:p>
        </p:txBody>
      </p:sp>
      <p:sp>
        <p:nvSpPr>
          <p:cNvPr id="17" name="TextBox 16"/>
          <p:cNvSpPr txBox="1"/>
          <p:nvPr/>
        </p:nvSpPr>
        <p:spPr>
          <a:xfrm>
            <a:off x="777240" y="4343400"/>
            <a:ext cx="4937760" cy="1828800"/>
          </a:xfrm>
          <a:prstGeom prst="rect">
            <a:avLst/>
          </a:prstGeom>
          <a:noFill/>
        </p:spPr>
        <p:txBody>
          <a:bodyPr wrap="square" anchor="t" lIns="0" rIns="0" tIns="0" bIns="0">
            <a:spAutoFit/>
          </a:bodyPr>
          <a:lstStyle/>
          <a:p>
            <a:pPr algn="l">
              <a:spcAft>
                <a:spcPts val="400"/>
              </a:spcAft>
            </a:pPr>
            <a:r>
              <a:rPr sz="1300" b="1">
                <a:solidFill>
                  <a:srgbClr val="1D2125"/>
                </a:solidFill>
                <a:latin typeface="Calibri"/>
              </a:rPr>
              <a:t>Crews, lookouts, crew bosses: </a:t>
            </a:r>
            <a:r>
              <a:rPr sz="1300" b="0">
                <a:solidFill>
                  <a:srgbClr val="1D2125"/>
                </a:solidFill>
                <a:latin typeface="Calibri"/>
              </a:rPr>
              <a:t>a warning must arrive with more time than the escape takes.</a:t>
            </a:r>
          </a:p>
          <a:p>
            <a:pPr algn="l">
              <a:spcAft>
                <a:spcPts val="400"/>
              </a:spcAft>
            </a:pPr>
            <a:r>
              <a:rPr sz="1300" b="1">
                <a:solidFill>
                  <a:srgbClr val="1D2125"/>
                </a:solidFill>
                <a:latin typeface="Calibri"/>
              </a:rPr>
              <a:t>Division supervisors, safety officer: </a:t>
            </a:r>
            <a:r>
              <a:rPr sz="1300" b="0">
                <a:solidFill>
                  <a:srgbClr val="1D2125"/>
                </a:solidFill>
                <a:latin typeface="Calibri"/>
              </a:rPr>
              <a:t>trigger points, escape routes, safety zones.</a:t>
            </a:r>
          </a:p>
          <a:p>
            <a:pPr algn="l">
              <a:spcAft>
                <a:spcPts val="400"/>
              </a:spcAft>
            </a:pPr>
            <a:r>
              <a:rPr sz="1300" b="1">
                <a:solidFill>
                  <a:srgbClr val="1D2125"/>
                </a:solidFill>
                <a:latin typeface="Calibri"/>
              </a:rPr>
              <a:t>Incident commander: </a:t>
            </a:r>
            <a:r>
              <a:rPr sz="1300" b="0">
                <a:solidFill>
                  <a:srgbClr val="1D2125"/>
                </a:solidFill>
                <a:latin typeface="Calibri"/>
              </a:rPr>
              <a:t>commit or pull a crew.</a:t>
            </a:r>
          </a:p>
        </p:txBody>
      </p:sp>
      <p:sp>
        <p:nvSpPr>
          <p:cNvPr id="18" name="Rounded Rectangle 17"/>
          <p:cNvSpPr/>
          <p:nvPr/>
        </p:nvSpPr>
        <p:spPr>
          <a:xfrm>
            <a:off x="6126479" y="3840480"/>
            <a:ext cx="5486400" cy="23774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9" y="3950208"/>
            <a:ext cx="5029200" cy="320040"/>
          </a:xfrm>
          <a:prstGeom prst="rect">
            <a:avLst/>
          </a:prstGeom>
          <a:noFill/>
        </p:spPr>
        <p:txBody>
          <a:bodyPr wrap="square" anchor="t" lIns="0" rIns="0" tIns="0" bIns="0">
            <a:spAutoFit/>
          </a:bodyPr>
          <a:lstStyle/>
          <a:p>
            <a:pPr algn="l">
              <a:spcAft>
                <a:spcPts val="400"/>
              </a:spcAft>
            </a:pPr>
            <a:r>
              <a:rPr sz="1500" b="1">
                <a:solidFill>
                  <a:srgbClr val="1D2125"/>
                </a:solidFill>
                <a:latin typeface="Arial"/>
              </a:rPr>
              <a:t>Drone types and parameters</a:t>
            </a:r>
          </a:p>
        </p:txBody>
      </p:sp>
      <p:sp>
        <p:nvSpPr>
          <p:cNvPr id="20" name="TextBox 19"/>
          <p:cNvSpPr txBox="1"/>
          <p:nvPr/>
        </p:nvSpPr>
        <p:spPr>
          <a:xfrm>
            <a:off x="6355079" y="4343400"/>
            <a:ext cx="5029200" cy="1828800"/>
          </a:xfrm>
          <a:prstGeom prst="rect">
            <a:avLst/>
          </a:prstGeom>
          <a:noFill/>
        </p:spPr>
        <p:txBody>
          <a:bodyPr wrap="square" anchor="t" lIns="0" rIns="0" tIns="0" bIns="0">
            <a:spAutoFit/>
          </a:bodyPr>
          <a:lstStyle/>
          <a:p>
            <a:pPr algn="l">
              <a:spcAft>
                <a:spcPts val="400"/>
              </a:spcAft>
            </a:pPr>
            <a:r>
              <a:rPr sz="1200" b="1">
                <a:solidFill>
                  <a:srgbClr val="1D2125"/>
                </a:solidFill>
                <a:latin typeface="Calibri"/>
              </a:rPr>
              <a:t>FVR-90: </a:t>
            </a:r>
            <a:r>
              <a:rPr sz="1200" b="0">
                <a:solidFill>
                  <a:srgbClr val="1D2125"/>
                </a:solidFill>
                <a:latin typeface="Calibri"/>
              </a:rPr>
              <a:t>overwatch and airborne relay (TCL 1)</a:t>
            </a:r>
          </a:p>
          <a:p>
            <a:pPr algn="l">
              <a:spcAft>
                <a:spcPts val="400"/>
              </a:spcAft>
            </a:pPr>
            <a:r>
              <a:rPr sz="1200" b="1">
                <a:solidFill>
                  <a:srgbClr val="1D2125"/>
                </a:solidFill>
                <a:latin typeface="Calibri"/>
              </a:rPr>
              <a:t>SuperVolo: </a:t>
            </a:r>
            <a:r>
              <a:rPr sz="1200" b="0">
                <a:solidFill>
                  <a:srgbClr val="1D2125"/>
                </a:solidFill>
                <a:latin typeface="Calibri"/>
              </a:rPr>
              <a:t>relay behind terrain</a:t>
            </a:r>
          </a:p>
          <a:p>
            <a:pPr algn="l">
              <a:spcAft>
                <a:spcPts val="400"/>
              </a:spcAft>
            </a:pPr>
            <a:r>
              <a:rPr sz="1200" b="1">
                <a:solidFill>
                  <a:srgbClr val="1D2125"/>
                </a:solidFill>
                <a:latin typeface="Calibri"/>
              </a:rPr>
              <a:t>Alta X: </a:t>
            </a:r>
            <a:r>
              <a:rPr sz="1200" b="0">
                <a:solidFill>
                  <a:srgbClr val="1D2125"/>
                </a:solidFill>
                <a:latin typeface="Calibri"/>
              </a:rPr>
              <a:t>escape routes, safety zones, landing zones</a:t>
            </a:r>
          </a:p>
          <a:p>
            <a:pPr algn="l">
              <a:spcAft>
                <a:spcPts val="400"/>
              </a:spcAft>
            </a:pPr>
            <a:r>
              <a:rPr sz="1200" b="1">
                <a:solidFill>
                  <a:srgbClr val="1D2125"/>
                </a:solidFill>
                <a:latin typeface="Calibri"/>
              </a:rPr>
              <a:t>Matrice 200 v2: </a:t>
            </a:r>
            <a:r>
              <a:rPr sz="1200" b="0">
                <a:solidFill>
                  <a:srgbClr val="1D2125"/>
                </a:solidFill>
                <a:latin typeface="Calibri"/>
              </a:rPr>
              <a:t>local wind profiles for trigger points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229600" cy="274320"/>
          </a:xfrm>
          <a:prstGeom prst="rect">
            <a:avLst/>
          </a:prstGeom>
          <a:noFill/>
        </p:spPr>
        <p:txBody>
          <a:bodyPr wrap="square" anchor="t" lIns="0" rIns="0" tIns="0" bIns="0">
            <a:spAutoFit/>
          </a:bodyPr>
          <a:lstStyle/>
          <a:p>
            <a:pPr algn="l">
              <a:spcAft>
                <a:spcPts val="400"/>
              </a:spcAft>
            </a:pPr>
            <a:r>
              <a:rPr sz="1200" b="1">
                <a:solidFill>
                  <a:srgbClr val="E8642F"/>
                </a:solidFill>
                <a:latin typeface="Arial"/>
              </a:rPr>
              <a:t>M3  |  FIREFIGHTER SAFETY  |  HOUR BY HOUR</a:t>
            </a:r>
          </a:p>
        </p:txBody>
      </p:sp>
      <p:sp>
        <p:nvSpPr>
          <p:cNvPr id="3" name="TextBox 2"/>
          <p:cNvSpPr txBox="1"/>
          <p:nvPr/>
        </p:nvSpPr>
        <p:spPr>
          <a:xfrm>
            <a:off x="548640" y="566928"/>
            <a:ext cx="11064240" cy="685800"/>
          </a:xfrm>
          <a:prstGeom prst="rect">
            <a:avLst/>
          </a:prstGeom>
          <a:noFill/>
        </p:spPr>
        <p:txBody>
          <a:bodyPr wrap="square" anchor="t" lIns="0" rIns="0" tIns="0" bIns="0">
            <a:spAutoFit/>
          </a:bodyPr>
          <a:lstStyle/>
          <a:p>
            <a:pPr algn="l">
              <a:spcAft>
                <a:spcPts val="400"/>
              </a:spcAft>
            </a:pPr>
            <a:r>
              <a:rPr sz="2800" b="1">
                <a:solidFill>
                  <a:srgbClr val="1D2125"/>
                </a:solidFill>
                <a:latin typeface="Arial"/>
              </a:rPr>
              <a:t>Camp, 8 November: every crew hazard came before the record</a:t>
            </a:r>
          </a:p>
        </p:txBody>
      </p:sp>
      <p:sp>
        <p:nvSpPr>
          <p:cNvPr id="4" name="TextBox 3"/>
          <p:cNvSpPr txBox="1"/>
          <p:nvPr/>
        </p:nvSpPr>
        <p:spPr>
          <a:xfrm>
            <a:off x="548640" y="6446520"/>
            <a:ext cx="9144000" cy="256032"/>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NASA Aerial Wildfire Project  |  ACERO Disaster Lab  |  Mission UQ v1.1  |  20 October 2026</a:t>
            </a:r>
          </a:p>
        </p:txBody>
      </p:sp>
      <p:sp>
        <p:nvSpPr>
          <p:cNvPr id="5" name="TextBox 4"/>
          <p:cNvSpPr txBox="1"/>
          <p:nvPr/>
        </p:nvSpPr>
        <p:spPr>
          <a:xfrm>
            <a:off x="11155680" y="6446520"/>
            <a:ext cx="502920" cy="256032"/>
          </a:xfrm>
          <a:prstGeom prst="rect">
            <a:avLst/>
          </a:prstGeom>
          <a:noFill/>
        </p:spPr>
        <p:txBody>
          <a:bodyPr wrap="square" anchor="t" lIns="0" rIns="0" tIns="0" bIns="0">
            <a:spAutoFit/>
          </a:bodyPr>
          <a:lstStyle/>
          <a:p>
            <a:pPr algn="r">
              <a:spcAft>
                <a:spcPts val="400"/>
              </a:spcAft>
            </a:pPr>
            <a:r>
              <a:rPr sz="1000" b="0">
                <a:solidFill>
                  <a:srgbClr val="6B7480"/>
                </a:solidFill>
                <a:latin typeface="Calibri"/>
              </a:rPr>
              <a:t>7</a:t>
            </a:r>
          </a:p>
        </p:txBody>
      </p:sp>
      <p:sp>
        <p:nvSpPr>
          <p:cNvPr id="6" name="TextBox 5"/>
          <p:cNvSpPr txBox="1"/>
          <p:nvPr/>
        </p:nvSpPr>
        <p:spPr>
          <a:xfrm>
            <a:off x="548640" y="1417320"/>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Hour</a:t>
            </a:r>
          </a:p>
        </p:txBody>
      </p:sp>
      <p:sp>
        <p:nvSpPr>
          <p:cNvPr id="7" name="Rectangle 6"/>
          <p:cNvSpPr/>
          <p:nvPr/>
        </p:nvSpPr>
        <p:spPr>
          <a:xfrm>
            <a:off x="1965960"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06</a:t>
            </a:r>
          </a:p>
        </p:txBody>
      </p:sp>
      <p:sp>
        <p:nvSpPr>
          <p:cNvPr id="9" name="Rectangle 8"/>
          <p:cNvSpPr/>
          <p:nvPr/>
        </p:nvSpPr>
        <p:spPr>
          <a:xfrm>
            <a:off x="2369172"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69172"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07</a:t>
            </a:r>
          </a:p>
        </p:txBody>
      </p:sp>
      <p:sp>
        <p:nvSpPr>
          <p:cNvPr id="11" name="Rectangle 10"/>
          <p:cNvSpPr/>
          <p:nvPr/>
        </p:nvSpPr>
        <p:spPr>
          <a:xfrm>
            <a:off x="2772384"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72384"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08</a:t>
            </a:r>
          </a:p>
        </p:txBody>
      </p:sp>
      <p:sp>
        <p:nvSpPr>
          <p:cNvPr id="13" name="Rectangle 12"/>
          <p:cNvSpPr/>
          <p:nvPr/>
        </p:nvSpPr>
        <p:spPr>
          <a:xfrm>
            <a:off x="3175596"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75596"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09</a:t>
            </a:r>
          </a:p>
        </p:txBody>
      </p:sp>
      <p:sp>
        <p:nvSpPr>
          <p:cNvPr id="15" name="Rectangle 14"/>
          <p:cNvSpPr/>
          <p:nvPr/>
        </p:nvSpPr>
        <p:spPr>
          <a:xfrm>
            <a:off x="3578809"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8809"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10</a:t>
            </a:r>
          </a:p>
        </p:txBody>
      </p:sp>
      <p:sp>
        <p:nvSpPr>
          <p:cNvPr id="17" name="Rectangle 16"/>
          <p:cNvSpPr/>
          <p:nvPr/>
        </p:nvSpPr>
        <p:spPr>
          <a:xfrm>
            <a:off x="3982021"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82021"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11</a:t>
            </a:r>
          </a:p>
        </p:txBody>
      </p:sp>
      <p:sp>
        <p:nvSpPr>
          <p:cNvPr id="19" name="Rectangle 18"/>
          <p:cNvSpPr/>
          <p:nvPr/>
        </p:nvSpPr>
        <p:spPr>
          <a:xfrm>
            <a:off x="4385233"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5233"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12</a:t>
            </a:r>
          </a:p>
        </p:txBody>
      </p:sp>
      <p:sp>
        <p:nvSpPr>
          <p:cNvPr id="21" name="Rectangle 20"/>
          <p:cNvSpPr/>
          <p:nvPr/>
        </p:nvSpPr>
        <p:spPr>
          <a:xfrm>
            <a:off x="4788446"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88446"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13</a:t>
            </a:r>
          </a:p>
        </p:txBody>
      </p:sp>
      <p:sp>
        <p:nvSpPr>
          <p:cNvPr id="23" name="Rectangle 22"/>
          <p:cNvSpPr/>
          <p:nvPr/>
        </p:nvSpPr>
        <p:spPr>
          <a:xfrm>
            <a:off x="5191658"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1658"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14</a:t>
            </a:r>
          </a:p>
        </p:txBody>
      </p:sp>
      <p:sp>
        <p:nvSpPr>
          <p:cNvPr id="25" name="Rectangle 24"/>
          <p:cNvSpPr/>
          <p:nvPr/>
        </p:nvSpPr>
        <p:spPr>
          <a:xfrm>
            <a:off x="5594870"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94870"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15</a:t>
            </a:r>
          </a:p>
        </p:txBody>
      </p:sp>
      <p:sp>
        <p:nvSpPr>
          <p:cNvPr id="27" name="Rectangle 26"/>
          <p:cNvSpPr/>
          <p:nvPr/>
        </p:nvSpPr>
        <p:spPr>
          <a:xfrm>
            <a:off x="5998083"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98083"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16</a:t>
            </a:r>
          </a:p>
        </p:txBody>
      </p:sp>
      <p:sp>
        <p:nvSpPr>
          <p:cNvPr id="29" name="Rectangle 28"/>
          <p:cNvSpPr/>
          <p:nvPr/>
        </p:nvSpPr>
        <p:spPr>
          <a:xfrm>
            <a:off x="6401295"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1295"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17</a:t>
            </a:r>
          </a:p>
        </p:txBody>
      </p:sp>
      <p:sp>
        <p:nvSpPr>
          <p:cNvPr id="31" name="Rectangle 30"/>
          <p:cNvSpPr/>
          <p:nvPr/>
        </p:nvSpPr>
        <p:spPr>
          <a:xfrm>
            <a:off x="6804507"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04507"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18</a:t>
            </a:r>
          </a:p>
        </p:txBody>
      </p:sp>
      <p:sp>
        <p:nvSpPr>
          <p:cNvPr id="33" name="Rectangle 32"/>
          <p:cNvSpPr/>
          <p:nvPr/>
        </p:nvSpPr>
        <p:spPr>
          <a:xfrm>
            <a:off x="7207719"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7719"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19</a:t>
            </a:r>
          </a:p>
        </p:txBody>
      </p:sp>
      <p:sp>
        <p:nvSpPr>
          <p:cNvPr id="35" name="Rectangle 34"/>
          <p:cNvSpPr/>
          <p:nvPr/>
        </p:nvSpPr>
        <p:spPr>
          <a:xfrm>
            <a:off x="7610932"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10932"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20</a:t>
            </a:r>
          </a:p>
        </p:txBody>
      </p:sp>
      <p:sp>
        <p:nvSpPr>
          <p:cNvPr id="37" name="Rectangle 36"/>
          <p:cNvSpPr/>
          <p:nvPr/>
        </p:nvSpPr>
        <p:spPr>
          <a:xfrm>
            <a:off x="8014144"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14144"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21</a:t>
            </a:r>
          </a:p>
        </p:txBody>
      </p:sp>
      <p:sp>
        <p:nvSpPr>
          <p:cNvPr id="39" name="Rectangle 38"/>
          <p:cNvSpPr/>
          <p:nvPr/>
        </p:nvSpPr>
        <p:spPr>
          <a:xfrm>
            <a:off x="8417356"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7356"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22</a:t>
            </a:r>
          </a:p>
        </p:txBody>
      </p:sp>
      <p:sp>
        <p:nvSpPr>
          <p:cNvPr id="41" name="Rectangle 40"/>
          <p:cNvSpPr/>
          <p:nvPr/>
        </p:nvSpPr>
        <p:spPr>
          <a:xfrm>
            <a:off x="8820569"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20569"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23</a:t>
            </a:r>
          </a:p>
        </p:txBody>
      </p:sp>
      <p:sp>
        <p:nvSpPr>
          <p:cNvPr id="43" name="Rectangle 42"/>
          <p:cNvSpPr/>
          <p:nvPr/>
        </p:nvSpPr>
        <p:spPr>
          <a:xfrm>
            <a:off x="9223781"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23781"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00</a:t>
            </a:r>
          </a:p>
        </p:txBody>
      </p:sp>
      <p:sp>
        <p:nvSpPr>
          <p:cNvPr id="45" name="Rectangle 44"/>
          <p:cNvSpPr/>
          <p:nvPr/>
        </p:nvSpPr>
        <p:spPr>
          <a:xfrm>
            <a:off x="9626993"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26993"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01</a:t>
            </a:r>
          </a:p>
        </p:txBody>
      </p:sp>
      <p:sp>
        <p:nvSpPr>
          <p:cNvPr id="47" name="Rectangle 46"/>
          <p:cNvSpPr/>
          <p:nvPr/>
        </p:nvSpPr>
        <p:spPr>
          <a:xfrm>
            <a:off x="10030206"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30206"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02</a:t>
            </a:r>
          </a:p>
        </p:txBody>
      </p:sp>
      <p:sp>
        <p:nvSpPr>
          <p:cNvPr id="49" name="Rectangle 48"/>
          <p:cNvSpPr/>
          <p:nvPr/>
        </p:nvSpPr>
        <p:spPr>
          <a:xfrm>
            <a:off x="10433418"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3418"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03</a:t>
            </a:r>
          </a:p>
        </p:txBody>
      </p:sp>
      <p:sp>
        <p:nvSpPr>
          <p:cNvPr id="51" name="Rectangle 50"/>
          <p:cNvSpPr/>
          <p:nvPr/>
        </p:nvSpPr>
        <p:spPr>
          <a:xfrm>
            <a:off x="10836630"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836630"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04</a:t>
            </a:r>
          </a:p>
        </p:txBody>
      </p:sp>
      <p:sp>
        <p:nvSpPr>
          <p:cNvPr id="53" name="Rectangle 52"/>
          <p:cNvSpPr/>
          <p:nvPr/>
        </p:nvSpPr>
        <p:spPr>
          <a:xfrm>
            <a:off x="11239842"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239842"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05</a:t>
            </a:r>
          </a:p>
        </p:txBody>
      </p:sp>
      <p:sp>
        <p:nvSpPr>
          <p:cNvPr id="55" name="TextBox 54"/>
          <p:cNvSpPr txBox="1"/>
          <p:nvPr/>
        </p:nvSpPr>
        <p:spPr>
          <a:xfrm>
            <a:off x="548640" y="1764792"/>
            <a:ext cx="1371600" cy="329184"/>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Gust mph</a:t>
            </a:r>
          </a:p>
        </p:txBody>
      </p:sp>
      <p:sp>
        <p:nvSpPr>
          <p:cNvPr id="56" name="Rectangle 55"/>
          <p:cNvSpPr/>
          <p:nvPr/>
        </p:nvSpPr>
        <p:spPr>
          <a:xfrm>
            <a:off x="196596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965960"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40</a:t>
            </a:r>
          </a:p>
        </p:txBody>
      </p:sp>
      <p:sp>
        <p:nvSpPr>
          <p:cNvPr id="58" name="Rectangle 57"/>
          <p:cNvSpPr/>
          <p:nvPr/>
        </p:nvSpPr>
        <p:spPr>
          <a:xfrm>
            <a:off x="236917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69172"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28</a:t>
            </a:r>
          </a:p>
        </p:txBody>
      </p:sp>
      <p:sp>
        <p:nvSpPr>
          <p:cNvPr id="60" name="Rectangle 59"/>
          <p:cNvSpPr/>
          <p:nvPr/>
        </p:nvSpPr>
        <p:spPr>
          <a:xfrm>
            <a:off x="2772384"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2384"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25</a:t>
            </a:r>
          </a:p>
        </p:txBody>
      </p:sp>
      <p:sp>
        <p:nvSpPr>
          <p:cNvPr id="62" name="Rectangle 61"/>
          <p:cNvSpPr/>
          <p:nvPr/>
        </p:nvSpPr>
        <p:spPr>
          <a:xfrm>
            <a:off x="317559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175596"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21</a:t>
            </a:r>
          </a:p>
        </p:txBody>
      </p:sp>
      <p:sp>
        <p:nvSpPr>
          <p:cNvPr id="64" name="Rectangle 63"/>
          <p:cNvSpPr/>
          <p:nvPr/>
        </p:nvSpPr>
        <p:spPr>
          <a:xfrm>
            <a:off x="357880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578809"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30</a:t>
            </a:r>
          </a:p>
        </p:txBody>
      </p:sp>
      <p:sp>
        <p:nvSpPr>
          <p:cNvPr id="66" name="Rectangle 65"/>
          <p:cNvSpPr/>
          <p:nvPr/>
        </p:nvSpPr>
        <p:spPr>
          <a:xfrm>
            <a:off x="3982021"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982021"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29</a:t>
            </a:r>
          </a:p>
        </p:txBody>
      </p:sp>
      <p:sp>
        <p:nvSpPr>
          <p:cNvPr id="68" name="Rectangle 67"/>
          <p:cNvSpPr/>
          <p:nvPr/>
        </p:nvSpPr>
        <p:spPr>
          <a:xfrm>
            <a:off x="438523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385233"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33</a:t>
            </a:r>
          </a:p>
        </p:txBody>
      </p:sp>
      <p:sp>
        <p:nvSpPr>
          <p:cNvPr id="70" name="Rectangle 69"/>
          <p:cNvSpPr/>
          <p:nvPr/>
        </p:nvSpPr>
        <p:spPr>
          <a:xfrm>
            <a:off x="478844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88446"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32</a:t>
            </a:r>
          </a:p>
        </p:txBody>
      </p:sp>
      <p:sp>
        <p:nvSpPr>
          <p:cNvPr id="72" name="Rectangle 71"/>
          <p:cNvSpPr/>
          <p:nvPr/>
        </p:nvSpPr>
        <p:spPr>
          <a:xfrm>
            <a:off x="5191658"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91658"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24</a:t>
            </a:r>
          </a:p>
        </p:txBody>
      </p:sp>
      <p:sp>
        <p:nvSpPr>
          <p:cNvPr id="74" name="Rectangle 73"/>
          <p:cNvSpPr/>
          <p:nvPr/>
        </p:nvSpPr>
        <p:spPr>
          <a:xfrm>
            <a:off x="559487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594870"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28</a:t>
            </a:r>
          </a:p>
        </p:txBody>
      </p:sp>
      <p:sp>
        <p:nvSpPr>
          <p:cNvPr id="76" name="Rectangle 75"/>
          <p:cNvSpPr/>
          <p:nvPr/>
        </p:nvSpPr>
        <p:spPr>
          <a:xfrm>
            <a:off x="599808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998083"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25</a:t>
            </a:r>
          </a:p>
        </p:txBody>
      </p:sp>
      <p:sp>
        <p:nvSpPr>
          <p:cNvPr id="78" name="Rectangle 77"/>
          <p:cNvSpPr/>
          <p:nvPr/>
        </p:nvSpPr>
        <p:spPr>
          <a:xfrm>
            <a:off x="6401295"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01295"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23</a:t>
            </a:r>
          </a:p>
        </p:txBody>
      </p:sp>
      <p:sp>
        <p:nvSpPr>
          <p:cNvPr id="80" name="Rectangle 79"/>
          <p:cNvSpPr/>
          <p:nvPr/>
        </p:nvSpPr>
        <p:spPr>
          <a:xfrm>
            <a:off x="6804507"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804507"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27</a:t>
            </a:r>
          </a:p>
        </p:txBody>
      </p:sp>
      <p:sp>
        <p:nvSpPr>
          <p:cNvPr id="82" name="Rectangle 81"/>
          <p:cNvSpPr/>
          <p:nvPr/>
        </p:nvSpPr>
        <p:spPr>
          <a:xfrm>
            <a:off x="720771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207719"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30</a:t>
            </a:r>
          </a:p>
        </p:txBody>
      </p:sp>
      <p:sp>
        <p:nvSpPr>
          <p:cNvPr id="84" name="Rectangle 83"/>
          <p:cNvSpPr/>
          <p:nvPr/>
        </p:nvSpPr>
        <p:spPr>
          <a:xfrm>
            <a:off x="761093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610932"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34</a:t>
            </a:r>
          </a:p>
        </p:txBody>
      </p:sp>
      <p:sp>
        <p:nvSpPr>
          <p:cNvPr id="86" name="Rectangle 85"/>
          <p:cNvSpPr/>
          <p:nvPr/>
        </p:nvSpPr>
        <p:spPr>
          <a:xfrm>
            <a:off x="8014144"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014144"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36</a:t>
            </a:r>
          </a:p>
        </p:txBody>
      </p:sp>
      <p:sp>
        <p:nvSpPr>
          <p:cNvPr id="88" name="Rectangle 87"/>
          <p:cNvSpPr/>
          <p:nvPr/>
        </p:nvSpPr>
        <p:spPr>
          <a:xfrm>
            <a:off x="841735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417356"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39</a:t>
            </a:r>
          </a:p>
        </p:txBody>
      </p:sp>
      <p:sp>
        <p:nvSpPr>
          <p:cNvPr id="90" name="Rectangle 89"/>
          <p:cNvSpPr/>
          <p:nvPr/>
        </p:nvSpPr>
        <p:spPr>
          <a:xfrm>
            <a:off x="882056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820569"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43</a:t>
            </a:r>
          </a:p>
        </p:txBody>
      </p:sp>
      <p:sp>
        <p:nvSpPr>
          <p:cNvPr id="92" name="Rectangle 91"/>
          <p:cNvSpPr/>
          <p:nvPr/>
        </p:nvSpPr>
        <p:spPr>
          <a:xfrm>
            <a:off x="9223781"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223781"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48</a:t>
            </a:r>
          </a:p>
        </p:txBody>
      </p:sp>
      <p:sp>
        <p:nvSpPr>
          <p:cNvPr id="94" name="Rectangle 93"/>
          <p:cNvSpPr/>
          <p:nvPr/>
        </p:nvSpPr>
        <p:spPr>
          <a:xfrm>
            <a:off x="962699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626993"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45</a:t>
            </a:r>
          </a:p>
        </p:txBody>
      </p:sp>
      <p:sp>
        <p:nvSpPr>
          <p:cNvPr id="96" name="Rectangle 95"/>
          <p:cNvSpPr/>
          <p:nvPr/>
        </p:nvSpPr>
        <p:spPr>
          <a:xfrm>
            <a:off x="1003020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030206"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48</a:t>
            </a:r>
          </a:p>
        </p:txBody>
      </p:sp>
      <p:sp>
        <p:nvSpPr>
          <p:cNvPr id="98" name="Rectangle 97"/>
          <p:cNvSpPr/>
          <p:nvPr/>
        </p:nvSpPr>
        <p:spPr>
          <a:xfrm>
            <a:off x="10433418"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433418"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41</a:t>
            </a:r>
          </a:p>
        </p:txBody>
      </p:sp>
      <p:sp>
        <p:nvSpPr>
          <p:cNvPr id="100" name="Rectangle 99"/>
          <p:cNvSpPr/>
          <p:nvPr/>
        </p:nvSpPr>
        <p:spPr>
          <a:xfrm>
            <a:off x="1083663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836630"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47</a:t>
            </a:r>
          </a:p>
        </p:txBody>
      </p:sp>
      <p:sp>
        <p:nvSpPr>
          <p:cNvPr id="102" name="Rectangle 101"/>
          <p:cNvSpPr/>
          <p:nvPr/>
        </p:nvSpPr>
        <p:spPr>
          <a:xfrm>
            <a:off x="1123984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239842"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45</a:t>
            </a:r>
          </a:p>
        </p:txBody>
      </p:sp>
      <p:sp>
        <p:nvSpPr>
          <p:cNvPr id="104" name="TextBox 103"/>
          <p:cNvSpPr txBox="1"/>
          <p:nvPr/>
        </p:nvSpPr>
        <p:spPr>
          <a:xfrm>
            <a:off x="548640" y="2148840"/>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Alta X 22</a:t>
            </a:r>
          </a:p>
        </p:txBody>
      </p:sp>
      <p:sp>
        <p:nvSpPr>
          <p:cNvPr id="105" name="Rectangle 104"/>
          <p:cNvSpPr/>
          <p:nvPr/>
        </p:nvSpPr>
        <p:spPr>
          <a:xfrm>
            <a:off x="1965960"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2369172"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2772384"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3175596"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3578809"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982021"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4385233"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788446"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191658"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594870"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5998083"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6401295"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6804507"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7207719"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7610932"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8014144"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417356"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8820569"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223781"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9626993"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0030206"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0433418"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836630"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239842"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48640" y="2496312"/>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Type 1 at 30</a:t>
            </a:r>
          </a:p>
        </p:txBody>
      </p:sp>
      <p:sp>
        <p:nvSpPr>
          <p:cNvPr id="130" name="Rectangle 129"/>
          <p:cNvSpPr/>
          <p:nvPr/>
        </p:nvSpPr>
        <p:spPr>
          <a:xfrm>
            <a:off x="1965960"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2369172"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2772384"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3175596"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3578809"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3982021"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4385233"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4788446"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5191658"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5594870"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998083"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6401295"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6804507"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7207719"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7610932"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8014144"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8417356"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8820569"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9223781"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9626993"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10030206"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10433418"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10836630"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1239842"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48640" y="2843784"/>
            <a:ext cx="1371600" cy="329184"/>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Map age h</a:t>
            </a:r>
          </a:p>
        </p:txBody>
      </p:sp>
      <p:sp>
        <p:nvSpPr>
          <p:cNvPr id="155" name="TextBox 154"/>
          <p:cNvSpPr txBox="1"/>
          <p:nvPr/>
        </p:nvSpPr>
        <p:spPr>
          <a:xfrm>
            <a:off x="196596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56" name="TextBox 155"/>
          <p:cNvSpPr txBox="1"/>
          <p:nvPr/>
        </p:nvSpPr>
        <p:spPr>
          <a:xfrm>
            <a:off x="236917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57" name="TextBox 156"/>
          <p:cNvSpPr txBox="1"/>
          <p:nvPr/>
        </p:nvSpPr>
        <p:spPr>
          <a:xfrm>
            <a:off x="2772384"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58" name="TextBox 157"/>
          <p:cNvSpPr txBox="1"/>
          <p:nvPr/>
        </p:nvSpPr>
        <p:spPr>
          <a:xfrm>
            <a:off x="317559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0</a:t>
            </a:r>
          </a:p>
        </p:txBody>
      </p:sp>
      <p:sp>
        <p:nvSpPr>
          <p:cNvPr id="159" name="TextBox 158"/>
          <p:cNvSpPr txBox="1"/>
          <p:nvPr/>
        </p:nvSpPr>
        <p:spPr>
          <a:xfrm>
            <a:off x="357880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a:t>
            </a:r>
          </a:p>
        </p:txBody>
      </p:sp>
      <p:sp>
        <p:nvSpPr>
          <p:cNvPr id="160" name="TextBox 159"/>
          <p:cNvSpPr txBox="1"/>
          <p:nvPr/>
        </p:nvSpPr>
        <p:spPr>
          <a:xfrm>
            <a:off x="3982021"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a:t>
            </a:r>
          </a:p>
        </p:txBody>
      </p:sp>
      <p:sp>
        <p:nvSpPr>
          <p:cNvPr id="161" name="TextBox 160"/>
          <p:cNvSpPr txBox="1"/>
          <p:nvPr/>
        </p:nvSpPr>
        <p:spPr>
          <a:xfrm>
            <a:off x="438523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3</a:t>
            </a:r>
          </a:p>
        </p:txBody>
      </p:sp>
      <p:sp>
        <p:nvSpPr>
          <p:cNvPr id="162" name="TextBox 161"/>
          <p:cNvSpPr txBox="1"/>
          <p:nvPr/>
        </p:nvSpPr>
        <p:spPr>
          <a:xfrm>
            <a:off x="478844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4</a:t>
            </a:r>
          </a:p>
        </p:txBody>
      </p:sp>
      <p:sp>
        <p:nvSpPr>
          <p:cNvPr id="163" name="TextBox 162"/>
          <p:cNvSpPr txBox="1"/>
          <p:nvPr/>
        </p:nvSpPr>
        <p:spPr>
          <a:xfrm>
            <a:off x="5191658"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5</a:t>
            </a:r>
          </a:p>
        </p:txBody>
      </p:sp>
      <p:sp>
        <p:nvSpPr>
          <p:cNvPr id="164" name="TextBox 163"/>
          <p:cNvSpPr txBox="1"/>
          <p:nvPr/>
        </p:nvSpPr>
        <p:spPr>
          <a:xfrm>
            <a:off x="559487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6</a:t>
            </a:r>
          </a:p>
        </p:txBody>
      </p:sp>
      <p:sp>
        <p:nvSpPr>
          <p:cNvPr id="165" name="TextBox 164"/>
          <p:cNvSpPr txBox="1"/>
          <p:nvPr/>
        </p:nvSpPr>
        <p:spPr>
          <a:xfrm>
            <a:off x="599808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a:t>
            </a:r>
          </a:p>
        </p:txBody>
      </p:sp>
      <p:sp>
        <p:nvSpPr>
          <p:cNvPr id="166" name="TextBox 165"/>
          <p:cNvSpPr txBox="1"/>
          <p:nvPr/>
        </p:nvSpPr>
        <p:spPr>
          <a:xfrm>
            <a:off x="6401295"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a:t>
            </a:r>
          </a:p>
        </p:txBody>
      </p:sp>
      <p:sp>
        <p:nvSpPr>
          <p:cNvPr id="167" name="TextBox 166"/>
          <p:cNvSpPr txBox="1"/>
          <p:nvPr/>
        </p:nvSpPr>
        <p:spPr>
          <a:xfrm>
            <a:off x="6804507"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3</a:t>
            </a:r>
          </a:p>
        </p:txBody>
      </p:sp>
      <p:sp>
        <p:nvSpPr>
          <p:cNvPr id="168" name="TextBox 167"/>
          <p:cNvSpPr txBox="1"/>
          <p:nvPr/>
        </p:nvSpPr>
        <p:spPr>
          <a:xfrm>
            <a:off x="720771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4</a:t>
            </a:r>
          </a:p>
        </p:txBody>
      </p:sp>
      <p:sp>
        <p:nvSpPr>
          <p:cNvPr id="169" name="TextBox 168"/>
          <p:cNvSpPr txBox="1"/>
          <p:nvPr/>
        </p:nvSpPr>
        <p:spPr>
          <a:xfrm>
            <a:off x="761093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5</a:t>
            </a:r>
          </a:p>
        </p:txBody>
      </p:sp>
      <p:sp>
        <p:nvSpPr>
          <p:cNvPr id="170" name="TextBox 169"/>
          <p:cNvSpPr txBox="1"/>
          <p:nvPr/>
        </p:nvSpPr>
        <p:spPr>
          <a:xfrm>
            <a:off x="8014144"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6</a:t>
            </a:r>
          </a:p>
        </p:txBody>
      </p:sp>
      <p:sp>
        <p:nvSpPr>
          <p:cNvPr id="171" name="TextBox 170"/>
          <p:cNvSpPr txBox="1"/>
          <p:nvPr/>
        </p:nvSpPr>
        <p:spPr>
          <a:xfrm>
            <a:off x="841735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7</a:t>
            </a:r>
          </a:p>
        </p:txBody>
      </p:sp>
      <p:sp>
        <p:nvSpPr>
          <p:cNvPr id="172" name="TextBox 171"/>
          <p:cNvSpPr txBox="1"/>
          <p:nvPr/>
        </p:nvSpPr>
        <p:spPr>
          <a:xfrm>
            <a:off x="882056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8</a:t>
            </a:r>
          </a:p>
        </p:txBody>
      </p:sp>
      <p:sp>
        <p:nvSpPr>
          <p:cNvPr id="173" name="TextBox 172"/>
          <p:cNvSpPr txBox="1"/>
          <p:nvPr/>
        </p:nvSpPr>
        <p:spPr>
          <a:xfrm>
            <a:off x="9223781"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9</a:t>
            </a:r>
          </a:p>
        </p:txBody>
      </p:sp>
      <p:sp>
        <p:nvSpPr>
          <p:cNvPr id="174" name="TextBox 173"/>
          <p:cNvSpPr txBox="1"/>
          <p:nvPr/>
        </p:nvSpPr>
        <p:spPr>
          <a:xfrm>
            <a:off x="962699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10</a:t>
            </a:r>
          </a:p>
        </p:txBody>
      </p:sp>
      <p:sp>
        <p:nvSpPr>
          <p:cNvPr id="175" name="TextBox 174"/>
          <p:cNvSpPr txBox="1"/>
          <p:nvPr/>
        </p:nvSpPr>
        <p:spPr>
          <a:xfrm>
            <a:off x="1003020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11</a:t>
            </a:r>
          </a:p>
        </p:txBody>
      </p:sp>
      <p:sp>
        <p:nvSpPr>
          <p:cNvPr id="176" name="TextBox 175"/>
          <p:cNvSpPr txBox="1"/>
          <p:nvPr/>
        </p:nvSpPr>
        <p:spPr>
          <a:xfrm>
            <a:off x="10433418"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12</a:t>
            </a:r>
          </a:p>
        </p:txBody>
      </p:sp>
      <p:sp>
        <p:nvSpPr>
          <p:cNvPr id="177" name="TextBox 176"/>
          <p:cNvSpPr txBox="1"/>
          <p:nvPr/>
        </p:nvSpPr>
        <p:spPr>
          <a:xfrm>
            <a:off x="1083663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13</a:t>
            </a:r>
          </a:p>
        </p:txBody>
      </p:sp>
      <p:sp>
        <p:nvSpPr>
          <p:cNvPr id="178" name="TextBox 177"/>
          <p:cNvSpPr txBox="1"/>
          <p:nvPr/>
        </p:nvSpPr>
        <p:spPr>
          <a:xfrm>
            <a:off x="1123984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14</a:t>
            </a:r>
          </a:p>
        </p:txBody>
      </p:sp>
      <p:sp>
        <p:nvSpPr>
          <p:cNvPr id="179" name="TextBox 178"/>
          <p:cNvSpPr txBox="1"/>
          <p:nvPr/>
        </p:nvSpPr>
        <p:spPr>
          <a:xfrm>
            <a:off x="548640" y="3227832"/>
            <a:ext cx="1371600" cy="56692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Drone task</a:t>
            </a:r>
          </a:p>
        </p:txBody>
      </p:sp>
      <p:sp>
        <p:nvSpPr>
          <p:cNvPr id="180" name="Rounded Rectangle 179"/>
          <p:cNvSpPr/>
          <p:nvPr/>
        </p:nvSpPr>
        <p:spPr>
          <a:xfrm>
            <a:off x="1965960" y="3227832"/>
            <a:ext cx="778992" cy="566928"/>
          </a:xfrm>
          <a:prstGeom prst="roundRect">
            <a:avLst>
              <a:gd name="adj" fmla="val 6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2011679" y="3246120"/>
            <a:ext cx="696696" cy="530352"/>
          </a:xfrm>
          <a:prstGeom prst="rect">
            <a:avLst/>
          </a:prstGeom>
          <a:noFill/>
        </p:spPr>
        <p:txBody>
          <a:bodyPr wrap="square" anchor="ctr" lIns="0" rIns="0" tIns="0" bIns="0">
            <a:spAutoFit/>
          </a:bodyPr>
          <a:lstStyle/>
          <a:p>
            <a:pPr algn="l">
              <a:spcAft>
                <a:spcPts val="400"/>
              </a:spcAft>
            </a:pPr>
            <a:r>
              <a:rPr sz="800" b="0">
                <a:solidFill>
                  <a:srgbClr val="FFFFFF"/>
                </a:solidFill>
                <a:latin typeface="Calibri"/>
              </a:rPr>
              <a:t>Watch crews and engines</a:t>
            </a:r>
          </a:p>
        </p:txBody>
      </p:sp>
      <p:sp>
        <p:nvSpPr>
          <p:cNvPr id="182" name="Rounded Rectangle 181"/>
          <p:cNvSpPr/>
          <p:nvPr/>
        </p:nvSpPr>
        <p:spPr>
          <a:xfrm>
            <a:off x="2772384" y="3227832"/>
            <a:ext cx="2391841" cy="566928"/>
          </a:xfrm>
          <a:prstGeom prst="roundRect">
            <a:avLst>
              <a:gd name="adj" fmla="val 6000"/>
            </a:avLst>
          </a:prstGeom>
          <a:solidFill>
            <a:srgbClr val="E86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2818104" y="3246120"/>
            <a:ext cx="2309545" cy="530352"/>
          </a:xfrm>
          <a:prstGeom prst="rect">
            <a:avLst/>
          </a:prstGeom>
          <a:noFill/>
        </p:spPr>
        <p:txBody>
          <a:bodyPr wrap="square" anchor="ctr" lIns="0" rIns="0" tIns="0" bIns="0">
            <a:spAutoFit/>
          </a:bodyPr>
          <a:lstStyle/>
          <a:p>
            <a:pPr algn="l">
              <a:spcAft>
                <a:spcPts val="400"/>
              </a:spcAft>
            </a:pPr>
            <a:r>
              <a:rPr sz="1000" b="0">
                <a:solidFill>
                  <a:srgbClr val="FFFFFF"/>
                </a:solidFill>
                <a:latin typeface="Calibri"/>
              </a:rPr>
              <a:t>Overwatch of crews in Paradise; mark safety zones and blocked routes; relay warnings</a:t>
            </a:r>
          </a:p>
        </p:txBody>
      </p:sp>
      <p:sp>
        <p:nvSpPr>
          <p:cNvPr id="184" name="Rounded Rectangle 183"/>
          <p:cNvSpPr/>
          <p:nvPr/>
        </p:nvSpPr>
        <p:spPr>
          <a:xfrm>
            <a:off x="5191658" y="3227832"/>
            <a:ext cx="778992" cy="566928"/>
          </a:xfrm>
          <a:prstGeom prst="roundRect">
            <a:avLst>
              <a:gd name="adj" fmla="val 6000"/>
            </a:avLst>
          </a:prstGeom>
          <a:solidFill>
            <a:srgbClr val="8E7B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5237378" y="3246120"/>
            <a:ext cx="696696" cy="530352"/>
          </a:xfrm>
          <a:prstGeom prst="rect">
            <a:avLst/>
          </a:prstGeom>
          <a:noFill/>
        </p:spPr>
        <p:txBody>
          <a:bodyPr wrap="square" anchor="ctr" lIns="0" rIns="0" tIns="0" bIns="0">
            <a:spAutoFit/>
          </a:bodyPr>
          <a:lstStyle/>
          <a:p>
            <a:pPr algn="l">
              <a:spcAft>
                <a:spcPts val="400"/>
              </a:spcAft>
            </a:pPr>
            <a:r>
              <a:rPr sz="800" b="0">
                <a:solidFill>
                  <a:srgbClr val="FFFFFF"/>
                </a:solidFill>
                <a:latin typeface="Calibri"/>
              </a:rPr>
              <a:t>Before and during firing</a:t>
            </a:r>
          </a:p>
        </p:txBody>
      </p:sp>
      <p:sp>
        <p:nvSpPr>
          <p:cNvPr id="186" name="Rounded Rectangle 185"/>
          <p:cNvSpPr/>
          <p:nvPr/>
        </p:nvSpPr>
        <p:spPr>
          <a:xfrm>
            <a:off x="5998083" y="3227832"/>
            <a:ext cx="1585417" cy="566928"/>
          </a:xfrm>
          <a:prstGeom prst="roundRect">
            <a:avLst>
              <a:gd name="adj" fmla="val 6000"/>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6043803" y="3246120"/>
            <a:ext cx="1503121" cy="530352"/>
          </a:xfrm>
          <a:prstGeom prst="rect">
            <a:avLst/>
          </a:prstGeom>
          <a:noFill/>
        </p:spPr>
        <p:txBody>
          <a:bodyPr wrap="square" anchor="ctr" lIns="0" rIns="0" tIns="0" bIns="0">
            <a:spAutoFit/>
          </a:bodyPr>
          <a:lstStyle/>
          <a:p>
            <a:pPr algn="l">
              <a:spcAft>
                <a:spcPts val="400"/>
              </a:spcAft>
            </a:pPr>
            <a:r>
              <a:rPr sz="900" b="0">
                <a:solidFill>
                  <a:srgbClr val="FFFFFF"/>
                </a:solidFill>
                <a:latin typeface="Calibri"/>
              </a:rPr>
              <a:t>Reassess safety zones and helicopter landing zones for the night</a:t>
            </a:r>
          </a:p>
        </p:txBody>
      </p:sp>
      <p:sp>
        <p:nvSpPr>
          <p:cNvPr id="188" name="Rounded Rectangle 187"/>
          <p:cNvSpPr/>
          <p:nvPr/>
        </p:nvSpPr>
        <p:spPr>
          <a:xfrm>
            <a:off x="7610932" y="3227832"/>
            <a:ext cx="1585417" cy="566928"/>
          </a:xfrm>
          <a:prstGeom prst="roundRect">
            <a:avLst>
              <a:gd name="adj" fmla="val 6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7656652" y="3246120"/>
            <a:ext cx="1503121" cy="530352"/>
          </a:xfrm>
          <a:prstGeom prst="rect">
            <a:avLst/>
          </a:prstGeom>
          <a:noFill/>
        </p:spPr>
        <p:txBody>
          <a:bodyPr wrap="square" anchor="ctr" lIns="0" rIns="0" tIns="0" bIns="0">
            <a:spAutoFit/>
          </a:bodyPr>
          <a:lstStyle/>
          <a:p>
            <a:pPr algn="l">
              <a:spcAft>
                <a:spcPts val="400"/>
              </a:spcAft>
            </a:pPr>
            <a:r>
              <a:rPr sz="900" b="0">
                <a:solidFill>
                  <a:srgbClr val="FFFFFF"/>
                </a:solidFill>
                <a:latin typeface="Calibri"/>
              </a:rPr>
              <a:t>Night overwatch of crews on the line; thermal view replaces the lookout</a:t>
            </a:r>
          </a:p>
        </p:txBody>
      </p:sp>
      <p:sp>
        <p:nvSpPr>
          <p:cNvPr id="190" name="Rounded Rectangle 189"/>
          <p:cNvSpPr/>
          <p:nvPr/>
        </p:nvSpPr>
        <p:spPr>
          <a:xfrm>
            <a:off x="9223781" y="3227832"/>
            <a:ext cx="2391841" cy="566928"/>
          </a:xfrm>
          <a:prstGeom prst="roundRect">
            <a:avLst>
              <a:gd name="adj" fmla="val 6000"/>
            </a:avLst>
          </a:prstGeom>
          <a:solidFill>
            <a:srgbClr val="E86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9269501" y="3246120"/>
            <a:ext cx="2309545" cy="530352"/>
          </a:xfrm>
          <a:prstGeom prst="rect">
            <a:avLst/>
          </a:prstGeom>
          <a:noFill/>
        </p:spPr>
        <p:txBody>
          <a:bodyPr wrap="square" anchor="ctr" lIns="0" rIns="0" tIns="0" bIns="0">
            <a:spAutoFit/>
          </a:bodyPr>
          <a:lstStyle/>
          <a:p>
            <a:pPr algn="l">
              <a:spcAft>
                <a:spcPts val="400"/>
              </a:spcAft>
            </a:pPr>
            <a:r>
              <a:rPr sz="1000" b="0">
                <a:solidFill>
                  <a:srgbClr val="FFFFFF"/>
                </a:solidFill>
                <a:latin typeface="Calibri"/>
              </a:rPr>
              <a:t>Night overwatch; confirm escape routes are open for the morning shift</a:t>
            </a:r>
          </a:p>
        </p:txBody>
      </p:sp>
      <p:sp>
        <p:nvSpPr>
          <p:cNvPr id="192" name="TextBox 191"/>
          <p:cNvSpPr txBox="1"/>
          <p:nvPr/>
        </p:nvSpPr>
        <p:spPr>
          <a:xfrm>
            <a:off x="548640" y="3913631"/>
            <a:ext cx="11064240" cy="228600"/>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Green: can fly by station gusts. Red: grounded. Dark hour cells: night (20:00 to 06:00). Map age: hours since the newest aircraft perimeter in the record.</a:t>
            </a:r>
          </a:p>
        </p:txBody>
      </p:sp>
      <p:sp>
        <p:nvSpPr>
          <p:cNvPr id="193" name="Rounded Rectangle 192"/>
          <p:cNvSpPr/>
          <p:nvPr/>
        </p:nvSpPr>
        <p:spPr>
          <a:xfrm>
            <a:off x="548640" y="4279392"/>
            <a:ext cx="6675120" cy="1984248"/>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731520" y="4370831"/>
            <a:ext cx="6309360" cy="274320"/>
          </a:xfrm>
          <a:prstGeom prst="rect">
            <a:avLst/>
          </a:prstGeom>
          <a:noFill/>
        </p:spPr>
        <p:txBody>
          <a:bodyPr wrap="square" anchor="t" lIns="0" rIns="0" tIns="0" bIns="0">
            <a:spAutoFit/>
          </a:bodyPr>
          <a:lstStyle/>
          <a:p>
            <a:pPr algn="l">
              <a:spcAft>
                <a:spcPts val="400"/>
              </a:spcAft>
            </a:pPr>
            <a:r>
              <a:rPr sz="1400" b="1">
                <a:solidFill>
                  <a:srgbClr val="1D2125"/>
                </a:solidFill>
                <a:latin typeface="Arial"/>
              </a:rPr>
              <a:t>What the records show</a:t>
            </a:r>
          </a:p>
        </p:txBody>
      </p:sp>
      <p:sp>
        <p:nvSpPr>
          <p:cNvPr id="195" name="TextBox 194"/>
          <p:cNvSpPr txBox="1"/>
          <p:nvPr/>
        </p:nvSpPr>
        <p:spPr>
          <a:xfrm>
            <a:off x="731520" y="4690872"/>
            <a:ext cx="6309360" cy="1527048"/>
          </a:xfrm>
          <a:prstGeom prst="rect">
            <a:avLst/>
          </a:prstGeom>
          <a:noFill/>
        </p:spPr>
        <p:txBody>
          <a:bodyPr wrap="square" anchor="t" lIns="0" rIns="0" tIns="0" bIns="0">
            <a:spAutoFit/>
          </a:bodyPr>
          <a:lstStyle/>
          <a:p>
            <a:pPr algn="l">
              <a:spcAft>
                <a:spcPts val="400"/>
              </a:spcAft>
            </a:pPr>
            <a:r>
              <a:rPr sz="1200" b="1">
                <a:solidFill>
                  <a:srgbClr val="1D2125"/>
                </a:solidFill>
                <a:latin typeface="Calibri"/>
              </a:rPr>
              <a:t>07:50  </a:t>
            </a:r>
            <a:r>
              <a:rPr sz="1200" b="0">
                <a:solidFill>
                  <a:srgbClr val="1D2125"/>
                </a:solidFill>
                <a:latin typeface="Calibri"/>
              </a:rPr>
              <a:t>First burnovers on Hoffman and Concow roads, 85 min after the first call</a:t>
            </a:r>
          </a:p>
          <a:p>
            <a:pPr algn="l">
              <a:spcAft>
                <a:spcPts val="400"/>
              </a:spcAft>
            </a:pPr>
            <a:r>
              <a:rPr sz="1200" b="1">
                <a:solidFill>
                  <a:srgbClr val="1D2125"/>
                </a:solidFill>
                <a:latin typeface="Calibri"/>
              </a:rPr>
              <a:t>14:15  </a:t>
            </a:r>
            <a:r>
              <a:rPr sz="1200" b="0">
                <a:solidFill>
                  <a:srgbClr val="1D2125"/>
                </a:solidFill>
                <a:latin typeface="Calibri"/>
              </a:rPr>
              <a:t>Firing operation on Rattlesnake Flats Rd; 14:45 wind shift to about 25 mph</a:t>
            </a:r>
          </a:p>
          <a:p>
            <a:pPr algn="l">
              <a:spcAft>
                <a:spcPts val="400"/>
              </a:spcAft>
            </a:pPr>
            <a:r>
              <a:rPr sz="1200" b="1">
                <a:solidFill>
                  <a:srgbClr val="1D2125"/>
                </a:solidFill>
                <a:latin typeface="Calibri"/>
              </a:rPr>
              <a:t>15:00  </a:t>
            </a:r>
            <a:r>
              <a:rPr sz="1200" b="0">
                <a:solidFill>
                  <a:srgbClr val="1D2125"/>
                </a:solidFill>
                <a:latin typeface="Calibri"/>
              </a:rPr>
              <a:t>Emergency traffic call unanswered (radio volume); 15:15 burnover</a:t>
            </a:r>
          </a:p>
          <a:p>
            <a:pPr algn="l">
              <a:spcAft>
                <a:spcPts val="400"/>
              </a:spcAft>
            </a:pPr>
            <a:r>
              <a:rPr sz="1200" b="1">
                <a:solidFill>
                  <a:srgbClr val="1D2125"/>
                </a:solidFill>
                <a:latin typeface="Calibri"/>
              </a:rPr>
              <a:t>18:30  </a:t>
            </a:r>
            <a:r>
              <a:rPr sz="1200" b="0">
                <a:solidFill>
                  <a:srgbClr val="1D2125"/>
                </a:solidFill>
                <a:latin typeface="Calibri"/>
              </a:rPr>
              <a:t>First ICS-209: 16,000 ac</a:t>
            </a:r>
          </a:p>
        </p:txBody>
      </p:sp>
      <p:sp>
        <p:nvSpPr>
          <p:cNvPr id="196" name="Rounded Rectangle 195"/>
          <p:cNvSpPr/>
          <p:nvPr/>
        </p:nvSpPr>
        <p:spPr>
          <a:xfrm>
            <a:off x="7406640" y="4279392"/>
            <a:ext cx="4206240" cy="1984248"/>
          </a:xfrm>
          <a:prstGeom prst="roundRect">
            <a:avLst>
              <a:gd name="adj" fmla="val 6000"/>
            </a:avLst>
          </a:prstGeom>
          <a:solidFill>
            <a:srgbClr val="1D2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7589520" y="4370831"/>
            <a:ext cx="3840480" cy="274320"/>
          </a:xfrm>
          <a:prstGeom prst="rect">
            <a:avLst/>
          </a:prstGeom>
          <a:noFill/>
        </p:spPr>
        <p:txBody>
          <a:bodyPr wrap="square" anchor="t" lIns="0" rIns="0" tIns="0" bIns="0">
            <a:spAutoFit/>
          </a:bodyPr>
          <a:lstStyle/>
          <a:p>
            <a:pPr algn="l">
              <a:spcAft>
                <a:spcPts val="400"/>
              </a:spcAft>
            </a:pPr>
            <a:r>
              <a:rPr sz="1400" b="1">
                <a:solidFill>
                  <a:srgbClr val="E9A821"/>
                </a:solidFill>
                <a:latin typeface="Arial"/>
              </a:rPr>
              <a:t>Quantified uncertainty</a:t>
            </a:r>
          </a:p>
        </p:txBody>
      </p:sp>
      <p:sp>
        <p:nvSpPr>
          <p:cNvPr id="198" name="TextBox 197"/>
          <p:cNvSpPr txBox="1"/>
          <p:nvPr/>
        </p:nvSpPr>
        <p:spPr>
          <a:xfrm>
            <a:off x="7589520" y="4690872"/>
            <a:ext cx="3840480" cy="1527048"/>
          </a:xfrm>
          <a:prstGeom prst="rect">
            <a:avLst/>
          </a:prstGeom>
          <a:noFill/>
        </p:spPr>
        <p:txBody>
          <a:bodyPr wrap="square" anchor="t" lIns="0" rIns="0" tIns="0" bIns="0">
            <a:spAutoFit/>
          </a:bodyPr>
          <a:lstStyle/>
          <a:p>
            <a:pPr algn="l">
              <a:spcAft>
                <a:spcPts val="400"/>
              </a:spcAft>
            </a:pPr>
            <a:r>
              <a:rPr sz="1300" b="0">
                <a:solidFill>
                  <a:srgbClr val="FFFFFF"/>
                </a:solidFill>
                <a:latin typeface="Calibri"/>
              </a:rPr>
              <a:t>M = T_fire - (T_detect + T_notify + T_egress). P(M &lt; 0) by escape time 30 / 45 / 60 min, Camp Alta X on gusts: 88% / 91% / 95%; Type 1 at 30 mph: 17% / 28% / 49%.</a:t>
            </a:r>
          </a:p>
          <a:p>
            <a:pPr algn="l">
              <a:spcAft>
                <a:spcPts val="400"/>
              </a:spcAft>
            </a:pPr>
            <a:r>
              <a:rPr sz="1100" b="0">
                <a:solidFill>
                  <a:srgbClr val="E1E4E8"/>
                </a:solidFill>
                <a:latin typeface="Calibri"/>
              </a:rPr>
              <a:t>Escape time is the missing measurement: crew positions and routes are not in the records.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229600" cy="274320"/>
          </a:xfrm>
          <a:prstGeom prst="rect">
            <a:avLst/>
          </a:prstGeom>
          <a:noFill/>
        </p:spPr>
        <p:txBody>
          <a:bodyPr wrap="square" anchor="t" lIns="0" rIns="0" tIns="0" bIns="0">
            <a:spAutoFit/>
          </a:bodyPr>
          <a:lstStyle/>
          <a:p>
            <a:pPr algn="l">
              <a:spcAft>
                <a:spcPts val="400"/>
              </a:spcAft>
            </a:pPr>
            <a:r>
              <a:rPr sz="1200" b="1">
                <a:solidFill>
                  <a:srgbClr val="E8642F"/>
                </a:solidFill>
                <a:latin typeface="Arial"/>
              </a:rPr>
              <a:t>M4  |  WATER DROP SUPPRESSION  |  BOTTOM LINE</a:t>
            </a:r>
          </a:p>
        </p:txBody>
      </p:sp>
      <p:sp>
        <p:nvSpPr>
          <p:cNvPr id="3" name="TextBox 2"/>
          <p:cNvSpPr txBox="1"/>
          <p:nvPr/>
        </p:nvSpPr>
        <p:spPr>
          <a:xfrm>
            <a:off x="548640" y="566928"/>
            <a:ext cx="11064240" cy="685800"/>
          </a:xfrm>
          <a:prstGeom prst="rect">
            <a:avLst/>
          </a:prstGeom>
          <a:noFill/>
        </p:spPr>
        <p:txBody>
          <a:bodyPr wrap="square" anchor="t" lIns="0" rIns="0" tIns="0" bIns="0">
            <a:spAutoFit/>
          </a:bodyPr>
          <a:lstStyle/>
          <a:p>
            <a:pPr algn="l">
              <a:spcAft>
                <a:spcPts val="400"/>
              </a:spcAft>
            </a:pPr>
            <a:r>
              <a:rPr sz="2800" b="1">
                <a:solidFill>
                  <a:srgbClr val="1D2125"/>
                </a:solidFill>
                <a:latin typeface="Arial"/>
              </a:rPr>
              <a:t>Water drops: no drone has done it, so we quantify what the wind allowed</a:t>
            </a:r>
          </a:p>
        </p:txBody>
      </p:sp>
      <p:sp>
        <p:nvSpPr>
          <p:cNvPr id="4" name="TextBox 3"/>
          <p:cNvSpPr txBox="1"/>
          <p:nvPr/>
        </p:nvSpPr>
        <p:spPr>
          <a:xfrm>
            <a:off x="548640" y="6446520"/>
            <a:ext cx="9144000" cy="256032"/>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NASA Aerial Wildfire Project  |  ACERO Disaster Lab  |  Mission UQ v1.1  |  20 October 2026</a:t>
            </a:r>
          </a:p>
        </p:txBody>
      </p:sp>
      <p:sp>
        <p:nvSpPr>
          <p:cNvPr id="5" name="TextBox 4"/>
          <p:cNvSpPr txBox="1"/>
          <p:nvPr/>
        </p:nvSpPr>
        <p:spPr>
          <a:xfrm>
            <a:off x="11155680" y="6446520"/>
            <a:ext cx="502920" cy="256032"/>
          </a:xfrm>
          <a:prstGeom prst="rect">
            <a:avLst/>
          </a:prstGeom>
          <a:noFill/>
        </p:spPr>
        <p:txBody>
          <a:bodyPr wrap="square" anchor="t" lIns="0" rIns="0" tIns="0" bIns="0">
            <a:spAutoFit/>
          </a:bodyPr>
          <a:lstStyle/>
          <a:p>
            <a:pPr algn="r">
              <a:spcAft>
                <a:spcPts val="400"/>
              </a:spcAft>
            </a:pPr>
            <a:r>
              <a:rPr sz="1000" b="0">
                <a:solidFill>
                  <a:srgbClr val="6B7480"/>
                </a:solidFill>
                <a:latin typeface="Calibri"/>
              </a:rPr>
              <a:t>8</a:t>
            </a:r>
          </a:p>
        </p:txBody>
      </p:sp>
      <p:sp>
        <p:nvSpPr>
          <p:cNvPr id="6" name="Rounded Rectangle 5"/>
          <p:cNvSpPr/>
          <p:nvPr/>
        </p:nvSpPr>
        <p:spPr>
          <a:xfrm>
            <a:off x="548640"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3108960" cy="777240"/>
          </a:xfrm>
          <a:prstGeom prst="rect">
            <a:avLst/>
          </a:prstGeom>
          <a:noFill/>
        </p:spPr>
        <p:txBody>
          <a:bodyPr wrap="square" anchor="b" lIns="0" rIns="0" tIns="0" bIns="0">
            <a:spAutoFit/>
          </a:bodyPr>
          <a:lstStyle/>
          <a:p>
            <a:pPr algn="l">
              <a:spcAft>
                <a:spcPts val="400"/>
              </a:spcAft>
            </a:pPr>
            <a:r>
              <a:rPr sz="3400" b="1">
                <a:solidFill>
                  <a:srgbClr val="E8642F"/>
                </a:solidFill>
                <a:latin typeface="Arial"/>
              </a:rPr>
              <a:t>32 to 53 m</a:t>
            </a:r>
          </a:p>
        </p:txBody>
      </p:sp>
      <p:sp>
        <p:nvSpPr>
          <p:cNvPr id="8" name="TextBox 7"/>
          <p:cNvSpPr txBox="1"/>
          <p:nvPr/>
        </p:nvSpPr>
        <p:spPr>
          <a:xfrm>
            <a:off x="777240"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Drift of a 30 m release (assumed) in Camp's standard-day wind, sustained to gust, before aim correction</a:t>
            </a:r>
          </a:p>
        </p:txBody>
      </p:sp>
      <p:sp>
        <p:nvSpPr>
          <p:cNvPr id="9" name="Rounded Rectangle 8"/>
          <p:cNvSpPr/>
          <p:nvPr/>
        </p:nvSpPr>
        <p:spPr>
          <a:xfrm>
            <a:off x="4297679"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00200"/>
            <a:ext cx="3108960" cy="777240"/>
          </a:xfrm>
          <a:prstGeom prst="rect">
            <a:avLst/>
          </a:prstGeom>
          <a:noFill/>
        </p:spPr>
        <p:txBody>
          <a:bodyPr wrap="square" anchor="b" lIns="0" rIns="0" tIns="0" bIns="0">
            <a:spAutoFit/>
          </a:bodyPr>
          <a:lstStyle/>
          <a:p>
            <a:pPr algn="l">
              <a:spcAft>
                <a:spcPts val="400"/>
              </a:spcAft>
            </a:pPr>
            <a:r>
              <a:rPr sz="3400" b="1">
                <a:solidFill>
                  <a:srgbClr val="18A878"/>
                </a:solidFill>
                <a:latin typeface="Arial"/>
              </a:rPr>
              <a:t>100%</a:t>
            </a:r>
          </a:p>
        </p:txBody>
      </p:sp>
      <p:sp>
        <p:nvSpPr>
          <p:cNvPr id="11" name="TextBox 10"/>
          <p:cNvSpPr txBox="1"/>
          <p:nvPr/>
        </p:nvSpPr>
        <p:spPr>
          <a:xfrm>
            <a:off x="4526279"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LNU overnight run hours a 30 kt aircraft (autonomous Firehawk class) could fly by Atlas Peak gusts</a:t>
            </a:r>
          </a:p>
        </p:txBody>
      </p:sp>
      <p:sp>
        <p:nvSpPr>
          <p:cNvPr id="12" name="Rounded Rectangle 11"/>
          <p:cNvSpPr/>
          <p:nvPr/>
        </p:nvSpPr>
        <p:spPr>
          <a:xfrm>
            <a:off x="8046719"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1600200"/>
            <a:ext cx="3108960" cy="777240"/>
          </a:xfrm>
          <a:prstGeom prst="rect">
            <a:avLst/>
          </a:prstGeom>
          <a:noFill/>
        </p:spPr>
        <p:txBody>
          <a:bodyPr wrap="square" anchor="b" lIns="0" rIns="0" tIns="0" bIns="0">
            <a:spAutoFit/>
          </a:bodyPr>
          <a:lstStyle/>
          <a:p>
            <a:pPr algn="l">
              <a:spcAft>
                <a:spcPts val="400"/>
              </a:spcAft>
            </a:pPr>
            <a:r>
              <a:rPr sz="3400" b="1">
                <a:solidFill>
                  <a:srgbClr val="C8402A"/>
                </a:solidFill>
                <a:latin typeface="Arial"/>
              </a:rPr>
              <a:t>35 vs 10,345 L/h</a:t>
            </a:r>
          </a:p>
        </p:txBody>
      </p:sp>
      <p:sp>
        <p:nvSpPr>
          <p:cNvPr id="14" name="TextBox 13"/>
          <p:cNvSpPr txBox="1"/>
          <p:nvPr/>
        </p:nvSpPr>
        <p:spPr>
          <a:xfrm>
            <a:off x="8275319"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Small drone against large airtanker throughput (Week 6)</a:t>
            </a:r>
          </a:p>
        </p:txBody>
      </p:sp>
      <p:sp>
        <p:nvSpPr>
          <p:cNvPr id="15" name="Rounded Rectangle 14"/>
          <p:cNvSpPr/>
          <p:nvPr/>
        </p:nvSpPr>
        <p:spPr>
          <a:xfrm>
            <a:off x="548640" y="3840480"/>
            <a:ext cx="5394960" cy="23774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950208"/>
            <a:ext cx="4937760" cy="320040"/>
          </a:xfrm>
          <a:prstGeom prst="rect">
            <a:avLst/>
          </a:prstGeom>
          <a:noFill/>
        </p:spPr>
        <p:txBody>
          <a:bodyPr wrap="square" anchor="t" lIns="0" rIns="0" tIns="0" bIns="0">
            <a:spAutoFit/>
          </a:bodyPr>
          <a:lstStyle/>
          <a:p>
            <a:pPr algn="l">
              <a:spcAft>
                <a:spcPts val="400"/>
              </a:spcAft>
            </a:pPr>
            <a:r>
              <a:rPr sz="1500" b="1">
                <a:solidFill>
                  <a:srgbClr val="1D2125"/>
                </a:solidFill>
                <a:latin typeface="Arial"/>
              </a:rPr>
              <a:t>Who uses it</a:t>
            </a:r>
          </a:p>
        </p:txBody>
      </p:sp>
      <p:sp>
        <p:nvSpPr>
          <p:cNvPr id="17" name="TextBox 16"/>
          <p:cNvSpPr txBox="1"/>
          <p:nvPr/>
        </p:nvSpPr>
        <p:spPr>
          <a:xfrm>
            <a:off x="777240" y="4343400"/>
            <a:ext cx="4937760" cy="1828800"/>
          </a:xfrm>
          <a:prstGeom prst="rect">
            <a:avLst/>
          </a:prstGeom>
          <a:noFill/>
        </p:spPr>
        <p:txBody>
          <a:bodyPr wrap="square" anchor="t" lIns="0" rIns="0" tIns="0" bIns="0">
            <a:spAutoFit/>
          </a:bodyPr>
          <a:lstStyle/>
          <a:p>
            <a:pPr algn="l">
              <a:spcAft>
                <a:spcPts val="400"/>
              </a:spcAft>
            </a:pPr>
            <a:r>
              <a:rPr sz="1300" b="1">
                <a:solidFill>
                  <a:srgbClr val="1D2125"/>
                </a:solidFill>
                <a:latin typeface="Calibri"/>
              </a:rPr>
              <a:t>Incident commander, operations, air tactical group supervisor: </a:t>
            </a:r>
            <a:r>
              <a:rPr sz="1300" b="0">
                <a:solidFill>
                  <a:srgbClr val="1D2125"/>
                </a:solidFill>
                <a:latin typeface="Calibri"/>
              </a:rPr>
              <a:t>order and sequence drops, especially when crewed aircraft stand down at night.</a:t>
            </a:r>
          </a:p>
          <a:p>
            <a:pPr algn="l">
              <a:spcAft>
                <a:spcPts val="400"/>
              </a:spcAft>
            </a:pPr>
            <a:r>
              <a:rPr sz="1300" b="1">
                <a:solidFill>
                  <a:srgbClr val="1D2125"/>
                </a:solidFill>
                <a:latin typeface="Calibri"/>
              </a:rPr>
              <a:t>Crews on the line: </a:t>
            </a:r>
            <a:r>
              <a:rPr sz="1300" b="0">
                <a:solidFill>
                  <a:srgbClr val="1D2125"/>
                </a:solidFill>
                <a:latin typeface="Calibri"/>
              </a:rPr>
              <a:t>they work under the drop.</a:t>
            </a:r>
          </a:p>
        </p:txBody>
      </p:sp>
      <p:sp>
        <p:nvSpPr>
          <p:cNvPr id="18" name="Rounded Rectangle 17"/>
          <p:cNvSpPr/>
          <p:nvPr/>
        </p:nvSpPr>
        <p:spPr>
          <a:xfrm>
            <a:off x="6126479" y="3840480"/>
            <a:ext cx="5486400" cy="23774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9" y="3950208"/>
            <a:ext cx="5029200" cy="320040"/>
          </a:xfrm>
          <a:prstGeom prst="rect">
            <a:avLst/>
          </a:prstGeom>
          <a:noFill/>
        </p:spPr>
        <p:txBody>
          <a:bodyPr wrap="square" anchor="t" lIns="0" rIns="0" tIns="0" bIns="0">
            <a:spAutoFit/>
          </a:bodyPr>
          <a:lstStyle/>
          <a:p>
            <a:pPr algn="l">
              <a:spcAft>
                <a:spcPts val="400"/>
              </a:spcAft>
            </a:pPr>
            <a:r>
              <a:rPr sz="1500" b="1">
                <a:solidFill>
                  <a:srgbClr val="1D2125"/>
                </a:solidFill>
                <a:latin typeface="Arial"/>
              </a:rPr>
              <a:t>Drone types and parameters</a:t>
            </a:r>
          </a:p>
        </p:txBody>
      </p:sp>
      <p:sp>
        <p:nvSpPr>
          <p:cNvPr id="20" name="TextBox 19"/>
          <p:cNvSpPr txBox="1"/>
          <p:nvPr/>
        </p:nvSpPr>
        <p:spPr>
          <a:xfrm>
            <a:off x="6355079" y="4343400"/>
            <a:ext cx="5029200" cy="1828800"/>
          </a:xfrm>
          <a:prstGeom prst="rect">
            <a:avLst/>
          </a:prstGeom>
          <a:noFill/>
        </p:spPr>
        <p:txBody>
          <a:bodyPr wrap="square" anchor="t" lIns="0" rIns="0" tIns="0" bIns="0">
            <a:spAutoFit/>
          </a:bodyPr>
          <a:lstStyle/>
          <a:p>
            <a:pPr algn="l">
              <a:spcAft>
                <a:spcPts val="400"/>
              </a:spcAft>
            </a:pPr>
            <a:r>
              <a:rPr sz="1200" b="1">
                <a:solidFill>
                  <a:srgbClr val="1D2125"/>
                </a:solidFill>
                <a:latin typeface="Calibri"/>
              </a:rPr>
              <a:t>Autonomous Firehawk: </a:t>
            </a:r>
            <a:r>
              <a:rPr sz="1200" b="0">
                <a:solidFill>
                  <a:srgbClr val="1D2125"/>
                </a:solidFill>
                <a:latin typeface="Calibri"/>
              </a:rPr>
              <a:t>324 gal bucket (demo), gusts to 30 kt</a:t>
            </a:r>
          </a:p>
          <a:p>
            <a:pPr algn="l">
              <a:spcAft>
                <a:spcPts val="400"/>
              </a:spcAft>
            </a:pPr>
            <a:r>
              <a:rPr sz="1200" b="1">
                <a:solidFill>
                  <a:srgbClr val="1D2125"/>
                </a:solidFill>
                <a:latin typeface="Calibri"/>
              </a:rPr>
              <a:t>Seneca Argo-1: </a:t>
            </a:r>
            <a:r>
              <a:rPr sz="1200" b="0">
                <a:solidFill>
                  <a:srgbClr val="1D2125"/>
                </a:solidFill>
                <a:latin typeface="Calibri"/>
              </a:rPr>
              <a:t>5 drones, 20 gal each (tested)</a:t>
            </a:r>
          </a:p>
          <a:p>
            <a:pPr algn="l">
              <a:spcAft>
                <a:spcPts val="400"/>
              </a:spcAft>
            </a:pPr>
            <a:r>
              <a:rPr sz="1200" b="1">
                <a:solidFill>
                  <a:srgbClr val="1D2125"/>
                </a:solidFill>
                <a:latin typeface="Calibri"/>
              </a:rPr>
              <a:t>FireSwarm Thunder Wasp: </a:t>
            </a:r>
            <a:r>
              <a:rPr sz="1200" b="0">
                <a:solidFill>
                  <a:srgbClr val="1D2125"/>
                </a:solidFill>
                <a:latin typeface="Calibri"/>
              </a:rPr>
              <a:t>up to 100 gal (tested)</a:t>
            </a:r>
          </a:p>
          <a:p>
            <a:pPr algn="l">
              <a:spcAft>
                <a:spcPts val="400"/>
              </a:spcAft>
            </a:pPr>
            <a:r>
              <a:rPr sz="1200" b="1">
                <a:solidFill>
                  <a:srgbClr val="1D2125"/>
                </a:solidFill>
                <a:latin typeface="Calibri"/>
              </a:rPr>
              <a:t>Large UAS / OPA: </a:t>
            </a:r>
            <a:r>
              <a:rPr sz="1200" b="0">
                <a:solidFill>
                  <a:srgbClr val="1D2125"/>
                </a:solidFill>
                <a:latin typeface="Calibri"/>
              </a:rPr>
              <a:t>night water drop concept (ConOps p.19)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229600" cy="274320"/>
          </a:xfrm>
          <a:prstGeom prst="rect">
            <a:avLst/>
          </a:prstGeom>
          <a:noFill/>
        </p:spPr>
        <p:txBody>
          <a:bodyPr wrap="square" anchor="t" lIns="0" rIns="0" tIns="0" bIns="0">
            <a:spAutoFit/>
          </a:bodyPr>
          <a:lstStyle/>
          <a:p>
            <a:pPr algn="l">
              <a:spcAft>
                <a:spcPts val="400"/>
              </a:spcAft>
            </a:pPr>
            <a:r>
              <a:rPr sz="1200" b="1">
                <a:solidFill>
                  <a:srgbClr val="E8642F"/>
                </a:solidFill>
                <a:latin typeface="Arial"/>
              </a:rPr>
              <a:t>M4  |  WATER DROP SUPPRESSION  |  HOUR BY HOUR</a:t>
            </a:r>
          </a:p>
        </p:txBody>
      </p:sp>
      <p:sp>
        <p:nvSpPr>
          <p:cNvPr id="3" name="TextBox 2"/>
          <p:cNvSpPr txBox="1"/>
          <p:nvPr/>
        </p:nvSpPr>
        <p:spPr>
          <a:xfrm>
            <a:off x="548640" y="566928"/>
            <a:ext cx="11064240" cy="685800"/>
          </a:xfrm>
          <a:prstGeom prst="rect">
            <a:avLst/>
          </a:prstGeom>
          <a:noFill/>
        </p:spPr>
        <p:txBody>
          <a:bodyPr wrap="square" anchor="t" lIns="0" rIns="0" tIns="0" bIns="0">
            <a:spAutoFit/>
          </a:bodyPr>
          <a:lstStyle/>
          <a:p>
            <a:pPr algn="l">
              <a:spcAft>
                <a:spcPts val="400"/>
              </a:spcAft>
            </a:pPr>
            <a:r>
              <a:rPr sz="2800" b="1">
                <a:solidFill>
                  <a:srgbClr val="1D2125"/>
                </a:solidFill>
                <a:latin typeface="Arial"/>
              </a:rPr>
              <a:t>LNU, 18 to 19 August: the overnight run nobody could see</a:t>
            </a:r>
          </a:p>
        </p:txBody>
      </p:sp>
      <p:sp>
        <p:nvSpPr>
          <p:cNvPr id="4" name="TextBox 3"/>
          <p:cNvSpPr txBox="1"/>
          <p:nvPr/>
        </p:nvSpPr>
        <p:spPr>
          <a:xfrm>
            <a:off x="548640" y="6446520"/>
            <a:ext cx="9144000" cy="256032"/>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NASA Aerial Wildfire Project  |  ACERO Disaster Lab  |  Mission UQ v1.1  |  20 October 2026</a:t>
            </a:r>
          </a:p>
        </p:txBody>
      </p:sp>
      <p:sp>
        <p:nvSpPr>
          <p:cNvPr id="5" name="TextBox 4"/>
          <p:cNvSpPr txBox="1"/>
          <p:nvPr/>
        </p:nvSpPr>
        <p:spPr>
          <a:xfrm>
            <a:off x="11155680" y="6446520"/>
            <a:ext cx="502920" cy="256032"/>
          </a:xfrm>
          <a:prstGeom prst="rect">
            <a:avLst/>
          </a:prstGeom>
          <a:noFill/>
        </p:spPr>
        <p:txBody>
          <a:bodyPr wrap="square" anchor="t" lIns="0" rIns="0" tIns="0" bIns="0">
            <a:spAutoFit/>
          </a:bodyPr>
          <a:lstStyle/>
          <a:p>
            <a:pPr algn="r">
              <a:spcAft>
                <a:spcPts val="400"/>
              </a:spcAft>
            </a:pPr>
            <a:r>
              <a:rPr sz="1000" b="0">
                <a:solidFill>
                  <a:srgbClr val="6B7480"/>
                </a:solidFill>
                <a:latin typeface="Calibri"/>
              </a:rPr>
              <a:t>9</a:t>
            </a:r>
          </a:p>
        </p:txBody>
      </p:sp>
      <p:sp>
        <p:nvSpPr>
          <p:cNvPr id="6" name="TextBox 5"/>
          <p:cNvSpPr txBox="1"/>
          <p:nvPr/>
        </p:nvSpPr>
        <p:spPr>
          <a:xfrm>
            <a:off x="548640" y="1417320"/>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Hour</a:t>
            </a:r>
          </a:p>
        </p:txBody>
      </p:sp>
      <p:sp>
        <p:nvSpPr>
          <p:cNvPr id="7" name="Rectangle 6"/>
          <p:cNvSpPr/>
          <p:nvPr/>
        </p:nvSpPr>
        <p:spPr>
          <a:xfrm>
            <a:off x="1965960"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06</a:t>
            </a:r>
          </a:p>
        </p:txBody>
      </p:sp>
      <p:sp>
        <p:nvSpPr>
          <p:cNvPr id="9" name="Rectangle 8"/>
          <p:cNvSpPr/>
          <p:nvPr/>
        </p:nvSpPr>
        <p:spPr>
          <a:xfrm>
            <a:off x="2369172"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69172"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07</a:t>
            </a:r>
          </a:p>
        </p:txBody>
      </p:sp>
      <p:sp>
        <p:nvSpPr>
          <p:cNvPr id="11" name="Rectangle 10"/>
          <p:cNvSpPr/>
          <p:nvPr/>
        </p:nvSpPr>
        <p:spPr>
          <a:xfrm>
            <a:off x="2772384"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72384"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08</a:t>
            </a:r>
          </a:p>
        </p:txBody>
      </p:sp>
      <p:sp>
        <p:nvSpPr>
          <p:cNvPr id="13" name="Rectangle 12"/>
          <p:cNvSpPr/>
          <p:nvPr/>
        </p:nvSpPr>
        <p:spPr>
          <a:xfrm>
            <a:off x="3175596"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75596"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09</a:t>
            </a:r>
          </a:p>
        </p:txBody>
      </p:sp>
      <p:sp>
        <p:nvSpPr>
          <p:cNvPr id="15" name="Rectangle 14"/>
          <p:cNvSpPr/>
          <p:nvPr/>
        </p:nvSpPr>
        <p:spPr>
          <a:xfrm>
            <a:off x="3578809"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8809"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10</a:t>
            </a:r>
          </a:p>
        </p:txBody>
      </p:sp>
      <p:sp>
        <p:nvSpPr>
          <p:cNvPr id="17" name="Rectangle 16"/>
          <p:cNvSpPr/>
          <p:nvPr/>
        </p:nvSpPr>
        <p:spPr>
          <a:xfrm>
            <a:off x="3982021"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82021"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11</a:t>
            </a:r>
          </a:p>
        </p:txBody>
      </p:sp>
      <p:sp>
        <p:nvSpPr>
          <p:cNvPr id="19" name="Rectangle 18"/>
          <p:cNvSpPr/>
          <p:nvPr/>
        </p:nvSpPr>
        <p:spPr>
          <a:xfrm>
            <a:off x="4385233"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5233"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12</a:t>
            </a:r>
          </a:p>
        </p:txBody>
      </p:sp>
      <p:sp>
        <p:nvSpPr>
          <p:cNvPr id="21" name="Rectangle 20"/>
          <p:cNvSpPr/>
          <p:nvPr/>
        </p:nvSpPr>
        <p:spPr>
          <a:xfrm>
            <a:off x="4788446"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88446"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13</a:t>
            </a:r>
          </a:p>
        </p:txBody>
      </p:sp>
      <p:sp>
        <p:nvSpPr>
          <p:cNvPr id="23" name="Rectangle 22"/>
          <p:cNvSpPr/>
          <p:nvPr/>
        </p:nvSpPr>
        <p:spPr>
          <a:xfrm>
            <a:off x="5191658"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1658"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14</a:t>
            </a:r>
          </a:p>
        </p:txBody>
      </p:sp>
      <p:sp>
        <p:nvSpPr>
          <p:cNvPr id="25" name="Rectangle 24"/>
          <p:cNvSpPr/>
          <p:nvPr/>
        </p:nvSpPr>
        <p:spPr>
          <a:xfrm>
            <a:off x="5594870"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94870"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15</a:t>
            </a:r>
          </a:p>
        </p:txBody>
      </p:sp>
      <p:sp>
        <p:nvSpPr>
          <p:cNvPr id="27" name="Rectangle 26"/>
          <p:cNvSpPr/>
          <p:nvPr/>
        </p:nvSpPr>
        <p:spPr>
          <a:xfrm>
            <a:off x="5998083"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98083"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16</a:t>
            </a:r>
          </a:p>
        </p:txBody>
      </p:sp>
      <p:sp>
        <p:nvSpPr>
          <p:cNvPr id="29" name="Rectangle 28"/>
          <p:cNvSpPr/>
          <p:nvPr/>
        </p:nvSpPr>
        <p:spPr>
          <a:xfrm>
            <a:off x="6401295"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1295"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17</a:t>
            </a:r>
          </a:p>
        </p:txBody>
      </p:sp>
      <p:sp>
        <p:nvSpPr>
          <p:cNvPr id="31" name="Rectangle 30"/>
          <p:cNvSpPr/>
          <p:nvPr/>
        </p:nvSpPr>
        <p:spPr>
          <a:xfrm>
            <a:off x="6804507"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04507"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18</a:t>
            </a:r>
          </a:p>
        </p:txBody>
      </p:sp>
      <p:sp>
        <p:nvSpPr>
          <p:cNvPr id="33" name="Rectangle 32"/>
          <p:cNvSpPr/>
          <p:nvPr/>
        </p:nvSpPr>
        <p:spPr>
          <a:xfrm>
            <a:off x="7207719"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7719"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19</a:t>
            </a:r>
          </a:p>
        </p:txBody>
      </p:sp>
      <p:sp>
        <p:nvSpPr>
          <p:cNvPr id="35" name="Rectangle 34"/>
          <p:cNvSpPr/>
          <p:nvPr/>
        </p:nvSpPr>
        <p:spPr>
          <a:xfrm>
            <a:off x="7610932"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10932"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20</a:t>
            </a:r>
          </a:p>
        </p:txBody>
      </p:sp>
      <p:sp>
        <p:nvSpPr>
          <p:cNvPr id="37" name="Rectangle 36"/>
          <p:cNvSpPr/>
          <p:nvPr/>
        </p:nvSpPr>
        <p:spPr>
          <a:xfrm>
            <a:off x="8014144"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14144"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21</a:t>
            </a:r>
          </a:p>
        </p:txBody>
      </p:sp>
      <p:sp>
        <p:nvSpPr>
          <p:cNvPr id="39" name="Rectangle 38"/>
          <p:cNvSpPr/>
          <p:nvPr/>
        </p:nvSpPr>
        <p:spPr>
          <a:xfrm>
            <a:off x="8417356"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7356"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22</a:t>
            </a:r>
          </a:p>
        </p:txBody>
      </p:sp>
      <p:sp>
        <p:nvSpPr>
          <p:cNvPr id="41" name="Rectangle 40"/>
          <p:cNvSpPr/>
          <p:nvPr/>
        </p:nvSpPr>
        <p:spPr>
          <a:xfrm>
            <a:off x="8820569"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20569"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23</a:t>
            </a:r>
          </a:p>
        </p:txBody>
      </p:sp>
      <p:sp>
        <p:nvSpPr>
          <p:cNvPr id="43" name="Rectangle 42"/>
          <p:cNvSpPr/>
          <p:nvPr/>
        </p:nvSpPr>
        <p:spPr>
          <a:xfrm>
            <a:off x="9223781"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23781"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00</a:t>
            </a:r>
          </a:p>
        </p:txBody>
      </p:sp>
      <p:sp>
        <p:nvSpPr>
          <p:cNvPr id="45" name="Rectangle 44"/>
          <p:cNvSpPr/>
          <p:nvPr/>
        </p:nvSpPr>
        <p:spPr>
          <a:xfrm>
            <a:off x="9626993"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26993"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01</a:t>
            </a:r>
          </a:p>
        </p:txBody>
      </p:sp>
      <p:sp>
        <p:nvSpPr>
          <p:cNvPr id="47" name="Rectangle 46"/>
          <p:cNvSpPr/>
          <p:nvPr/>
        </p:nvSpPr>
        <p:spPr>
          <a:xfrm>
            <a:off x="10030206"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30206"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02</a:t>
            </a:r>
          </a:p>
        </p:txBody>
      </p:sp>
      <p:sp>
        <p:nvSpPr>
          <p:cNvPr id="49" name="Rectangle 48"/>
          <p:cNvSpPr/>
          <p:nvPr/>
        </p:nvSpPr>
        <p:spPr>
          <a:xfrm>
            <a:off x="10433418"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3418"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03</a:t>
            </a:r>
          </a:p>
        </p:txBody>
      </p:sp>
      <p:sp>
        <p:nvSpPr>
          <p:cNvPr id="51" name="Rectangle 50"/>
          <p:cNvSpPr/>
          <p:nvPr/>
        </p:nvSpPr>
        <p:spPr>
          <a:xfrm>
            <a:off x="10836630"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836630"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04</a:t>
            </a:r>
          </a:p>
        </p:txBody>
      </p:sp>
      <p:sp>
        <p:nvSpPr>
          <p:cNvPr id="53" name="Rectangle 52"/>
          <p:cNvSpPr/>
          <p:nvPr/>
        </p:nvSpPr>
        <p:spPr>
          <a:xfrm>
            <a:off x="11239842"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239842"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05</a:t>
            </a:r>
          </a:p>
        </p:txBody>
      </p:sp>
      <p:sp>
        <p:nvSpPr>
          <p:cNvPr id="55" name="TextBox 54"/>
          <p:cNvSpPr txBox="1"/>
          <p:nvPr/>
        </p:nvSpPr>
        <p:spPr>
          <a:xfrm>
            <a:off x="548640" y="1764792"/>
            <a:ext cx="1371600" cy="329184"/>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Gust mph</a:t>
            </a:r>
          </a:p>
        </p:txBody>
      </p:sp>
      <p:sp>
        <p:nvSpPr>
          <p:cNvPr id="56" name="Rectangle 55"/>
          <p:cNvSpPr/>
          <p:nvPr/>
        </p:nvSpPr>
        <p:spPr>
          <a:xfrm>
            <a:off x="196596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965960"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7</a:t>
            </a:r>
          </a:p>
        </p:txBody>
      </p:sp>
      <p:sp>
        <p:nvSpPr>
          <p:cNvPr id="58" name="Rectangle 57"/>
          <p:cNvSpPr/>
          <p:nvPr/>
        </p:nvSpPr>
        <p:spPr>
          <a:xfrm>
            <a:off x="236917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69172"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9</a:t>
            </a:r>
          </a:p>
        </p:txBody>
      </p:sp>
      <p:sp>
        <p:nvSpPr>
          <p:cNvPr id="60" name="Rectangle 59"/>
          <p:cNvSpPr/>
          <p:nvPr/>
        </p:nvSpPr>
        <p:spPr>
          <a:xfrm>
            <a:off x="2772384"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2384"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8</a:t>
            </a:r>
          </a:p>
        </p:txBody>
      </p:sp>
      <p:sp>
        <p:nvSpPr>
          <p:cNvPr id="62" name="Rectangle 61"/>
          <p:cNvSpPr/>
          <p:nvPr/>
        </p:nvSpPr>
        <p:spPr>
          <a:xfrm>
            <a:off x="317559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175596"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6</a:t>
            </a:r>
          </a:p>
        </p:txBody>
      </p:sp>
      <p:sp>
        <p:nvSpPr>
          <p:cNvPr id="64" name="Rectangle 63"/>
          <p:cNvSpPr/>
          <p:nvPr/>
        </p:nvSpPr>
        <p:spPr>
          <a:xfrm>
            <a:off x="357880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578809"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7</a:t>
            </a:r>
          </a:p>
        </p:txBody>
      </p:sp>
      <p:sp>
        <p:nvSpPr>
          <p:cNvPr id="66" name="Rectangle 65"/>
          <p:cNvSpPr/>
          <p:nvPr/>
        </p:nvSpPr>
        <p:spPr>
          <a:xfrm>
            <a:off x="3982021"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982021"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10</a:t>
            </a:r>
          </a:p>
        </p:txBody>
      </p:sp>
      <p:sp>
        <p:nvSpPr>
          <p:cNvPr id="68" name="Rectangle 67"/>
          <p:cNvSpPr/>
          <p:nvPr/>
        </p:nvSpPr>
        <p:spPr>
          <a:xfrm>
            <a:off x="438523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385233"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15</a:t>
            </a:r>
          </a:p>
        </p:txBody>
      </p:sp>
      <p:sp>
        <p:nvSpPr>
          <p:cNvPr id="70" name="Rectangle 69"/>
          <p:cNvSpPr/>
          <p:nvPr/>
        </p:nvSpPr>
        <p:spPr>
          <a:xfrm>
            <a:off x="478844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88446"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21</a:t>
            </a:r>
          </a:p>
        </p:txBody>
      </p:sp>
      <p:sp>
        <p:nvSpPr>
          <p:cNvPr id="72" name="Rectangle 71"/>
          <p:cNvSpPr/>
          <p:nvPr/>
        </p:nvSpPr>
        <p:spPr>
          <a:xfrm>
            <a:off x="5191658"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91658"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28</a:t>
            </a:r>
          </a:p>
        </p:txBody>
      </p:sp>
      <p:sp>
        <p:nvSpPr>
          <p:cNvPr id="74" name="Rectangle 73"/>
          <p:cNvSpPr/>
          <p:nvPr/>
        </p:nvSpPr>
        <p:spPr>
          <a:xfrm>
            <a:off x="559487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594870"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29</a:t>
            </a:r>
          </a:p>
        </p:txBody>
      </p:sp>
      <p:sp>
        <p:nvSpPr>
          <p:cNvPr id="76" name="Rectangle 75"/>
          <p:cNvSpPr/>
          <p:nvPr/>
        </p:nvSpPr>
        <p:spPr>
          <a:xfrm>
            <a:off x="599808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998083"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36</a:t>
            </a:r>
          </a:p>
        </p:txBody>
      </p:sp>
      <p:sp>
        <p:nvSpPr>
          <p:cNvPr id="78" name="Rectangle 77"/>
          <p:cNvSpPr/>
          <p:nvPr/>
        </p:nvSpPr>
        <p:spPr>
          <a:xfrm>
            <a:off x="6401295"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01295"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36</a:t>
            </a:r>
          </a:p>
        </p:txBody>
      </p:sp>
      <p:sp>
        <p:nvSpPr>
          <p:cNvPr id="80" name="Rectangle 79"/>
          <p:cNvSpPr/>
          <p:nvPr/>
        </p:nvSpPr>
        <p:spPr>
          <a:xfrm>
            <a:off x="6804507"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804507"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41</a:t>
            </a:r>
          </a:p>
        </p:txBody>
      </p:sp>
      <p:sp>
        <p:nvSpPr>
          <p:cNvPr id="82" name="Rectangle 81"/>
          <p:cNvSpPr/>
          <p:nvPr/>
        </p:nvSpPr>
        <p:spPr>
          <a:xfrm>
            <a:off x="720771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207719" y="1764792"/>
            <a:ext cx="384924" cy="329184"/>
          </a:xfrm>
          <a:prstGeom prst="rect">
            <a:avLst/>
          </a:prstGeom>
          <a:noFill/>
        </p:spPr>
        <p:txBody>
          <a:bodyPr wrap="square" anchor="ctr" lIns="0" rIns="0" tIns="0" bIns="0">
            <a:spAutoFit/>
          </a:bodyPr>
          <a:lstStyle/>
          <a:p>
            <a:pPr algn="ctr">
              <a:spcAft>
                <a:spcPts val="400"/>
              </a:spcAft>
            </a:pPr>
            <a:r>
              <a:rPr sz="1000" b="1">
                <a:solidFill>
                  <a:srgbClr val="C8402A"/>
                </a:solidFill>
                <a:latin typeface="Calibri"/>
              </a:rPr>
              <a:t>39</a:t>
            </a:r>
          </a:p>
        </p:txBody>
      </p:sp>
      <p:sp>
        <p:nvSpPr>
          <p:cNvPr id="84" name="Rectangle 83"/>
          <p:cNvSpPr/>
          <p:nvPr/>
        </p:nvSpPr>
        <p:spPr>
          <a:xfrm>
            <a:off x="761093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610932"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29</a:t>
            </a:r>
          </a:p>
        </p:txBody>
      </p:sp>
      <p:sp>
        <p:nvSpPr>
          <p:cNvPr id="86" name="Rectangle 85"/>
          <p:cNvSpPr/>
          <p:nvPr/>
        </p:nvSpPr>
        <p:spPr>
          <a:xfrm>
            <a:off x="8014144"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014144"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24</a:t>
            </a:r>
          </a:p>
        </p:txBody>
      </p:sp>
      <p:sp>
        <p:nvSpPr>
          <p:cNvPr id="88" name="Rectangle 87"/>
          <p:cNvSpPr/>
          <p:nvPr/>
        </p:nvSpPr>
        <p:spPr>
          <a:xfrm>
            <a:off x="841735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417356"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23</a:t>
            </a:r>
          </a:p>
        </p:txBody>
      </p:sp>
      <p:sp>
        <p:nvSpPr>
          <p:cNvPr id="90" name="Rectangle 89"/>
          <p:cNvSpPr/>
          <p:nvPr/>
        </p:nvSpPr>
        <p:spPr>
          <a:xfrm>
            <a:off x="882056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820569"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22</a:t>
            </a:r>
          </a:p>
        </p:txBody>
      </p:sp>
      <p:sp>
        <p:nvSpPr>
          <p:cNvPr id="92" name="Rectangle 91"/>
          <p:cNvSpPr/>
          <p:nvPr/>
        </p:nvSpPr>
        <p:spPr>
          <a:xfrm>
            <a:off x="9223781"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223781"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18</a:t>
            </a:r>
          </a:p>
        </p:txBody>
      </p:sp>
      <p:sp>
        <p:nvSpPr>
          <p:cNvPr id="94" name="Rectangle 93"/>
          <p:cNvSpPr/>
          <p:nvPr/>
        </p:nvSpPr>
        <p:spPr>
          <a:xfrm>
            <a:off x="962699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626993"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15</a:t>
            </a:r>
          </a:p>
        </p:txBody>
      </p:sp>
      <p:sp>
        <p:nvSpPr>
          <p:cNvPr id="96" name="Rectangle 95"/>
          <p:cNvSpPr/>
          <p:nvPr/>
        </p:nvSpPr>
        <p:spPr>
          <a:xfrm>
            <a:off x="1003020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030206"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11</a:t>
            </a:r>
          </a:p>
        </p:txBody>
      </p:sp>
      <p:sp>
        <p:nvSpPr>
          <p:cNvPr id="98" name="Rectangle 97"/>
          <p:cNvSpPr/>
          <p:nvPr/>
        </p:nvSpPr>
        <p:spPr>
          <a:xfrm>
            <a:off x="10433418"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433418"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12</a:t>
            </a:r>
          </a:p>
        </p:txBody>
      </p:sp>
      <p:sp>
        <p:nvSpPr>
          <p:cNvPr id="100" name="Rectangle 99"/>
          <p:cNvSpPr/>
          <p:nvPr/>
        </p:nvSpPr>
        <p:spPr>
          <a:xfrm>
            <a:off x="1083663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836630"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10</a:t>
            </a:r>
          </a:p>
        </p:txBody>
      </p:sp>
      <p:sp>
        <p:nvSpPr>
          <p:cNvPr id="102" name="Rectangle 101"/>
          <p:cNvSpPr/>
          <p:nvPr/>
        </p:nvSpPr>
        <p:spPr>
          <a:xfrm>
            <a:off x="1123984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239842"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15</a:t>
            </a:r>
          </a:p>
        </p:txBody>
      </p:sp>
      <p:sp>
        <p:nvSpPr>
          <p:cNvPr id="104" name="TextBox 103"/>
          <p:cNvSpPr txBox="1"/>
          <p:nvPr/>
        </p:nvSpPr>
        <p:spPr>
          <a:xfrm>
            <a:off x="548640" y="2148840"/>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Alta X 22</a:t>
            </a:r>
          </a:p>
        </p:txBody>
      </p:sp>
      <p:sp>
        <p:nvSpPr>
          <p:cNvPr id="105" name="Rectangle 104"/>
          <p:cNvSpPr/>
          <p:nvPr/>
        </p:nvSpPr>
        <p:spPr>
          <a:xfrm>
            <a:off x="1965960"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2369172"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2772384"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3175596"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3578809"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982021"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4385233"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788446"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191658"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594870"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5998083"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6401295"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6804507"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7207719"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7610932"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8014144"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417356"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8820569"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223781"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9626993"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0030206"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0433418"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836630"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239842"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48640" y="2496312"/>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Type 1 at 30</a:t>
            </a:r>
          </a:p>
        </p:txBody>
      </p:sp>
      <p:sp>
        <p:nvSpPr>
          <p:cNvPr id="130" name="Rectangle 129"/>
          <p:cNvSpPr/>
          <p:nvPr/>
        </p:nvSpPr>
        <p:spPr>
          <a:xfrm>
            <a:off x="1965960"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2369172"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2772384"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3175596"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3578809"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3982021"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4385233"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4788446"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5191658"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5594870"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998083"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6401295"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6804507"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7207719" y="2496312"/>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7610932"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8014144"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8417356"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8820569"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9223781"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9626993"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10030206"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10433418"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10836630"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1239842"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48640" y="2843784"/>
            <a:ext cx="1371600" cy="329184"/>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Map age h</a:t>
            </a:r>
          </a:p>
        </p:txBody>
      </p:sp>
      <p:sp>
        <p:nvSpPr>
          <p:cNvPr id="155" name="TextBox 154"/>
          <p:cNvSpPr txBox="1"/>
          <p:nvPr/>
        </p:nvSpPr>
        <p:spPr>
          <a:xfrm>
            <a:off x="196596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56" name="TextBox 155"/>
          <p:cNvSpPr txBox="1"/>
          <p:nvPr/>
        </p:nvSpPr>
        <p:spPr>
          <a:xfrm>
            <a:off x="236917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57" name="TextBox 156"/>
          <p:cNvSpPr txBox="1"/>
          <p:nvPr/>
        </p:nvSpPr>
        <p:spPr>
          <a:xfrm>
            <a:off x="2772384"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58" name="TextBox 157"/>
          <p:cNvSpPr txBox="1"/>
          <p:nvPr/>
        </p:nvSpPr>
        <p:spPr>
          <a:xfrm>
            <a:off x="317559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59" name="TextBox 158"/>
          <p:cNvSpPr txBox="1"/>
          <p:nvPr/>
        </p:nvSpPr>
        <p:spPr>
          <a:xfrm>
            <a:off x="357880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60" name="TextBox 159"/>
          <p:cNvSpPr txBox="1"/>
          <p:nvPr/>
        </p:nvSpPr>
        <p:spPr>
          <a:xfrm>
            <a:off x="3982021"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61" name="TextBox 160"/>
          <p:cNvSpPr txBox="1"/>
          <p:nvPr/>
        </p:nvSpPr>
        <p:spPr>
          <a:xfrm>
            <a:off x="438523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62" name="TextBox 161"/>
          <p:cNvSpPr txBox="1"/>
          <p:nvPr/>
        </p:nvSpPr>
        <p:spPr>
          <a:xfrm>
            <a:off x="478844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63" name="TextBox 162"/>
          <p:cNvSpPr txBox="1"/>
          <p:nvPr/>
        </p:nvSpPr>
        <p:spPr>
          <a:xfrm>
            <a:off x="5191658"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64" name="TextBox 163"/>
          <p:cNvSpPr txBox="1"/>
          <p:nvPr/>
        </p:nvSpPr>
        <p:spPr>
          <a:xfrm>
            <a:off x="559487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65" name="TextBox 164"/>
          <p:cNvSpPr txBox="1"/>
          <p:nvPr/>
        </p:nvSpPr>
        <p:spPr>
          <a:xfrm>
            <a:off x="599808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66" name="TextBox 165"/>
          <p:cNvSpPr txBox="1"/>
          <p:nvPr/>
        </p:nvSpPr>
        <p:spPr>
          <a:xfrm>
            <a:off x="6401295"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67" name="TextBox 166"/>
          <p:cNvSpPr txBox="1"/>
          <p:nvPr/>
        </p:nvSpPr>
        <p:spPr>
          <a:xfrm>
            <a:off x="6804507"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68" name="TextBox 167"/>
          <p:cNvSpPr txBox="1"/>
          <p:nvPr/>
        </p:nvSpPr>
        <p:spPr>
          <a:xfrm>
            <a:off x="720771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69" name="TextBox 168"/>
          <p:cNvSpPr txBox="1"/>
          <p:nvPr/>
        </p:nvSpPr>
        <p:spPr>
          <a:xfrm>
            <a:off x="761093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70" name="TextBox 169"/>
          <p:cNvSpPr txBox="1"/>
          <p:nvPr/>
        </p:nvSpPr>
        <p:spPr>
          <a:xfrm>
            <a:off x="8014144"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71" name="TextBox 170"/>
          <p:cNvSpPr txBox="1"/>
          <p:nvPr/>
        </p:nvSpPr>
        <p:spPr>
          <a:xfrm>
            <a:off x="841735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72" name="TextBox 171"/>
          <p:cNvSpPr txBox="1"/>
          <p:nvPr/>
        </p:nvSpPr>
        <p:spPr>
          <a:xfrm>
            <a:off x="882056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73" name="TextBox 172"/>
          <p:cNvSpPr txBox="1"/>
          <p:nvPr/>
        </p:nvSpPr>
        <p:spPr>
          <a:xfrm>
            <a:off x="9223781"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74" name="TextBox 173"/>
          <p:cNvSpPr txBox="1"/>
          <p:nvPr/>
        </p:nvSpPr>
        <p:spPr>
          <a:xfrm>
            <a:off x="962699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75" name="TextBox 174"/>
          <p:cNvSpPr txBox="1"/>
          <p:nvPr/>
        </p:nvSpPr>
        <p:spPr>
          <a:xfrm>
            <a:off x="1003020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76" name="TextBox 175"/>
          <p:cNvSpPr txBox="1"/>
          <p:nvPr/>
        </p:nvSpPr>
        <p:spPr>
          <a:xfrm>
            <a:off x="10433418"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77" name="TextBox 176"/>
          <p:cNvSpPr txBox="1"/>
          <p:nvPr/>
        </p:nvSpPr>
        <p:spPr>
          <a:xfrm>
            <a:off x="1083663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78" name="TextBox 177"/>
          <p:cNvSpPr txBox="1"/>
          <p:nvPr/>
        </p:nvSpPr>
        <p:spPr>
          <a:xfrm>
            <a:off x="1123984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none</a:t>
            </a:r>
          </a:p>
        </p:txBody>
      </p:sp>
      <p:sp>
        <p:nvSpPr>
          <p:cNvPr id="179" name="TextBox 178"/>
          <p:cNvSpPr txBox="1"/>
          <p:nvPr/>
        </p:nvSpPr>
        <p:spPr>
          <a:xfrm>
            <a:off x="548640" y="3227832"/>
            <a:ext cx="1371600" cy="56692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Drone task</a:t>
            </a:r>
          </a:p>
        </p:txBody>
      </p:sp>
      <p:sp>
        <p:nvSpPr>
          <p:cNvPr id="180" name="Rounded Rectangle 179"/>
          <p:cNvSpPr/>
          <p:nvPr/>
        </p:nvSpPr>
        <p:spPr>
          <a:xfrm>
            <a:off x="1965960" y="3227832"/>
            <a:ext cx="3198266" cy="566928"/>
          </a:xfrm>
          <a:prstGeom prst="roundRect">
            <a:avLst>
              <a:gd name="adj" fmla="val 6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2011679" y="3246120"/>
            <a:ext cx="3115970" cy="530352"/>
          </a:xfrm>
          <a:prstGeom prst="rect">
            <a:avLst/>
          </a:prstGeom>
          <a:noFill/>
        </p:spPr>
        <p:txBody>
          <a:bodyPr wrap="square" anchor="ctr" lIns="0" rIns="0" tIns="0" bIns="0">
            <a:spAutoFit/>
          </a:bodyPr>
          <a:lstStyle/>
          <a:p>
            <a:pPr algn="l">
              <a:spcAft>
                <a:spcPts val="400"/>
              </a:spcAft>
            </a:pPr>
            <a:r>
              <a:rPr sz="1000" b="0">
                <a:solidFill>
                  <a:srgbClr val="FFFFFF"/>
                </a:solidFill>
                <a:latin typeface="Calibri"/>
              </a:rPr>
              <a:t>Morning: drones map which drops held and where to drop next</a:t>
            </a:r>
          </a:p>
        </p:txBody>
      </p:sp>
      <p:sp>
        <p:nvSpPr>
          <p:cNvPr id="182" name="Rounded Rectangle 181"/>
          <p:cNvSpPr/>
          <p:nvPr/>
        </p:nvSpPr>
        <p:spPr>
          <a:xfrm>
            <a:off x="5191658" y="3227832"/>
            <a:ext cx="2391841" cy="566928"/>
          </a:xfrm>
          <a:prstGeom prst="roundRect">
            <a:avLst>
              <a:gd name="adj" fmla="val 6000"/>
            </a:avLst>
          </a:prstGeom>
          <a:solidFill>
            <a:srgbClr val="E86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5237378" y="3246120"/>
            <a:ext cx="2309545" cy="530352"/>
          </a:xfrm>
          <a:prstGeom prst="rect">
            <a:avLst/>
          </a:prstGeom>
          <a:noFill/>
        </p:spPr>
        <p:txBody>
          <a:bodyPr wrap="square" anchor="ctr" lIns="0" rIns="0" tIns="0" bIns="0">
            <a:spAutoFit/>
          </a:bodyPr>
          <a:lstStyle/>
          <a:p>
            <a:pPr algn="l">
              <a:spcAft>
                <a:spcPts val="400"/>
              </a:spcAft>
            </a:pPr>
            <a:r>
              <a:rPr sz="1000" b="0">
                <a:solidFill>
                  <a:srgbClr val="FFFFFF"/>
                </a:solidFill>
                <a:latin typeface="Calibri"/>
              </a:rPr>
              <a:t>Daylight: helicopter and airtanker drops; drones map where drops held</a:t>
            </a:r>
          </a:p>
        </p:txBody>
      </p:sp>
      <p:sp>
        <p:nvSpPr>
          <p:cNvPr id="184" name="Rounded Rectangle 183"/>
          <p:cNvSpPr/>
          <p:nvPr/>
        </p:nvSpPr>
        <p:spPr>
          <a:xfrm>
            <a:off x="7610932" y="3227832"/>
            <a:ext cx="1585417" cy="566928"/>
          </a:xfrm>
          <a:prstGeom prst="roundRect">
            <a:avLst>
              <a:gd name="adj" fmla="val 6000"/>
            </a:avLst>
          </a:prstGeom>
          <a:solidFill>
            <a:srgbClr val="8E7B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7656652" y="3246120"/>
            <a:ext cx="1503121" cy="530352"/>
          </a:xfrm>
          <a:prstGeom prst="rect">
            <a:avLst/>
          </a:prstGeom>
          <a:noFill/>
        </p:spPr>
        <p:txBody>
          <a:bodyPr wrap="square" anchor="ctr" lIns="0" rIns="0" tIns="0" bIns="0">
            <a:spAutoFit/>
          </a:bodyPr>
          <a:lstStyle/>
          <a:p>
            <a:pPr algn="l">
              <a:spcAft>
                <a:spcPts val="400"/>
              </a:spcAft>
            </a:pPr>
            <a:r>
              <a:rPr sz="900" b="0">
                <a:solidFill>
                  <a:srgbClr val="FFFFFF"/>
                </a:solidFill>
                <a:latin typeface="Calibri"/>
              </a:rPr>
              <a:t>Night: crewed aircraft stand down; night water drop is a large UAS or OPA concept only</a:t>
            </a:r>
          </a:p>
        </p:txBody>
      </p:sp>
      <p:sp>
        <p:nvSpPr>
          <p:cNvPr id="186" name="Rounded Rectangle 185"/>
          <p:cNvSpPr/>
          <p:nvPr/>
        </p:nvSpPr>
        <p:spPr>
          <a:xfrm>
            <a:off x="9223781" y="3227832"/>
            <a:ext cx="2391841" cy="566928"/>
          </a:xfrm>
          <a:prstGeom prst="roundRect">
            <a:avLst>
              <a:gd name="adj" fmla="val 6000"/>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9269501" y="3246120"/>
            <a:ext cx="2309545" cy="530352"/>
          </a:xfrm>
          <a:prstGeom prst="rect">
            <a:avLst/>
          </a:prstGeom>
          <a:noFill/>
        </p:spPr>
        <p:txBody>
          <a:bodyPr wrap="square" anchor="ctr" lIns="0" rIns="0" tIns="0" bIns="0">
            <a:spAutoFit/>
          </a:bodyPr>
          <a:lstStyle/>
          <a:p>
            <a:pPr algn="l">
              <a:spcAft>
                <a:spcPts val="400"/>
              </a:spcAft>
            </a:pPr>
            <a:r>
              <a:rPr sz="1000" b="0">
                <a:solidFill>
                  <a:srgbClr val="FFFFFF"/>
                </a:solidFill>
                <a:latin typeface="Calibri"/>
              </a:rPr>
              <a:t>Night: drone IR shows where line held, ready for first light drops</a:t>
            </a:r>
          </a:p>
        </p:txBody>
      </p:sp>
      <p:sp>
        <p:nvSpPr>
          <p:cNvPr id="188" name="TextBox 187"/>
          <p:cNvSpPr txBox="1"/>
          <p:nvPr/>
        </p:nvSpPr>
        <p:spPr>
          <a:xfrm>
            <a:off x="548640" y="3913631"/>
            <a:ext cx="11064240" cy="228600"/>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Green: can fly by station gusts. Red: grounded. Dark hour cells: night (20:00 to 06:00). Map age: hours since the newest aircraft perimeter in the record.</a:t>
            </a:r>
          </a:p>
        </p:txBody>
      </p:sp>
      <p:sp>
        <p:nvSpPr>
          <p:cNvPr id="189" name="Rounded Rectangle 188"/>
          <p:cNvSpPr/>
          <p:nvPr/>
        </p:nvSpPr>
        <p:spPr>
          <a:xfrm>
            <a:off x="548640" y="4279392"/>
            <a:ext cx="6675120" cy="1984248"/>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731520" y="4370831"/>
            <a:ext cx="6309360" cy="274320"/>
          </a:xfrm>
          <a:prstGeom prst="rect">
            <a:avLst/>
          </a:prstGeom>
          <a:noFill/>
        </p:spPr>
        <p:txBody>
          <a:bodyPr wrap="square" anchor="t" lIns="0" rIns="0" tIns="0" bIns="0">
            <a:spAutoFit/>
          </a:bodyPr>
          <a:lstStyle/>
          <a:p>
            <a:pPr algn="l">
              <a:spcAft>
                <a:spcPts val="400"/>
              </a:spcAft>
            </a:pPr>
            <a:r>
              <a:rPr sz="1400" b="1">
                <a:solidFill>
                  <a:srgbClr val="1D2125"/>
                </a:solidFill>
                <a:latin typeface="Arial"/>
              </a:rPr>
              <a:t>What the records show</a:t>
            </a:r>
          </a:p>
        </p:txBody>
      </p:sp>
      <p:sp>
        <p:nvSpPr>
          <p:cNvPr id="191" name="TextBox 190"/>
          <p:cNvSpPr txBox="1"/>
          <p:nvPr/>
        </p:nvSpPr>
        <p:spPr>
          <a:xfrm>
            <a:off x="731520" y="4690872"/>
            <a:ext cx="6309360" cy="1527048"/>
          </a:xfrm>
          <a:prstGeom prst="rect">
            <a:avLst/>
          </a:prstGeom>
          <a:noFill/>
        </p:spPr>
        <p:txBody>
          <a:bodyPr wrap="square" anchor="t" lIns="0" rIns="0" tIns="0" bIns="0">
            <a:spAutoFit/>
          </a:bodyPr>
          <a:lstStyle/>
          <a:p>
            <a:pPr algn="l">
              <a:spcAft>
                <a:spcPts val="400"/>
              </a:spcAft>
            </a:pPr>
            <a:r>
              <a:rPr sz="1200" b="1">
                <a:solidFill>
                  <a:srgbClr val="1D2125"/>
                </a:solidFill>
                <a:latin typeface="Calibri"/>
              </a:rPr>
              <a:t>18:00  </a:t>
            </a:r>
            <a:r>
              <a:rPr sz="1200" b="0">
                <a:solidFill>
                  <a:srgbClr val="1D2125"/>
                </a:solidFill>
                <a:latin typeface="Calibri"/>
              </a:rPr>
              <a:t>Atlas Peak 29 mph sustained, 41 mph gusts</a:t>
            </a:r>
          </a:p>
          <a:p>
            <a:pPr algn="l">
              <a:spcAft>
                <a:spcPts val="400"/>
              </a:spcAft>
            </a:pPr>
            <a:r>
              <a:rPr sz="1200" b="1">
                <a:solidFill>
                  <a:srgbClr val="1D2125"/>
                </a:solidFill>
                <a:latin typeface="Calibri"/>
              </a:rPr>
              <a:t>Night  </a:t>
            </a:r>
            <a:r>
              <a:rPr sz="1200" b="0">
                <a:solidFill>
                  <a:srgbClr val="1D2125"/>
                </a:solidFill>
                <a:latin typeface="Calibri"/>
              </a:rPr>
              <a:t>Fires merge in a 12-mile overnight run (agency chronology)</a:t>
            </a:r>
          </a:p>
          <a:p>
            <a:pPr algn="l">
              <a:spcAft>
                <a:spcPts val="400"/>
              </a:spcAft>
            </a:pPr>
            <a:r>
              <a:rPr sz="1200" b="1">
                <a:solidFill>
                  <a:srgbClr val="1D2125"/>
                </a:solidFill>
                <a:latin typeface="Calibri"/>
              </a:rPr>
              <a:t>00:00  </a:t>
            </a:r>
            <a:r>
              <a:rPr sz="1200" b="0">
                <a:solidFill>
                  <a:srgbClr val="1D2125"/>
                </a:solidFill>
                <a:latin typeface="Calibri"/>
              </a:rPr>
              <a:t>Satellite 41,602 ac for the main object, up from 7,328 ac at 12:00</a:t>
            </a:r>
          </a:p>
          <a:p>
            <a:pPr algn="l">
              <a:spcAft>
                <a:spcPts val="400"/>
              </a:spcAft>
            </a:pPr>
            <a:r>
              <a:rPr sz="1200" b="1">
                <a:solidFill>
                  <a:srgbClr val="1D2125"/>
                </a:solidFill>
                <a:latin typeface="Calibri"/>
              </a:rPr>
              <a:t>08:00  </a:t>
            </a:r>
            <a:r>
              <a:rPr sz="1200" b="0">
                <a:solidFill>
                  <a:srgbClr val="1D2125"/>
                </a:solidFill>
                <a:latin typeface="Calibri"/>
              </a:rPr>
              <a:t>First complex ICS-209 (19 Aug): 33,025 ac</a:t>
            </a:r>
          </a:p>
          <a:p>
            <a:pPr algn="l">
              <a:spcAft>
                <a:spcPts val="400"/>
              </a:spcAft>
            </a:pPr>
            <a:r>
              <a:rPr sz="1200" b="1">
                <a:solidFill>
                  <a:srgbClr val="1D2125"/>
                </a:solidFill>
                <a:latin typeface="Calibri"/>
              </a:rPr>
              <a:t>Record  </a:t>
            </a:r>
            <a:r>
              <a:rPr sz="1200" b="0">
                <a:solidFill>
                  <a:srgbClr val="1D2125"/>
                </a:solidFill>
                <a:latin typeface="Calibri"/>
              </a:rPr>
              <a:t>No aircraft perimeter series exists for LNU without GOFER</a:t>
            </a:r>
          </a:p>
        </p:txBody>
      </p:sp>
      <p:sp>
        <p:nvSpPr>
          <p:cNvPr id="192" name="Rounded Rectangle 191"/>
          <p:cNvSpPr/>
          <p:nvPr/>
        </p:nvSpPr>
        <p:spPr>
          <a:xfrm>
            <a:off x="7406640" y="4279392"/>
            <a:ext cx="4206240" cy="1984248"/>
          </a:xfrm>
          <a:prstGeom prst="roundRect">
            <a:avLst>
              <a:gd name="adj" fmla="val 6000"/>
            </a:avLst>
          </a:prstGeom>
          <a:solidFill>
            <a:srgbClr val="1D2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7589520" y="4370831"/>
            <a:ext cx="3840480" cy="274320"/>
          </a:xfrm>
          <a:prstGeom prst="rect">
            <a:avLst/>
          </a:prstGeom>
          <a:noFill/>
        </p:spPr>
        <p:txBody>
          <a:bodyPr wrap="square" anchor="t" lIns="0" rIns="0" tIns="0" bIns="0">
            <a:spAutoFit/>
          </a:bodyPr>
          <a:lstStyle/>
          <a:p>
            <a:pPr algn="l">
              <a:spcAft>
                <a:spcPts val="400"/>
              </a:spcAft>
            </a:pPr>
            <a:r>
              <a:rPr sz="1400" b="1">
                <a:solidFill>
                  <a:srgbClr val="E9A821"/>
                </a:solidFill>
                <a:latin typeface="Arial"/>
              </a:rPr>
              <a:t>Quantified uncertainty</a:t>
            </a:r>
          </a:p>
        </p:txBody>
      </p:sp>
      <p:sp>
        <p:nvSpPr>
          <p:cNvPr id="194" name="TextBox 193"/>
          <p:cNvSpPr txBox="1"/>
          <p:nvPr/>
        </p:nvSpPr>
        <p:spPr>
          <a:xfrm>
            <a:off x="7589520" y="4690872"/>
            <a:ext cx="3840480" cy="1527048"/>
          </a:xfrm>
          <a:prstGeom prst="rect">
            <a:avLst/>
          </a:prstGeom>
          <a:noFill/>
        </p:spPr>
        <p:txBody>
          <a:bodyPr wrap="square" anchor="t" lIns="0" rIns="0" tIns="0" bIns="0">
            <a:spAutoFit/>
          </a:bodyPr>
          <a:lstStyle/>
          <a:p>
            <a:pPr algn="l">
              <a:spcAft>
                <a:spcPts val="400"/>
              </a:spcAft>
            </a:pPr>
            <a:r>
              <a:rPr sz="1300" b="0">
                <a:solidFill>
                  <a:srgbClr val="FFFFFF"/>
                </a:solidFill>
                <a:latin typeface="Calibri"/>
              </a:rPr>
              <a:t>V_eff = n x S x V x P(hit) x p. Wind enters twice: through p and through drift d = u x sqrt(2h/g).</a:t>
            </a:r>
          </a:p>
          <a:p>
            <a:pPr algn="l">
              <a:spcAft>
                <a:spcPts val="400"/>
              </a:spcAft>
            </a:pPr>
            <a:r>
              <a:rPr sz="1100" b="0">
                <a:solidFill>
                  <a:srgbClr val="E1E4E8"/>
                </a:solidFill>
                <a:latin typeface="Calibri"/>
              </a:rPr>
              <a:t>The gust spread of the drift is what an aim on sustained wind cannot remove.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229600" cy="274320"/>
          </a:xfrm>
          <a:prstGeom prst="rect">
            <a:avLst/>
          </a:prstGeom>
          <a:noFill/>
        </p:spPr>
        <p:txBody>
          <a:bodyPr wrap="square" anchor="t" lIns="0" rIns="0" tIns="0" bIns="0">
            <a:spAutoFit/>
          </a:bodyPr>
          <a:lstStyle/>
          <a:p>
            <a:pPr algn="l">
              <a:spcAft>
                <a:spcPts val="400"/>
              </a:spcAft>
            </a:pPr>
            <a:r>
              <a:rPr sz="1200" b="1">
                <a:solidFill>
                  <a:srgbClr val="E8642F"/>
                </a:solidFill>
                <a:latin typeface="Arial"/>
              </a:rPr>
              <a:t>M5  |  LOGISTICS SUPPORT  |  BOTTOM LINE</a:t>
            </a:r>
          </a:p>
        </p:txBody>
      </p:sp>
      <p:sp>
        <p:nvSpPr>
          <p:cNvPr id="3" name="TextBox 2"/>
          <p:cNvSpPr txBox="1"/>
          <p:nvPr/>
        </p:nvSpPr>
        <p:spPr>
          <a:xfrm>
            <a:off x="548640" y="566928"/>
            <a:ext cx="11064240" cy="685800"/>
          </a:xfrm>
          <a:prstGeom prst="rect">
            <a:avLst/>
          </a:prstGeom>
          <a:noFill/>
        </p:spPr>
        <p:txBody>
          <a:bodyPr wrap="square" anchor="t" lIns="0" rIns="0" tIns="0" bIns="0">
            <a:spAutoFit/>
          </a:bodyPr>
          <a:lstStyle/>
          <a:p>
            <a:pPr algn="l">
              <a:spcAft>
                <a:spcPts val="400"/>
              </a:spcAft>
            </a:pPr>
            <a:r>
              <a:rPr sz="2800" b="1">
                <a:solidFill>
                  <a:srgbClr val="1D2125"/>
                </a:solidFill>
                <a:latin typeface="Arial"/>
              </a:rPr>
              <a:t>Logistics: P(on time) for water and supplies to crews</a:t>
            </a:r>
          </a:p>
        </p:txBody>
      </p:sp>
      <p:sp>
        <p:nvSpPr>
          <p:cNvPr id="4" name="TextBox 3"/>
          <p:cNvSpPr txBox="1"/>
          <p:nvPr/>
        </p:nvSpPr>
        <p:spPr>
          <a:xfrm>
            <a:off x="548640" y="6446520"/>
            <a:ext cx="9144000" cy="256032"/>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NASA Aerial Wildfire Project  |  ACERO Disaster Lab  |  Mission UQ v1.1  |  20 October 2026</a:t>
            </a:r>
          </a:p>
        </p:txBody>
      </p:sp>
      <p:sp>
        <p:nvSpPr>
          <p:cNvPr id="5" name="TextBox 4"/>
          <p:cNvSpPr txBox="1"/>
          <p:nvPr/>
        </p:nvSpPr>
        <p:spPr>
          <a:xfrm>
            <a:off x="11155680" y="6446520"/>
            <a:ext cx="502920" cy="256032"/>
          </a:xfrm>
          <a:prstGeom prst="rect">
            <a:avLst/>
          </a:prstGeom>
          <a:noFill/>
        </p:spPr>
        <p:txBody>
          <a:bodyPr wrap="square" anchor="t" lIns="0" rIns="0" tIns="0" bIns="0">
            <a:spAutoFit/>
          </a:bodyPr>
          <a:lstStyle/>
          <a:p>
            <a:pPr algn="r">
              <a:spcAft>
                <a:spcPts val="400"/>
              </a:spcAft>
            </a:pPr>
            <a:r>
              <a:rPr sz="1000" b="0">
                <a:solidFill>
                  <a:srgbClr val="6B7480"/>
                </a:solidFill>
                <a:latin typeface="Calibri"/>
              </a:rPr>
              <a:t>10</a:t>
            </a:r>
          </a:p>
        </p:txBody>
      </p:sp>
      <p:sp>
        <p:nvSpPr>
          <p:cNvPr id="6" name="Rounded Rectangle 5"/>
          <p:cNvSpPr/>
          <p:nvPr/>
        </p:nvSpPr>
        <p:spPr>
          <a:xfrm>
            <a:off x="548640"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3108960" cy="777240"/>
          </a:xfrm>
          <a:prstGeom prst="rect">
            <a:avLst/>
          </a:prstGeom>
          <a:noFill/>
        </p:spPr>
        <p:txBody>
          <a:bodyPr wrap="square" anchor="b" lIns="0" rIns="0" tIns="0" bIns="0">
            <a:spAutoFit/>
          </a:bodyPr>
          <a:lstStyle/>
          <a:p>
            <a:pPr algn="l">
              <a:spcAft>
                <a:spcPts val="400"/>
              </a:spcAft>
            </a:pPr>
            <a:r>
              <a:rPr sz="3400" b="1">
                <a:solidFill>
                  <a:srgbClr val="E8642F"/>
                </a:solidFill>
                <a:latin typeface="Arial"/>
              </a:rPr>
              <a:t>7.1 to 0.9 km</a:t>
            </a:r>
          </a:p>
        </p:txBody>
      </p:sp>
      <p:sp>
        <p:nvSpPr>
          <p:cNvPr id="8" name="TextBox 7"/>
          <p:cNvSpPr txBox="1"/>
          <p:nvPr/>
        </p:nvSpPr>
        <p:spPr>
          <a:xfrm>
            <a:off x="777240"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Alta X loaded radius with 10 kg, still air to Camp's peak 29 mph sustained headwind; zero in its gusts</a:t>
            </a:r>
          </a:p>
        </p:txBody>
      </p:sp>
      <p:sp>
        <p:nvSpPr>
          <p:cNvPr id="9" name="Rounded Rectangle 8"/>
          <p:cNvSpPr/>
          <p:nvPr/>
        </p:nvSpPr>
        <p:spPr>
          <a:xfrm>
            <a:off x="4297679"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00200"/>
            <a:ext cx="3108960" cy="777240"/>
          </a:xfrm>
          <a:prstGeom prst="rect">
            <a:avLst/>
          </a:prstGeom>
          <a:noFill/>
        </p:spPr>
        <p:txBody>
          <a:bodyPr wrap="square" anchor="b" lIns="0" rIns="0" tIns="0" bIns="0">
            <a:spAutoFit/>
          </a:bodyPr>
          <a:lstStyle/>
          <a:p>
            <a:pPr algn="l">
              <a:spcAft>
                <a:spcPts val="400"/>
              </a:spcAft>
            </a:pPr>
            <a:r>
              <a:rPr sz="3400" b="1">
                <a:solidFill>
                  <a:srgbClr val="C8402A"/>
                </a:solidFill>
                <a:latin typeface="Arial"/>
              </a:rPr>
              <a:t>4% to 71%</a:t>
            </a:r>
          </a:p>
        </p:txBody>
      </p:sp>
      <p:sp>
        <p:nvSpPr>
          <p:cNvPr id="11" name="TextBox 10"/>
          <p:cNvSpPr txBox="1"/>
          <p:nvPr/>
        </p:nvSpPr>
        <p:spPr>
          <a:xfrm>
            <a:off x="4526279"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Camp standard day P(on time), 3 km delivery inside 30 min (gust to sustained reading)</a:t>
            </a:r>
          </a:p>
        </p:txBody>
      </p:sp>
      <p:sp>
        <p:nvSpPr>
          <p:cNvPr id="12" name="Rounded Rectangle 11"/>
          <p:cNvSpPr/>
          <p:nvPr/>
        </p:nvSpPr>
        <p:spPr>
          <a:xfrm>
            <a:off x="8046719" y="1463040"/>
            <a:ext cx="3566160" cy="21488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1600200"/>
            <a:ext cx="3108960" cy="777240"/>
          </a:xfrm>
          <a:prstGeom prst="rect">
            <a:avLst/>
          </a:prstGeom>
          <a:noFill/>
        </p:spPr>
        <p:txBody>
          <a:bodyPr wrap="square" anchor="b" lIns="0" rIns="0" tIns="0" bIns="0">
            <a:spAutoFit/>
          </a:bodyPr>
          <a:lstStyle/>
          <a:p>
            <a:pPr algn="l">
              <a:spcAft>
                <a:spcPts val="400"/>
              </a:spcAft>
            </a:pPr>
            <a:r>
              <a:rPr sz="3400" b="1">
                <a:solidFill>
                  <a:srgbClr val="18A878"/>
                </a:solidFill>
                <a:latin typeface="Arial"/>
              </a:rPr>
              <a:t>96% to 100%</a:t>
            </a:r>
          </a:p>
        </p:txBody>
      </p:sp>
      <p:sp>
        <p:nvSpPr>
          <p:cNvPr id="14" name="TextBox 13"/>
          <p:cNvSpPr txBox="1"/>
          <p:nvPr/>
        </p:nvSpPr>
        <p:spPr>
          <a:xfrm>
            <a:off x="8275319" y="2450592"/>
            <a:ext cx="3108960" cy="1097280"/>
          </a:xfrm>
          <a:prstGeom prst="rect">
            <a:avLst/>
          </a:prstGeom>
          <a:noFill/>
        </p:spPr>
        <p:txBody>
          <a:bodyPr wrap="square" anchor="t" lIns="0" rIns="0" tIns="0" bIns="0">
            <a:spAutoFit/>
          </a:bodyPr>
          <a:lstStyle/>
          <a:p>
            <a:pPr algn="l">
              <a:spcAft>
                <a:spcPts val="400"/>
              </a:spcAft>
            </a:pPr>
            <a:r>
              <a:rPr sz="1300" b="0">
                <a:solidFill>
                  <a:srgbClr val="3A424B"/>
                </a:solidFill>
                <a:latin typeface="Calibri"/>
              </a:rPr>
              <a:t>Pioneer standard day: remote lines, light wind, so small drones can resupply</a:t>
            </a:r>
          </a:p>
        </p:txBody>
      </p:sp>
      <p:sp>
        <p:nvSpPr>
          <p:cNvPr id="15" name="Rounded Rectangle 14"/>
          <p:cNvSpPr/>
          <p:nvPr/>
        </p:nvSpPr>
        <p:spPr>
          <a:xfrm>
            <a:off x="548640" y="3840480"/>
            <a:ext cx="5394960" cy="23774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950208"/>
            <a:ext cx="4937760" cy="320040"/>
          </a:xfrm>
          <a:prstGeom prst="rect">
            <a:avLst/>
          </a:prstGeom>
          <a:noFill/>
        </p:spPr>
        <p:txBody>
          <a:bodyPr wrap="square" anchor="t" lIns="0" rIns="0" tIns="0" bIns="0">
            <a:spAutoFit/>
          </a:bodyPr>
          <a:lstStyle/>
          <a:p>
            <a:pPr algn="l">
              <a:spcAft>
                <a:spcPts val="400"/>
              </a:spcAft>
            </a:pPr>
            <a:r>
              <a:rPr sz="1500" b="1">
                <a:solidFill>
                  <a:srgbClr val="1D2125"/>
                </a:solidFill>
                <a:latin typeface="Arial"/>
              </a:rPr>
              <a:t>Who uses it</a:t>
            </a:r>
          </a:p>
        </p:txBody>
      </p:sp>
      <p:sp>
        <p:nvSpPr>
          <p:cNvPr id="17" name="TextBox 16"/>
          <p:cNvSpPr txBox="1"/>
          <p:nvPr/>
        </p:nvSpPr>
        <p:spPr>
          <a:xfrm>
            <a:off x="777240" y="4343400"/>
            <a:ext cx="4937760" cy="1828800"/>
          </a:xfrm>
          <a:prstGeom prst="rect">
            <a:avLst/>
          </a:prstGeom>
          <a:noFill/>
        </p:spPr>
        <p:txBody>
          <a:bodyPr wrap="square" anchor="t" lIns="0" rIns="0" tIns="0" bIns="0">
            <a:spAutoFit/>
          </a:bodyPr>
          <a:lstStyle/>
          <a:p>
            <a:pPr algn="l">
              <a:spcAft>
                <a:spcPts val="400"/>
              </a:spcAft>
            </a:pPr>
            <a:r>
              <a:rPr sz="1300" b="1">
                <a:solidFill>
                  <a:srgbClr val="1D2125"/>
                </a:solidFill>
                <a:latin typeface="Calibri"/>
              </a:rPr>
              <a:t>Crew bosses and division supervisors: </a:t>
            </a:r>
            <a:r>
              <a:rPr sz="1300" b="0">
                <a:solidFill>
                  <a:srgbClr val="1D2125"/>
                </a:solidFill>
                <a:latin typeface="Calibri"/>
              </a:rPr>
              <a:t>water, hose, pumps and food on remote lines.</a:t>
            </a:r>
          </a:p>
          <a:p>
            <a:pPr algn="l">
              <a:spcAft>
                <a:spcPts val="400"/>
              </a:spcAft>
            </a:pPr>
            <a:r>
              <a:rPr sz="1300" b="1">
                <a:solidFill>
                  <a:srgbClr val="1D2125"/>
                </a:solidFill>
                <a:latin typeface="Calibri"/>
              </a:rPr>
              <a:t>Logistics section chief and IC: </a:t>
            </a:r>
            <a:r>
              <a:rPr sz="1300" b="0">
                <a:solidFill>
                  <a:srgbClr val="1D2125"/>
                </a:solidFill>
                <a:latin typeface="Calibri"/>
              </a:rPr>
              <a:t>how many aircraft, which crews by air, which helicopter landing zones stay usable.</a:t>
            </a:r>
          </a:p>
        </p:txBody>
      </p:sp>
      <p:sp>
        <p:nvSpPr>
          <p:cNvPr id="18" name="Rounded Rectangle 17"/>
          <p:cNvSpPr/>
          <p:nvPr/>
        </p:nvSpPr>
        <p:spPr>
          <a:xfrm>
            <a:off x="6126479" y="3840480"/>
            <a:ext cx="5486400" cy="237744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9" y="3950208"/>
            <a:ext cx="5029200" cy="320040"/>
          </a:xfrm>
          <a:prstGeom prst="rect">
            <a:avLst/>
          </a:prstGeom>
          <a:noFill/>
        </p:spPr>
        <p:txBody>
          <a:bodyPr wrap="square" anchor="t" lIns="0" rIns="0" tIns="0" bIns="0">
            <a:spAutoFit/>
          </a:bodyPr>
          <a:lstStyle/>
          <a:p>
            <a:pPr algn="l">
              <a:spcAft>
                <a:spcPts val="400"/>
              </a:spcAft>
            </a:pPr>
            <a:r>
              <a:rPr sz="1500" b="1">
                <a:solidFill>
                  <a:srgbClr val="1D2125"/>
                </a:solidFill>
                <a:latin typeface="Arial"/>
              </a:rPr>
              <a:t>Drone types and parameters</a:t>
            </a:r>
          </a:p>
        </p:txBody>
      </p:sp>
      <p:sp>
        <p:nvSpPr>
          <p:cNvPr id="20" name="TextBox 19"/>
          <p:cNvSpPr txBox="1"/>
          <p:nvPr/>
        </p:nvSpPr>
        <p:spPr>
          <a:xfrm>
            <a:off x="6355079" y="4343400"/>
            <a:ext cx="5029200" cy="1828800"/>
          </a:xfrm>
          <a:prstGeom prst="rect">
            <a:avLst/>
          </a:prstGeom>
          <a:noFill/>
        </p:spPr>
        <p:txBody>
          <a:bodyPr wrap="square" anchor="t" lIns="0" rIns="0" tIns="0" bIns="0">
            <a:spAutoFit/>
          </a:bodyPr>
          <a:lstStyle/>
          <a:p>
            <a:pPr algn="l">
              <a:spcAft>
                <a:spcPts val="400"/>
              </a:spcAft>
            </a:pPr>
            <a:r>
              <a:rPr sz="1200" b="1">
                <a:solidFill>
                  <a:srgbClr val="1D2125"/>
                </a:solidFill>
                <a:latin typeface="Calibri"/>
              </a:rPr>
              <a:t>Alta X: </a:t>
            </a:r>
            <a:r>
              <a:rPr sz="1200" b="0">
                <a:solidFill>
                  <a:srgbClr val="1D2125"/>
                </a:solidFill>
                <a:latin typeface="Calibri"/>
              </a:rPr>
              <a:t>22 min at 22 lb, 60 mph top speed, 22 mph limit</a:t>
            </a:r>
          </a:p>
          <a:p>
            <a:pPr algn="l">
              <a:spcAft>
                <a:spcPts val="400"/>
              </a:spcAft>
            </a:pPr>
            <a:r>
              <a:rPr sz="1200" b="1">
                <a:solidFill>
                  <a:srgbClr val="1D2125"/>
                </a:solidFill>
                <a:latin typeface="Calibri"/>
              </a:rPr>
              <a:t>Type 3 / 4: </a:t>
            </a:r>
            <a:r>
              <a:rPr sz="1200" b="0">
                <a:solidFill>
                  <a:srgbClr val="1D2125"/>
                </a:solidFill>
                <a:latin typeface="Calibri"/>
              </a:rPr>
              <a:t>radios, batteries, first aid</a:t>
            </a:r>
          </a:p>
          <a:p>
            <a:pPr algn="l">
              <a:spcAft>
                <a:spcPts val="400"/>
              </a:spcAft>
            </a:pPr>
            <a:r>
              <a:rPr sz="1200" b="1">
                <a:solidFill>
                  <a:srgbClr val="1D2125"/>
                </a:solidFill>
                <a:latin typeface="Calibri"/>
              </a:rPr>
              <a:t>Elroy Chaparral: </a:t>
            </a:r>
            <a:r>
              <a:rPr sz="1200" b="0">
                <a:solidFill>
                  <a:srgbClr val="1D2125"/>
                </a:solidFill>
                <a:latin typeface="Calibri"/>
              </a:rPr>
              <a:t>500 lb over 300 nm (in development)</a:t>
            </a:r>
          </a:p>
          <a:p>
            <a:pPr algn="l">
              <a:spcAft>
                <a:spcPts val="400"/>
              </a:spcAft>
            </a:pPr>
            <a:r>
              <a:rPr sz="1200" b="1">
                <a:solidFill>
                  <a:srgbClr val="1D2125"/>
                </a:solidFill>
                <a:latin typeface="Calibri"/>
              </a:rPr>
              <a:t>Piasecki KARGO II: </a:t>
            </a:r>
            <a:r>
              <a:rPr sz="1200" b="0">
                <a:solidFill>
                  <a:srgbClr val="1D2125"/>
                </a:solidFill>
                <a:latin typeface="Calibri"/>
              </a:rPr>
              <a:t>1,500 lb (in development)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229600" cy="274320"/>
          </a:xfrm>
          <a:prstGeom prst="rect">
            <a:avLst/>
          </a:prstGeom>
          <a:noFill/>
        </p:spPr>
        <p:txBody>
          <a:bodyPr wrap="square" anchor="t" lIns="0" rIns="0" tIns="0" bIns="0">
            <a:spAutoFit/>
          </a:bodyPr>
          <a:lstStyle/>
          <a:p>
            <a:pPr algn="l">
              <a:spcAft>
                <a:spcPts val="400"/>
              </a:spcAft>
            </a:pPr>
            <a:r>
              <a:rPr sz="1200" b="1">
                <a:solidFill>
                  <a:srgbClr val="E8642F"/>
                </a:solidFill>
                <a:latin typeface="Arial"/>
              </a:rPr>
              <a:t>M5  |  LOGISTICS SUPPORT  |  HOUR BY HOUR</a:t>
            </a:r>
          </a:p>
        </p:txBody>
      </p:sp>
      <p:sp>
        <p:nvSpPr>
          <p:cNvPr id="3" name="TextBox 2"/>
          <p:cNvSpPr txBox="1"/>
          <p:nvPr/>
        </p:nvSpPr>
        <p:spPr>
          <a:xfrm>
            <a:off x="548640" y="566928"/>
            <a:ext cx="11064240" cy="685800"/>
          </a:xfrm>
          <a:prstGeom prst="rect">
            <a:avLst/>
          </a:prstGeom>
          <a:noFill/>
        </p:spPr>
        <p:txBody>
          <a:bodyPr wrap="square" anchor="t" lIns="0" rIns="0" tIns="0" bIns="0">
            <a:spAutoFit/>
          </a:bodyPr>
          <a:lstStyle/>
          <a:p>
            <a:pPr algn="l">
              <a:spcAft>
                <a:spcPts val="400"/>
              </a:spcAft>
            </a:pPr>
            <a:r>
              <a:rPr sz="2800" b="1">
                <a:solidFill>
                  <a:srgbClr val="1D2125"/>
                </a:solidFill>
                <a:latin typeface="Arial"/>
              </a:rPr>
              <a:t>Pioneer, 29 August: a flyable day to resupply before the run</a:t>
            </a:r>
          </a:p>
        </p:txBody>
      </p:sp>
      <p:sp>
        <p:nvSpPr>
          <p:cNvPr id="4" name="TextBox 3"/>
          <p:cNvSpPr txBox="1"/>
          <p:nvPr/>
        </p:nvSpPr>
        <p:spPr>
          <a:xfrm>
            <a:off x="548640" y="6446520"/>
            <a:ext cx="9144000" cy="256032"/>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NASA Aerial Wildfire Project  |  ACERO Disaster Lab  |  Mission UQ v1.1  |  20 October 2026</a:t>
            </a:r>
          </a:p>
        </p:txBody>
      </p:sp>
      <p:sp>
        <p:nvSpPr>
          <p:cNvPr id="5" name="TextBox 4"/>
          <p:cNvSpPr txBox="1"/>
          <p:nvPr/>
        </p:nvSpPr>
        <p:spPr>
          <a:xfrm>
            <a:off x="11155680" y="6446520"/>
            <a:ext cx="502920" cy="256032"/>
          </a:xfrm>
          <a:prstGeom prst="rect">
            <a:avLst/>
          </a:prstGeom>
          <a:noFill/>
        </p:spPr>
        <p:txBody>
          <a:bodyPr wrap="square" anchor="t" lIns="0" rIns="0" tIns="0" bIns="0">
            <a:spAutoFit/>
          </a:bodyPr>
          <a:lstStyle/>
          <a:p>
            <a:pPr algn="r">
              <a:spcAft>
                <a:spcPts val="400"/>
              </a:spcAft>
            </a:pPr>
            <a:r>
              <a:rPr sz="1000" b="0">
                <a:solidFill>
                  <a:srgbClr val="6B7480"/>
                </a:solidFill>
                <a:latin typeface="Calibri"/>
              </a:rPr>
              <a:t>11</a:t>
            </a:r>
          </a:p>
        </p:txBody>
      </p:sp>
      <p:sp>
        <p:nvSpPr>
          <p:cNvPr id="6" name="TextBox 5"/>
          <p:cNvSpPr txBox="1"/>
          <p:nvPr/>
        </p:nvSpPr>
        <p:spPr>
          <a:xfrm>
            <a:off x="548640" y="1417320"/>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Hour</a:t>
            </a:r>
          </a:p>
        </p:txBody>
      </p:sp>
      <p:sp>
        <p:nvSpPr>
          <p:cNvPr id="7" name="Rectangle 6"/>
          <p:cNvSpPr/>
          <p:nvPr/>
        </p:nvSpPr>
        <p:spPr>
          <a:xfrm>
            <a:off x="1965960"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06</a:t>
            </a:r>
          </a:p>
        </p:txBody>
      </p:sp>
      <p:sp>
        <p:nvSpPr>
          <p:cNvPr id="9" name="Rectangle 8"/>
          <p:cNvSpPr/>
          <p:nvPr/>
        </p:nvSpPr>
        <p:spPr>
          <a:xfrm>
            <a:off x="2369172"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69172"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07</a:t>
            </a:r>
          </a:p>
        </p:txBody>
      </p:sp>
      <p:sp>
        <p:nvSpPr>
          <p:cNvPr id="11" name="Rectangle 10"/>
          <p:cNvSpPr/>
          <p:nvPr/>
        </p:nvSpPr>
        <p:spPr>
          <a:xfrm>
            <a:off x="2772384"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72384"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08</a:t>
            </a:r>
          </a:p>
        </p:txBody>
      </p:sp>
      <p:sp>
        <p:nvSpPr>
          <p:cNvPr id="13" name="Rectangle 12"/>
          <p:cNvSpPr/>
          <p:nvPr/>
        </p:nvSpPr>
        <p:spPr>
          <a:xfrm>
            <a:off x="3175596"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75596"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09</a:t>
            </a:r>
          </a:p>
        </p:txBody>
      </p:sp>
      <p:sp>
        <p:nvSpPr>
          <p:cNvPr id="15" name="Rectangle 14"/>
          <p:cNvSpPr/>
          <p:nvPr/>
        </p:nvSpPr>
        <p:spPr>
          <a:xfrm>
            <a:off x="3578809"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8809"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10</a:t>
            </a:r>
          </a:p>
        </p:txBody>
      </p:sp>
      <p:sp>
        <p:nvSpPr>
          <p:cNvPr id="17" name="Rectangle 16"/>
          <p:cNvSpPr/>
          <p:nvPr/>
        </p:nvSpPr>
        <p:spPr>
          <a:xfrm>
            <a:off x="3982021"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82021"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11</a:t>
            </a:r>
          </a:p>
        </p:txBody>
      </p:sp>
      <p:sp>
        <p:nvSpPr>
          <p:cNvPr id="19" name="Rectangle 18"/>
          <p:cNvSpPr/>
          <p:nvPr/>
        </p:nvSpPr>
        <p:spPr>
          <a:xfrm>
            <a:off x="4385233"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5233"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12</a:t>
            </a:r>
          </a:p>
        </p:txBody>
      </p:sp>
      <p:sp>
        <p:nvSpPr>
          <p:cNvPr id="21" name="Rectangle 20"/>
          <p:cNvSpPr/>
          <p:nvPr/>
        </p:nvSpPr>
        <p:spPr>
          <a:xfrm>
            <a:off x="4788446"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88446"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13</a:t>
            </a:r>
          </a:p>
        </p:txBody>
      </p:sp>
      <p:sp>
        <p:nvSpPr>
          <p:cNvPr id="23" name="Rectangle 22"/>
          <p:cNvSpPr/>
          <p:nvPr/>
        </p:nvSpPr>
        <p:spPr>
          <a:xfrm>
            <a:off x="5191658"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1658"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14</a:t>
            </a:r>
          </a:p>
        </p:txBody>
      </p:sp>
      <p:sp>
        <p:nvSpPr>
          <p:cNvPr id="25" name="Rectangle 24"/>
          <p:cNvSpPr/>
          <p:nvPr/>
        </p:nvSpPr>
        <p:spPr>
          <a:xfrm>
            <a:off x="5594870"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94870"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15</a:t>
            </a:r>
          </a:p>
        </p:txBody>
      </p:sp>
      <p:sp>
        <p:nvSpPr>
          <p:cNvPr id="27" name="Rectangle 26"/>
          <p:cNvSpPr/>
          <p:nvPr/>
        </p:nvSpPr>
        <p:spPr>
          <a:xfrm>
            <a:off x="5998083"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98083"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16</a:t>
            </a:r>
          </a:p>
        </p:txBody>
      </p:sp>
      <p:sp>
        <p:nvSpPr>
          <p:cNvPr id="29" name="Rectangle 28"/>
          <p:cNvSpPr/>
          <p:nvPr/>
        </p:nvSpPr>
        <p:spPr>
          <a:xfrm>
            <a:off x="6401295"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1295"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17</a:t>
            </a:r>
          </a:p>
        </p:txBody>
      </p:sp>
      <p:sp>
        <p:nvSpPr>
          <p:cNvPr id="31" name="Rectangle 30"/>
          <p:cNvSpPr/>
          <p:nvPr/>
        </p:nvSpPr>
        <p:spPr>
          <a:xfrm>
            <a:off x="6804507"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04507"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18</a:t>
            </a:r>
          </a:p>
        </p:txBody>
      </p:sp>
      <p:sp>
        <p:nvSpPr>
          <p:cNvPr id="33" name="Rectangle 32"/>
          <p:cNvSpPr/>
          <p:nvPr/>
        </p:nvSpPr>
        <p:spPr>
          <a:xfrm>
            <a:off x="7207719" y="1417320"/>
            <a:ext cx="384924" cy="292608"/>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7719" y="1417320"/>
            <a:ext cx="384924" cy="292608"/>
          </a:xfrm>
          <a:prstGeom prst="rect">
            <a:avLst/>
          </a:prstGeom>
          <a:noFill/>
        </p:spPr>
        <p:txBody>
          <a:bodyPr wrap="square" anchor="ctr" lIns="0" rIns="0" tIns="0" bIns="0">
            <a:spAutoFit/>
          </a:bodyPr>
          <a:lstStyle/>
          <a:p>
            <a:pPr algn="ctr">
              <a:spcAft>
                <a:spcPts val="400"/>
              </a:spcAft>
            </a:pPr>
            <a:r>
              <a:rPr sz="1000" b="1">
                <a:solidFill>
                  <a:srgbClr val="1D2125"/>
                </a:solidFill>
                <a:latin typeface="Calibri"/>
              </a:rPr>
              <a:t>19</a:t>
            </a:r>
          </a:p>
        </p:txBody>
      </p:sp>
      <p:sp>
        <p:nvSpPr>
          <p:cNvPr id="35" name="Rectangle 34"/>
          <p:cNvSpPr/>
          <p:nvPr/>
        </p:nvSpPr>
        <p:spPr>
          <a:xfrm>
            <a:off x="7610932"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10932"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20</a:t>
            </a:r>
          </a:p>
        </p:txBody>
      </p:sp>
      <p:sp>
        <p:nvSpPr>
          <p:cNvPr id="37" name="Rectangle 36"/>
          <p:cNvSpPr/>
          <p:nvPr/>
        </p:nvSpPr>
        <p:spPr>
          <a:xfrm>
            <a:off x="8014144"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14144"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21</a:t>
            </a:r>
          </a:p>
        </p:txBody>
      </p:sp>
      <p:sp>
        <p:nvSpPr>
          <p:cNvPr id="39" name="Rectangle 38"/>
          <p:cNvSpPr/>
          <p:nvPr/>
        </p:nvSpPr>
        <p:spPr>
          <a:xfrm>
            <a:off x="8417356"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7356"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22</a:t>
            </a:r>
          </a:p>
        </p:txBody>
      </p:sp>
      <p:sp>
        <p:nvSpPr>
          <p:cNvPr id="41" name="Rectangle 40"/>
          <p:cNvSpPr/>
          <p:nvPr/>
        </p:nvSpPr>
        <p:spPr>
          <a:xfrm>
            <a:off x="8820569"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20569"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23</a:t>
            </a:r>
          </a:p>
        </p:txBody>
      </p:sp>
      <p:sp>
        <p:nvSpPr>
          <p:cNvPr id="43" name="Rectangle 42"/>
          <p:cNvSpPr/>
          <p:nvPr/>
        </p:nvSpPr>
        <p:spPr>
          <a:xfrm>
            <a:off x="9223781"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23781"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00</a:t>
            </a:r>
          </a:p>
        </p:txBody>
      </p:sp>
      <p:sp>
        <p:nvSpPr>
          <p:cNvPr id="45" name="Rectangle 44"/>
          <p:cNvSpPr/>
          <p:nvPr/>
        </p:nvSpPr>
        <p:spPr>
          <a:xfrm>
            <a:off x="9626993"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26993"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01</a:t>
            </a:r>
          </a:p>
        </p:txBody>
      </p:sp>
      <p:sp>
        <p:nvSpPr>
          <p:cNvPr id="47" name="Rectangle 46"/>
          <p:cNvSpPr/>
          <p:nvPr/>
        </p:nvSpPr>
        <p:spPr>
          <a:xfrm>
            <a:off x="10030206"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30206"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02</a:t>
            </a:r>
          </a:p>
        </p:txBody>
      </p:sp>
      <p:sp>
        <p:nvSpPr>
          <p:cNvPr id="49" name="Rectangle 48"/>
          <p:cNvSpPr/>
          <p:nvPr/>
        </p:nvSpPr>
        <p:spPr>
          <a:xfrm>
            <a:off x="10433418"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3418"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03</a:t>
            </a:r>
          </a:p>
        </p:txBody>
      </p:sp>
      <p:sp>
        <p:nvSpPr>
          <p:cNvPr id="51" name="Rectangle 50"/>
          <p:cNvSpPr/>
          <p:nvPr/>
        </p:nvSpPr>
        <p:spPr>
          <a:xfrm>
            <a:off x="10836630"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836630"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04</a:t>
            </a:r>
          </a:p>
        </p:txBody>
      </p:sp>
      <p:sp>
        <p:nvSpPr>
          <p:cNvPr id="53" name="Rectangle 52"/>
          <p:cNvSpPr/>
          <p:nvPr/>
        </p:nvSpPr>
        <p:spPr>
          <a:xfrm>
            <a:off x="11239842" y="1417320"/>
            <a:ext cx="384924" cy="292608"/>
          </a:xfrm>
          <a:prstGeom prst="rect">
            <a:avLst/>
          </a:prstGeom>
          <a:solidFill>
            <a:srgbClr val="2F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239842" y="1417320"/>
            <a:ext cx="384924" cy="292608"/>
          </a:xfrm>
          <a:prstGeom prst="rect">
            <a:avLst/>
          </a:prstGeom>
          <a:noFill/>
        </p:spPr>
        <p:txBody>
          <a:bodyPr wrap="square" anchor="ctr" lIns="0" rIns="0" tIns="0" bIns="0">
            <a:spAutoFit/>
          </a:bodyPr>
          <a:lstStyle/>
          <a:p>
            <a:pPr algn="ctr">
              <a:spcAft>
                <a:spcPts val="400"/>
              </a:spcAft>
            </a:pPr>
            <a:r>
              <a:rPr sz="1000" b="1">
                <a:solidFill>
                  <a:srgbClr val="FFFFFF"/>
                </a:solidFill>
                <a:latin typeface="Calibri"/>
              </a:rPr>
              <a:t>05</a:t>
            </a:r>
          </a:p>
        </p:txBody>
      </p:sp>
      <p:sp>
        <p:nvSpPr>
          <p:cNvPr id="55" name="TextBox 54"/>
          <p:cNvSpPr txBox="1"/>
          <p:nvPr/>
        </p:nvSpPr>
        <p:spPr>
          <a:xfrm>
            <a:off x="548640" y="1764792"/>
            <a:ext cx="1371600" cy="329184"/>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Gust mph</a:t>
            </a:r>
          </a:p>
        </p:txBody>
      </p:sp>
      <p:sp>
        <p:nvSpPr>
          <p:cNvPr id="56" name="Rectangle 55"/>
          <p:cNvSpPr/>
          <p:nvPr/>
        </p:nvSpPr>
        <p:spPr>
          <a:xfrm>
            <a:off x="196596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965960"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6</a:t>
            </a:r>
          </a:p>
        </p:txBody>
      </p:sp>
      <p:sp>
        <p:nvSpPr>
          <p:cNvPr id="58" name="Rectangle 57"/>
          <p:cNvSpPr/>
          <p:nvPr/>
        </p:nvSpPr>
        <p:spPr>
          <a:xfrm>
            <a:off x="236917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69172"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7</a:t>
            </a:r>
          </a:p>
        </p:txBody>
      </p:sp>
      <p:sp>
        <p:nvSpPr>
          <p:cNvPr id="60" name="Rectangle 59"/>
          <p:cNvSpPr/>
          <p:nvPr/>
        </p:nvSpPr>
        <p:spPr>
          <a:xfrm>
            <a:off x="2772384"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72384"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8</a:t>
            </a:r>
          </a:p>
        </p:txBody>
      </p:sp>
      <p:sp>
        <p:nvSpPr>
          <p:cNvPr id="62" name="Rectangle 61"/>
          <p:cNvSpPr/>
          <p:nvPr/>
        </p:nvSpPr>
        <p:spPr>
          <a:xfrm>
            <a:off x="317559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175596"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8</a:t>
            </a:r>
          </a:p>
        </p:txBody>
      </p:sp>
      <p:sp>
        <p:nvSpPr>
          <p:cNvPr id="64" name="Rectangle 63"/>
          <p:cNvSpPr/>
          <p:nvPr/>
        </p:nvSpPr>
        <p:spPr>
          <a:xfrm>
            <a:off x="357880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578809"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8</a:t>
            </a:r>
          </a:p>
        </p:txBody>
      </p:sp>
      <p:sp>
        <p:nvSpPr>
          <p:cNvPr id="66" name="Rectangle 65"/>
          <p:cNvSpPr/>
          <p:nvPr/>
        </p:nvSpPr>
        <p:spPr>
          <a:xfrm>
            <a:off x="3982021"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982021"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5</a:t>
            </a:r>
          </a:p>
        </p:txBody>
      </p:sp>
      <p:sp>
        <p:nvSpPr>
          <p:cNvPr id="68" name="Rectangle 67"/>
          <p:cNvSpPr/>
          <p:nvPr/>
        </p:nvSpPr>
        <p:spPr>
          <a:xfrm>
            <a:off x="438523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385233"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5</a:t>
            </a:r>
          </a:p>
        </p:txBody>
      </p:sp>
      <p:sp>
        <p:nvSpPr>
          <p:cNvPr id="70" name="Rectangle 69"/>
          <p:cNvSpPr/>
          <p:nvPr/>
        </p:nvSpPr>
        <p:spPr>
          <a:xfrm>
            <a:off x="478844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88446"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11</a:t>
            </a:r>
          </a:p>
        </p:txBody>
      </p:sp>
      <p:sp>
        <p:nvSpPr>
          <p:cNvPr id="72" name="Rectangle 71"/>
          <p:cNvSpPr/>
          <p:nvPr/>
        </p:nvSpPr>
        <p:spPr>
          <a:xfrm>
            <a:off x="5191658"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91658"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11</a:t>
            </a:r>
          </a:p>
        </p:txBody>
      </p:sp>
      <p:sp>
        <p:nvSpPr>
          <p:cNvPr id="74" name="Rectangle 73"/>
          <p:cNvSpPr/>
          <p:nvPr/>
        </p:nvSpPr>
        <p:spPr>
          <a:xfrm>
            <a:off x="559487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594870"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13</a:t>
            </a:r>
          </a:p>
        </p:txBody>
      </p:sp>
      <p:sp>
        <p:nvSpPr>
          <p:cNvPr id="76" name="Rectangle 75"/>
          <p:cNvSpPr/>
          <p:nvPr/>
        </p:nvSpPr>
        <p:spPr>
          <a:xfrm>
            <a:off x="599808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998083"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17</a:t>
            </a:r>
          </a:p>
        </p:txBody>
      </p:sp>
      <p:sp>
        <p:nvSpPr>
          <p:cNvPr id="78" name="Rectangle 77"/>
          <p:cNvSpPr/>
          <p:nvPr/>
        </p:nvSpPr>
        <p:spPr>
          <a:xfrm>
            <a:off x="6401295"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01295"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18</a:t>
            </a:r>
          </a:p>
        </p:txBody>
      </p:sp>
      <p:sp>
        <p:nvSpPr>
          <p:cNvPr id="80" name="Rectangle 79"/>
          <p:cNvSpPr/>
          <p:nvPr/>
        </p:nvSpPr>
        <p:spPr>
          <a:xfrm>
            <a:off x="6804507"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804507"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18</a:t>
            </a:r>
          </a:p>
        </p:txBody>
      </p:sp>
      <p:sp>
        <p:nvSpPr>
          <p:cNvPr id="82" name="Rectangle 81"/>
          <p:cNvSpPr/>
          <p:nvPr/>
        </p:nvSpPr>
        <p:spPr>
          <a:xfrm>
            <a:off x="720771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207719"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25</a:t>
            </a:r>
          </a:p>
        </p:txBody>
      </p:sp>
      <p:sp>
        <p:nvSpPr>
          <p:cNvPr id="84" name="Rectangle 83"/>
          <p:cNvSpPr/>
          <p:nvPr/>
        </p:nvSpPr>
        <p:spPr>
          <a:xfrm>
            <a:off x="761093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610932"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19</a:t>
            </a:r>
          </a:p>
        </p:txBody>
      </p:sp>
      <p:sp>
        <p:nvSpPr>
          <p:cNvPr id="86" name="Rectangle 85"/>
          <p:cNvSpPr/>
          <p:nvPr/>
        </p:nvSpPr>
        <p:spPr>
          <a:xfrm>
            <a:off x="8014144"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014144"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9</a:t>
            </a:r>
          </a:p>
        </p:txBody>
      </p:sp>
      <p:sp>
        <p:nvSpPr>
          <p:cNvPr id="88" name="Rectangle 87"/>
          <p:cNvSpPr/>
          <p:nvPr/>
        </p:nvSpPr>
        <p:spPr>
          <a:xfrm>
            <a:off x="841735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417356"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5</a:t>
            </a:r>
          </a:p>
        </p:txBody>
      </p:sp>
      <p:sp>
        <p:nvSpPr>
          <p:cNvPr id="90" name="Rectangle 89"/>
          <p:cNvSpPr/>
          <p:nvPr/>
        </p:nvSpPr>
        <p:spPr>
          <a:xfrm>
            <a:off x="8820569"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820569"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a:t>
            </a:r>
          </a:p>
        </p:txBody>
      </p:sp>
      <p:sp>
        <p:nvSpPr>
          <p:cNvPr id="92" name="Rectangle 91"/>
          <p:cNvSpPr/>
          <p:nvPr/>
        </p:nvSpPr>
        <p:spPr>
          <a:xfrm>
            <a:off x="9223781"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223781"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3</a:t>
            </a:r>
          </a:p>
        </p:txBody>
      </p:sp>
      <p:sp>
        <p:nvSpPr>
          <p:cNvPr id="94" name="Rectangle 93"/>
          <p:cNvSpPr/>
          <p:nvPr/>
        </p:nvSpPr>
        <p:spPr>
          <a:xfrm>
            <a:off x="9626993"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626993"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4</a:t>
            </a:r>
          </a:p>
        </p:txBody>
      </p:sp>
      <p:sp>
        <p:nvSpPr>
          <p:cNvPr id="96" name="Rectangle 95"/>
          <p:cNvSpPr/>
          <p:nvPr/>
        </p:nvSpPr>
        <p:spPr>
          <a:xfrm>
            <a:off x="10030206"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030206"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4</a:t>
            </a:r>
          </a:p>
        </p:txBody>
      </p:sp>
      <p:sp>
        <p:nvSpPr>
          <p:cNvPr id="98" name="Rectangle 97"/>
          <p:cNvSpPr/>
          <p:nvPr/>
        </p:nvSpPr>
        <p:spPr>
          <a:xfrm>
            <a:off x="10433418"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433418"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5</a:t>
            </a:r>
          </a:p>
        </p:txBody>
      </p:sp>
      <p:sp>
        <p:nvSpPr>
          <p:cNvPr id="100" name="Rectangle 99"/>
          <p:cNvSpPr/>
          <p:nvPr/>
        </p:nvSpPr>
        <p:spPr>
          <a:xfrm>
            <a:off x="10836630"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836630"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5</a:t>
            </a:r>
          </a:p>
        </p:txBody>
      </p:sp>
      <p:sp>
        <p:nvSpPr>
          <p:cNvPr id="102" name="Rectangle 101"/>
          <p:cNvSpPr/>
          <p:nvPr/>
        </p:nvSpPr>
        <p:spPr>
          <a:xfrm>
            <a:off x="11239842" y="1764792"/>
            <a:ext cx="384924" cy="329184"/>
          </a:xfrm>
          <a:prstGeom prst="rect">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239842" y="1764792"/>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5</a:t>
            </a:r>
          </a:p>
        </p:txBody>
      </p:sp>
      <p:sp>
        <p:nvSpPr>
          <p:cNvPr id="104" name="TextBox 103"/>
          <p:cNvSpPr txBox="1"/>
          <p:nvPr/>
        </p:nvSpPr>
        <p:spPr>
          <a:xfrm>
            <a:off x="548640" y="2148840"/>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Alta X 22</a:t>
            </a:r>
          </a:p>
        </p:txBody>
      </p:sp>
      <p:sp>
        <p:nvSpPr>
          <p:cNvPr id="105" name="Rectangle 104"/>
          <p:cNvSpPr/>
          <p:nvPr/>
        </p:nvSpPr>
        <p:spPr>
          <a:xfrm>
            <a:off x="1965960"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2369172"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2772384"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3175596"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3578809"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982021"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4385233"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788446"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191658"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594870"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5998083"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6401295"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6804507"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7207719" y="2148840"/>
            <a:ext cx="384924" cy="292608"/>
          </a:xfrm>
          <a:prstGeom prst="rect">
            <a:avLst/>
          </a:prstGeom>
          <a:solidFill>
            <a:srgbClr val="C84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7610932"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8014144"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417356"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8820569"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223781"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9626993"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0030206"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0433418"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836630"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239842" y="2148840"/>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48640" y="2496312"/>
            <a:ext cx="1371600" cy="29260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Type 1 at 30</a:t>
            </a:r>
          </a:p>
        </p:txBody>
      </p:sp>
      <p:sp>
        <p:nvSpPr>
          <p:cNvPr id="130" name="Rectangle 129"/>
          <p:cNvSpPr/>
          <p:nvPr/>
        </p:nvSpPr>
        <p:spPr>
          <a:xfrm>
            <a:off x="1965960"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2369172"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2772384"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3175596"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3578809"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3982021"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4385233"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4788446"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5191658"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5594870"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998083"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6401295"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6804507"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7207719"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7610932"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8014144"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8417356"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8820569"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9223781"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9626993"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10030206"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10433418"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10836630"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1239842" y="2496312"/>
            <a:ext cx="384924" cy="292608"/>
          </a:xfrm>
          <a:prstGeom prst="rect">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48640" y="2843784"/>
            <a:ext cx="1371600" cy="329184"/>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Map age h</a:t>
            </a:r>
          </a:p>
        </p:txBody>
      </p:sp>
      <p:sp>
        <p:nvSpPr>
          <p:cNvPr id="155" name="TextBox 154"/>
          <p:cNvSpPr txBox="1"/>
          <p:nvPr/>
        </p:nvSpPr>
        <p:spPr>
          <a:xfrm>
            <a:off x="196596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13</a:t>
            </a:r>
          </a:p>
        </p:txBody>
      </p:sp>
      <p:sp>
        <p:nvSpPr>
          <p:cNvPr id="156" name="TextBox 155"/>
          <p:cNvSpPr txBox="1"/>
          <p:nvPr/>
        </p:nvSpPr>
        <p:spPr>
          <a:xfrm>
            <a:off x="236917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14</a:t>
            </a:r>
          </a:p>
        </p:txBody>
      </p:sp>
      <p:sp>
        <p:nvSpPr>
          <p:cNvPr id="157" name="TextBox 156"/>
          <p:cNvSpPr txBox="1"/>
          <p:nvPr/>
        </p:nvSpPr>
        <p:spPr>
          <a:xfrm>
            <a:off x="2772384"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15</a:t>
            </a:r>
          </a:p>
        </p:txBody>
      </p:sp>
      <p:sp>
        <p:nvSpPr>
          <p:cNvPr id="158" name="TextBox 157"/>
          <p:cNvSpPr txBox="1"/>
          <p:nvPr/>
        </p:nvSpPr>
        <p:spPr>
          <a:xfrm>
            <a:off x="317559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16</a:t>
            </a:r>
          </a:p>
        </p:txBody>
      </p:sp>
      <p:sp>
        <p:nvSpPr>
          <p:cNvPr id="159" name="TextBox 158"/>
          <p:cNvSpPr txBox="1"/>
          <p:nvPr/>
        </p:nvSpPr>
        <p:spPr>
          <a:xfrm>
            <a:off x="357880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17</a:t>
            </a:r>
          </a:p>
        </p:txBody>
      </p:sp>
      <p:sp>
        <p:nvSpPr>
          <p:cNvPr id="160" name="TextBox 159"/>
          <p:cNvSpPr txBox="1"/>
          <p:nvPr/>
        </p:nvSpPr>
        <p:spPr>
          <a:xfrm>
            <a:off x="3982021"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18</a:t>
            </a:r>
          </a:p>
        </p:txBody>
      </p:sp>
      <p:sp>
        <p:nvSpPr>
          <p:cNvPr id="161" name="TextBox 160"/>
          <p:cNvSpPr txBox="1"/>
          <p:nvPr/>
        </p:nvSpPr>
        <p:spPr>
          <a:xfrm>
            <a:off x="438523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19</a:t>
            </a:r>
          </a:p>
        </p:txBody>
      </p:sp>
      <p:sp>
        <p:nvSpPr>
          <p:cNvPr id="162" name="TextBox 161"/>
          <p:cNvSpPr txBox="1"/>
          <p:nvPr/>
        </p:nvSpPr>
        <p:spPr>
          <a:xfrm>
            <a:off x="478844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20</a:t>
            </a:r>
          </a:p>
        </p:txBody>
      </p:sp>
      <p:sp>
        <p:nvSpPr>
          <p:cNvPr id="163" name="TextBox 162"/>
          <p:cNvSpPr txBox="1"/>
          <p:nvPr/>
        </p:nvSpPr>
        <p:spPr>
          <a:xfrm>
            <a:off x="5191658"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21</a:t>
            </a:r>
          </a:p>
        </p:txBody>
      </p:sp>
      <p:sp>
        <p:nvSpPr>
          <p:cNvPr id="164" name="TextBox 163"/>
          <p:cNvSpPr txBox="1"/>
          <p:nvPr/>
        </p:nvSpPr>
        <p:spPr>
          <a:xfrm>
            <a:off x="559487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22</a:t>
            </a:r>
          </a:p>
        </p:txBody>
      </p:sp>
      <p:sp>
        <p:nvSpPr>
          <p:cNvPr id="165" name="TextBox 164"/>
          <p:cNvSpPr txBox="1"/>
          <p:nvPr/>
        </p:nvSpPr>
        <p:spPr>
          <a:xfrm>
            <a:off x="599808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23</a:t>
            </a:r>
          </a:p>
        </p:txBody>
      </p:sp>
      <p:sp>
        <p:nvSpPr>
          <p:cNvPr id="166" name="TextBox 165"/>
          <p:cNvSpPr txBox="1"/>
          <p:nvPr/>
        </p:nvSpPr>
        <p:spPr>
          <a:xfrm>
            <a:off x="6401295"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24</a:t>
            </a:r>
          </a:p>
        </p:txBody>
      </p:sp>
      <p:sp>
        <p:nvSpPr>
          <p:cNvPr id="167" name="TextBox 166"/>
          <p:cNvSpPr txBox="1"/>
          <p:nvPr/>
        </p:nvSpPr>
        <p:spPr>
          <a:xfrm>
            <a:off x="6804507"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a:t>
            </a:r>
          </a:p>
        </p:txBody>
      </p:sp>
      <p:sp>
        <p:nvSpPr>
          <p:cNvPr id="168" name="TextBox 167"/>
          <p:cNvSpPr txBox="1"/>
          <p:nvPr/>
        </p:nvSpPr>
        <p:spPr>
          <a:xfrm>
            <a:off x="720771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2</a:t>
            </a:r>
          </a:p>
        </p:txBody>
      </p:sp>
      <p:sp>
        <p:nvSpPr>
          <p:cNvPr id="169" name="TextBox 168"/>
          <p:cNvSpPr txBox="1"/>
          <p:nvPr/>
        </p:nvSpPr>
        <p:spPr>
          <a:xfrm>
            <a:off x="761093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3</a:t>
            </a:r>
          </a:p>
        </p:txBody>
      </p:sp>
      <p:sp>
        <p:nvSpPr>
          <p:cNvPr id="170" name="TextBox 169"/>
          <p:cNvSpPr txBox="1"/>
          <p:nvPr/>
        </p:nvSpPr>
        <p:spPr>
          <a:xfrm>
            <a:off x="8014144"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4</a:t>
            </a:r>
          </a:p>
        </p:txBody>
      </p:sp>
      <p:sp>
        <p:nvSpPr>
          <p:cNvPr id="171" name="TextBox 170"/>
          <p:cNvSpPr txBox="1"/>
          <p:nvPr/>
        </p:nvSpPr>
        <p:spPr>
          <a:xfrm>
            <a:off x="841735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5</a:t>
            </a:r>
          </a:p>
        </p:txBody>
      </p:sp>
      <p:sp>
        <p:nvSpPr>
          <p:cNvPr id="172" name="TextBox 171"/>
          <p:cNvSpPr txBox="1"/>
          <p:nvPr/>
        </p:nvSpPr>
        <p:spPr>
          <a:xfrm>
            <a:off x="8820569"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6</a:t>
            </a:r>
          </a:p>
        </p:txBody>
      </p:sp>
      <p:sp>
        <p:nvSpPr>
          <p:cNvPr id="173" name="TextBox 172"/>
          <p:cNvSpPr txBox="1"/>
          <p:nvPr/>
        </p:nvSpPr>
        <p:spPr>
          <a:xfrm>
            <a:off x="9223781"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7</a:t>
            </a:r>
          </a:p>
        </p:txBody>
      </p:sp>
      <p:sp>
        <p:nvSpPr>
          <p:cNvPr id="174" name="TextBox 173"/>
          <p:cNvSpPr txBox="1"/>
          <p:nvPr/>
        </p:nvSpPr>
        <p:spPr>
          <a:xfrm>
            <a:off x="9626993"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8</a:t>
            </a:r>
          </a:p>
        </p:txBody>
      </p:sp>
      <p:sp>
        <p:nvSpPr>
          <p:cNvPr id="175" name="TextBox 174"/>
          <p:cNvSpPr txBox="1"/>
          <p:nvPr/>
        </p:nvSpPr>
        <p:spPr>
          <a:xfrm>
            <a:off x="10030206"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9</a:t>
            </a:r>
          </a:p>
        </p:txBody>
      </p:sp>
      <p:sp>
        <p:nvSpPr>
          <p:cNvPr id="176" name="TextBox 175"/>
          <p:cNvSpPr txBox="1"/>
          <p:nvPr/>
        </p:nvSpPr>
        <p:spPr>
          <a:xfrm>
            <a:off x="10433418"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10</a:t>
            </a:r>
          </a:p>
        </p:txBody>
      </p:sp>
      <p:sp>
        <p:nvSpPr>
          <p:cNvPr id="177" name="TextBox 176"/>
          <p:cNvSpPr txBox="1"/>
          <p:nvPr/>
        </p:nvSpPr>
        <p:spPr>
          <a:xfrm>
            <a:off x="10836630"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11</a:t>
            </a:r>
          </a:p>
        </p:txBody>
      </p:sp>
      <p:sp>
        <p:nvSpPr>
          <p:cNvPr id="178" name="TextBox 177"/>
          <p:cNvSpPr txBox="1"/>
          <p:nvPr/>
        </p:nvSpPr>
        <p:spPr>
          <a:xfrm>
            <a:off x="11239842" y="2843784"/>
            <a:ext cx="384924" cy="329184"/>
          </a:xfrm>
          <a:prstGeom prst="rect">
            <a:avLst/>
          </a:prstGeom>
          <a:noFill/>
        </p:spPr>
        <p:txBody>
          <a:bodyPr wrap="square" anchor="ctr" lIns="0" rIns="0" tIns="0" bIns="0">
            <a:spAutoFit/>
          </a:bodyPr>
          <a:lstStyle/>
          <a:p>
            <a:pPr algn="ctr">
              <a:spcAft>
                <a:spcPts val="400"/>
              </a:spcAft>
            </a:pPr>
            <a:r>
              <a:rPr sz="1000" b="0">
                <a:solidFill>
                  <a:srgbClr val="1D2125"/>
                </a:solidFill>
                <a:latin typeface="Calibri"/>
              </a:rPr>
              <a:t>12</a:t>
            </a:r>
          </a:p>
        </p:txBody>
      </p:sp>
      <p:sp>
        <p:nvSpPr>
          <p:cNvPr id="179" name="TextBox 178"/>
          <p:cNvSpPr txBox="1"/>
          <p:nvPr/>
        </p:nvSpPr>
        <p:spPr>
          <a:xfrm>
            <a:off x="548640" y="3227832"/>
            <a:ext cx="1371600" cy="566928"/>
          </a:xfrm>
          <a:prstGeom prst="rect">
            <a:avLst/>
          </a:prstGeom>
          <a:noFill/>
        </p:spPr>
        <p:txBody>
          <a:bodyPr wrap="square" anchor="ctr" lIns="0" rIns="0" tIns="0" bIns="0">
            <a:spAutoFit/>
          </a:bodyPr>
          <a:lstStyle/>
          <a:p>
            <a:pPr algn="l">
              <a:spcAft>
                <a:spcPts val="400"/>
              </a:spcAft>
            </a:pPr>
            <a:r>
              <a:rPr sz="1100" b="1">
                <a:solidFill>
                  <a:srgbClr val="3A424B"/>
                </a:solidFill>
                <a:latin typeface="Calibri"/>
              </a:rPr>
              <a:t>Drone task</a:t>
            </a:r>
          </a:p>
        </p:txBody>
      </p:sp>
      <p:sp>
        <p:nvSpPr>
          <p:cNvPr id="180" name="Rounded Rectangle 179"/>
          <p:cNvSpPr/>
          <p:nvPr/>
        </p:nvSpPr>
        <p:spPr>
          <a:xfrm>
            <a:off x="1965960" y="3227832"/>
            <a:ext cx="2391841" cy="566928"/>
          </a:xfrm>
          <a:prstGeom prst="roundRect">
            <a:avLst>
              <a:gd name="adj" fmla="val 6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2011679" y="3246120"/>
            <a:ext cx="2309545" cy="530352"/>
          </a:xfrm>
          <a:prstGeom prst="rect">
            <a:avLst/>
          </a:prstGeom>
          <a:noFill/>
        </p:spPr>
        <p:txBody>
          <a:bodyPr wrap="square" anchor="ctr" lIns="0" rIns="0" tIns="0" bIns="0">
            <a:spAutoFit/>
          </a:bodyPr>
          <a:lstStyle/>
          <a:p>
            <a:pPr algn="l">
              <a:spcAft>
                <a:spcPts val="400"/>
              </a:spcAft>
            </a:pPr>
            <a:r>
              <a:rPr sz="1000" b="0">
                <a:solidFill>
                  <a:srgbClr val="FFFFFF"/>
                </a:solidFill>
                <a:latin typeface="Calibri"/>
              </a:rPr>
              <a:t>Resupply crews on remote lines (water, batteries, radios) before the afternoon</a:t>
            </a:r>
          </a:p>
        </p:txBody>
      </p:sp>
      <p:sp>
        <p:nvSpPr>
          <p:cNvPr id="182" name="Rounded Rectangle 181"/>
          <p:cNvSpPr/>
          <p:nvPr/>
        </p:nvSpPr>
        <p:spPr>
          <a:xfrm>
            <a:off x="4385233" y="3227832"/>
            <a:ext cx="1585417" cy="566928"/>
          </a:xfrm>
          <a:prstGeom prst="roundRect">
            <a:avLst>
              <a:gd name="adj" fmla="val 6000"/>
            </a:avLst>
          </a:prstGeom>
          <a:solidFill>
            <a:srgbClr val="E86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4430953" y="3246120"/>
            <a:ext cx="1503121" cy="530352"/>
          </a:xfrm>
          <a:prstGeom prst="rect">
            <a:avLst/>
          </a:prstGeom>
          <a:noFill/>
        </p:spPr>
        <p:txBody>
          <a:bodyPr wrap="square" anchor="ctr" lIns="0" rIns="0" tIns="0" bIns="0">
            <a:spAutoFit/>
          </a:bodyPr>
          <a:lstStyle/>
          <a:p>
            <a:pPr algn="l">
              <a:spcAft>
                <a:spcPts val="400"/>
              </a:spcAft>
            </a:pPr>
            <a:r>
              <a:rPr sz="900" b="0">
                <a:solidFill>
                  <a:srgbClr val="FFFFFF"/>
                </a:solidFill>
                <a:latin typeface="Calibri"/>
              </a:rPr>
              <a:t>Scout helicopter landing zones and drop points ahead of the run</a:t>
            </a:r>
          </a:p>
        </p:txBody>
      </p:sp>
      <p:sp>
        <p:nvSpPr>
          <p:cNvPr id="184" name="Rounded Rectangle 183"/>
          <p:cNvSpPr/>
          <p:nvPr/>
        </p:nvSpPr>
        <p:spPr>
          <a:xfrm>
            <a:off x="5998083" y="3227832"/>
            <a:ext cx="1988629" cy="566928"/>
          </a:xfrm>
          <a:prstGeom prst="roundRect">
            <a:avLst>
              <a:gd name="adj" fmla="val 6000"/>
            </a:avLst>
          </a:prstGeom>
          <a:solidFill>
            <a:srgbClr val="8E7B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6043803" y="3246120"/>
            <a:ext cx="1906333" cy="530352"/>
          </a:xfrm>
          <a:prstGeom prst="rect">
            <a:avLst/>
          </a:prstGeom>
          <a:noFill/>
        </p:spPr>
        <p:txBody>
          <a:bodyPr wrap="square" anchor="ctr" lIns="0" rIns="0" tIns="0" bIns="0">
            <a:spAutoFit/>
          </a:bodyPr>
          <a:lstStyle/>
          <a:p>
            <a:pPr algn="l">
              <a:spcAft>
                <a:spcPts val="400"/>
              </a:spcAft>
            </a:pPr>
            <a:r>
              <a:rPr sz="900" b="0">
                <a:solidFill>
                  <a:srgbClr val="FFFFFF"/>
                </a:solidFill>
                <a:latin typeface="Calibri"/>
              </a:rPr>
              <a:t>Hold resupply; keep landing zones and safety zones current as the run builds</a:t>
            </a:r>
          </a:p>
        </p:txBody>
      </p:sp>
      <p:sp>
        <p:nvSpPr>
          <p:cNvPr id="186" name="Rounded Rectangle 185"/>
          <p:cNvSpPr/>
          <p:nvPr/>
        </p:nvSpPr>
        <p:spPr>
          <a:xfrm>
            <a:off x="8014144" y="3227832"/>
            <a:ext cx="1182204" cy="566928"/>
          </a:xfrm>
          <a:prstGeom prst="roundRect">
            <a:avLst>
              <a:gd name="adj" fmla="val 6000"/>
            </a:avLst>
          </a:prstGeom>
          <a:solidFill>
            <a:srgbClr val="18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8059864" y="3246120"/>
            <a:ext cx="1099908" cy="530352"/>
          </a:xfrm>
          <a:prstGeom prst="rect">
            <a:avLst/>
          </a:prstGeom>
          <a:noFill/>
        </p:spPr>
        <p:txBody>
          <a:bodyPr wrap="square" anchor="ctr" lIns="0" rIns="0" tIns="0" bIns="0">
            <a:spAutoFit/>
          </a:bodyPr>
          <a:lstStyle/>
          <a:p>
            <a:pPr algn="l">
              <a:spcAft>
                <a:spcPts val="400"/>
              </a:spcAft>
            </a:pPr>
            <a:r>
              <a:rPr sz="900" b="0">
                <a:solidFill>
                  <a:srgbClr val="FFFFFF"/>
                </a:solidFill>
                <a:latin typeface="Calibri"/>
              </a:rPr>
              <a:t>Night resupply to crews holding line, if authorised</a:t>
            </a:r>
          </a:p>
        </p:txBody>
      </p:sp>
      <p:sp>
        <p:nvSpPr>
          <p:cNvPr id="188" name="Rounded Rectangle 187"/>
          <p:cNvSpPr/>
          <p:nvPr/>
        </p:nvSpPr>
        <p:spPr>
          <a:xfrm>
            <a:off x="9223781" y="3227832"/>
            <a:ext cx="2391841" cy="566928"/>
          </a:xfrm>
          <a:prstGeom prst="roundRect">
            <a:avLst>
              <a:gd name="adj" fmla="val 6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9269501" y="3246120"/>
            <a:ext cx="2309545" cy="530352"/>
          </a:xfrm>
          <a:prstGeom prst="rect">
            <a:avLst/>
          </a:prstGeom>
          <a:noFill/>
        </p:spPr>
        <p:txBody>
          <a:bodyPr wrap="square" anchor="ctr" lIns="0" rIns="0" tIns="0" bIns="0">
            <a:spAutoFit/>
          </a:bodyPr>
          <a:lstStyle/>
          <a:p>
            <a:pPr algn="l">
              <a:spcAft>
                <a:spcPts val="400"/>
              </a:spcAft>
            </a:pPr>
            <a:r>
              <a:rPr sz="1000" b="0">
                <a:solidFill>
                  <a:srgbClr val="FFFFFF"/>
                </a:solidFill>
                <a:latin typeface="Calibri"/>
              </a:rPr>
              <a:t>Night: stage loads and check landing zones for first light</a:t>
            </a:r>
          </a:p>
        </p:txBody>
      </p:sp>
      <p:sp>
        <p:nvSpPr>
          <p:cNvPr id="190" name="TextBox 189"/>
          <p:cNvSpPr txBox="1"/>
          <p:nvPr/>
        </p:nvSpPr>
        <p:spPr>
          <a:xfrm>
            <a:off x="548640" y="3913631"/>
            <a:ext cx="11064240" cy="228600"/>
          </a:xfrm>
          <a:prstGeom prst="rect">
            <a:avLst/>
          </a:prstGeom>
          <a:noFill/>
        </p:spPr>
        <p:txBody>
          <a:bodyPr wrap="square" anchor="t" lIns="0" rIns="0" tIns="0" bIns="0">
            <a:spAutoFit/>
          </a:bodyPr>
          <a:lstStyle/>
          <a:p>
            <a:pPr algn="l">
              <a:spcAft>
                <a:spcPts val="400"/>
              </a:spcAft>
            </a:pPr>
            <a:r>
              <a:rPr sz="1000" b="0">
                <a:solidFill>
                  <a:srgbClr val="6B7480"/>
                </a:solidFill>
                <a:latin typeface="Calibri"/>
              </a:rPr>
              <a:t>Green: can fly by station gusts. Red: grounded. Dark hour cells: night (20:00 to 06:00). Map age: hours since the newest aircraft perimeter in the record.</a:t>
            </a:r>
          </a:p>
        </p:txBody>
      </p:sp>
      <p:sp>
        <p:nvSpPr>
          <p:cNvPr id="191" name="Rounded Rectangle 190"/>
          <p:cNvSpPr/>
          <p:nvPr/>
        </p:nvSpPr>
        <p:spPr>
          <a:xfrm>
            <a:off x="548640" y="4279392"/>
            <a:ext cx="6675120" cy="1984248"/>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731520" y="4370831"/>
            <a:ext cx="6309360" cy="274320"/>
          </a:xfrm>
          <a:prstGeom prst="rect">
            <a:avLst/>
          </a:prstGeom>
          <a:noFill/>
        </p:spPr>
        <p:txBody>
          <a:bodyPr wrap="square" anchor="t" lIns="0" rIns="0" tIns="0" bIns="0">
            <a:spAutoFit/>
          </a:bodyPr>
          <a:lstStyle/>
          <a:p>
            <a:pPr algn="l">
              <a:spcAft>
                <a:spcPts val="400"/>
              </a:spcAft>
            </a:pPr>
            <a:r>
              <a:rPr sz="1400" b="1">
                <a:solidFill>
                  <a:srgbClr val="1D2125"/>
                </a:solidFill>
                <a:latin typeface="Arial"/>
              </a:rPr>
              <a:t>What the records show</a:t>
            </a:r>
          </a:p>
        </p:txBody>
      </p:sp>
      <p:sp>
        <p:nvSpPr>
          <p:cNvPr id="193" name="TextBox 192"/>
          <p:cNvSpPr txBox="1"/>
          <p:nvPr/>
        </p:nvSpPr>
        <p:spPr>
          <a:xfrm>
            <a:off x="731520" y="4690872"/>
            <a:ext cx="6309360" cy="1527048"/>
          </a:xfrm>
          <a:prstGeom prst="rect">
            <a:avLst/>
          </a:prstGeom>
          <a:noFill/>
        </p:spPr>
        <p:txBody>
          <a:bodyPr wrap="square" anchor="t" lIns="0" rIns="0" tIns="0" bIns="0">
            <a:spAutoFit/>
          </a:bodyPr>
          <a:lstStyle/>
          <a:p>
            <a:pPr algn="l">
              <a:spcAft>
                <a:spcPts val="400"/>
              </a:spcAft>
            </a:pPr>
            <a:r>
              <a:rPr sz="1200" b="1">
                <a:solidFill>
                  <a:srgbClr val="1D2125"/>
                </a:solidFill>
                <a:latin typeface="Calibri"/>
              </a:rPr>
              <a:t>08:00  </a:t>
            </a:r>
            <a:r>
              <a:rPr sz="1200" b="0">
                <a:solidFill>
                  <a:srgbClr val="1D2125"/>
                </a:solidFill>
                <a:latin typeface="Calibri"/>
              </a:rPr>
              <a:t>Newest aircraft perimeter 111,658 ac, already 15 h old</a:t>
            </a:r>
          </a:p>
          <a:p>
            <a:pPr algn="l">
              <a:spcAft>
                <a:spcPts val="400"/>
              </a:spcAft>
            </a:pPr>
            <a:r>
              <a:rPr sz="1200" b="1">
                <a:solidFill>
                  <a:srgbClr val="1D2125"/>
                </a:solidFill>
                <a:latin typeface="Calibri"/>
              </a:rPr>
              <a:t>29 Aug  </a:t>
            </a:r>
            <a:r>
              <a:rPr sz="1200" b="0">
                <a:solidFill>
                  <a:srgbClr val="1D2125"/>
                </a:solidFill>
                <a:latin typeface="Calibri"/>
              </a:rPr>
              <a:t>About 29,000 ac of growth in the northeastward run</a:t>
            </a:r>
          </a:p>
          <a:p>
            <a:pPr algn="l">
              <a:spcAft>
                <a:spcPts val="400"/>
              </a:spcAft>
            </a:pPr>
            <a:r>
              <a:rPr sz="1200" b="1">
                <a:solidFill>
                  <a:srgbClr val="1D2125"/>
                </a:solidFill>
                <a:latin typeface="Calibri"/>
              </a:rPr>
              <a:t>18:16  </a:t>
            </a:r>
            <a:r>
              <a:rPr sz="1200" b="0">
                <a:solidFill>
                  <a:srgbClr val="1D2125"/>
                </a:solidFill>
                <a:latin typeface="Calibri"/>
              </a:rPr>
              <a:t>Aircraft perimeter 140,778 ac; 19:00 ICS-209 111,604 ac, 58% contained</a:t>
            </a:r>
          </a:p>
          <a:p>
            <a:pPr algn="l">
              <a:spcAft>
                <a:spcPts val="400"/>
              </a:spcAft>
            </a:pPr>
            <a:r>
              <a:rPr sz="1200" b="1">
                <a:solidFill>
                  <a:srgbClr val="1D2125"/>
                </a:solidFill>
                <a:latin typeface="Calibri"/>
              </a:rPr>
              <a:t>Night  </a:t>
            </a:r>
            <a:r>
              <a:rPr sz="1200" b="0">
                <a:solidFill>
                  <a:srgbClr val="1D2125"/>
                </a:solidFill>
                <a:latin typeface="Calibri"/>
              </a:rPr>
              <a:t>21% of Pioneer perimeters flown at night; about 40% of growth at night</a:t>
            </a:r>
          </a:p>
        </p:txBody>
      </p:sp>
      <p:sp>
        <p:nvSpPr>
          <p:cNvPr id="194" name="Rounded Rectangle 193"/>
          <p:cNvSpPr/>
          <p:nvPr/>
        </p:nvSpPr>
        <p:spPr>
          <a:xfrm>
            <a:off x="7406640" y="4279392"/>
            <a:ext cx="4206240" cy="1984248"/>
          </a:xfrm>
          <a:prstGeom prst="roundRect">
            <a:avLst>
              <a:gd name="adj" fmla="val 6000"/>
            </a:avLst>
          </a:prstGeom>
          <a:solidFill>
            <a:srgbClr val="1D2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7589520" y="4370831"/>
            <a:ext cx="3840480" cy="274320"/>
          </a:xfrm>
          <a:prstGeom prst="rect">
            <a:avLst/>
          </a:prstGeom>
          <a:noFill/>
        </p:spPr>
        <p:txBody>
          <a:bodyPr wrap="square" anchor="t" lIns="0" rIns="0" tIns="0" bIns="0">
            <a:spAutoFit/>
          </a:bodyPr>
          <a:lstStyle/>
          <a:p>
            <a:pPr algn="l">
              <a:spcAft>
                <a:spcPts val="400"/>
              </a:spcAft>
            </a:pPr>
            <a:r>
              <a:rPr sz="1400" b="1">
                <a:solidFill>
                  <a:srgbClr val="E9A821"/>
                </a:solidFill>
                <a:latin typeface="Arial"/>
              </a:rPr>
              <a:t>Quantified uncertainty</a:t>
            </a:r>
          </a:p>
        </p:txBody>
      </p:sp>
      <p:sp>
        <p:nvSpPr>
          <p:cNvPr id="196" name="TextBox 195"/>
          <p:cNvSpPr txBox="1"/>
          <p:nvPr/>
        </p:nvSpPr>
        <p:spPr>
          <a:xfrm>
            <a:off x="7589520" y="4690872"/>
            <a:ext cx="3840480" cy="1527048"/>
          </a:xfrm>
          <a:prstGeom prst="rect">
            <a:avLst/>
          </a:prstGeom>
          <a:noFill/>
        </p:spPr>
        <p:txBody>
          <a:bodyPr wrap="square" anchor="t" lIns="0" rIns="0" tIns="0" bIns="0">
            <a:spAutoFit/>
          </a:bodyPr>
          <a:lstStyle/>
          <a:p>
            <a:pPr algn="l">
              <a:spcAft>
                <a:spcPts val="400"/>
              </a:spcAft>
            </a:pPr>
            <a:r>
              <a:rPr sz="1300" b="0">
                <a:solidFill>
                  <a:srgbClr val="FFFFFF"/>
                </a:solidFill>
                <a:latin typeface="Calibri"/>
              </a:rPr>
              <a:t>P(on time) = p x P(complete | fly) x P(cycle &lt;= window). Wind rarely stopped delivery on Pioneer; authorisation and payload do.</a:t>
            </a:r>
          </a:p>
          <a:p>
            <a:pPr algn="l">
              <a:spcAft>
                <a:spcPts val="400"/>
              </a:spcAft>
            </a:pPr>
            <a:r>
              <a:rPr sz="1100" b="0">
                <a:solidFill>
                  <a:srgbClr val="E1E4E8"/>
                </a:solidFill>
                <a:latin typeface="Calibri"/>
              </a:rPr>
              <a:t>Crew demand per shift is not in the records, so fleet size is not computed yet.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